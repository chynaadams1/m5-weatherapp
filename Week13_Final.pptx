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Seasonal Naive</c:v>
                </c:pt>
              </c:strCache>
            </c:strRef>
          </c:tx>
          <c:spPr>
            <a:solidFill>
              <a:srgbClr val="1B6B7B"/>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MAE</c:v>
                  </c:pt>
                  <c:pt idx="1">
                    <c:v>RMSE</c:v>
                  </c:pt>
                </c:lvl>
              </c:multiLvlStrCache>
            </c:multiLvlStrRef>
          </c:cat>
          <c:val>
            <c:numRef>
              <c:f>Sheet1!$B$2:$B$3</c:f>
              <c:numCache>
                <c:formatCode>General</c:formatCode>
                <c:ptCount val="2"/>
                <c:pt idx="0">
                  <c:v>1.82</c:v>
                </c:pt>
                <c:pt idx="1">
                  <c:v>2.47</c:v>
                </c:pt>
              </c:numCache>
            </c:numRef>
          </c:val>
        </c:ser>
        <c:ser>
          <c:idx val="1"/>
          <c:order val="1"/>
          <c:tx>
            <c:strRef>
              <c:f>Sheet1!$C$1</c:f>
              <c:strCache>
                <c:ptCount val="1"/>
                <c:pt idx="0">
                  <c:v>XGBoost</c:v>
                </c:pt>
              </c:strCache>
            </c:strRef>
          </c:tx>
          <c:spPr>
            <a:solidFill>
              <a:srgbClr val="E8456A"/>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cat>
            <c:multiLvlStrRef>
              <c:f>Sheet1!$A$2:$A$3</c:f>
              <c:multiLvlStrCache>
                <c:ptCount val="2"/>
                <c:lvl>
                  <c:pt idx="0">
                    <c:v>MAE</c:v>
                  </c:pt>
                  <c:pt idx="1">
                    <c:v>RMSE</c:v>
                  </c:pt>
                </c:lvl>
              </c:multiLvlStrCache>
            </c:multiLvlStrRef>
          </c:cat>
          <c:val>
            <c:numRef>
              <c:f>Sheet1!$C$2:$C$3</c:f>
              <c:numCache>
                <c:formatCode>General</c:formatCode>
                <c:ptCount val="2"/>
                <c:pt idx="0">
                  <c:v>1.45</c:v>
                </c:pt>
                <c:pt idx="1">
                  <c:v>2.01</c:v>
                </c:pt>
              </c:numCache>
            </c:numRef>
          </c:val>
        </c:ser>
        <c:dLbls>
          <c:numFmt formatCode="#,##0" sourceLinked="0"/>
          <c:txPr>
            <a:bodyPr/>
            <a:lstStyle/>
            <a:p>
              <a:pPr>
                <a:defRPr b="0" i="0" strike="noStrike" sz="12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8FAF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BOTH (together)  |  TIMING: ~30 sec
SCRIPT:
"Good morning/afternoon everyone. We are Chyna Adams and Yanet Assefa from CSDP 431 at UMES. Today we're presenting the final results of our M5 Walmart Demand Forecasting data warehouse project. This has been a full-semester build — from raw CSV files all the way to a working ML forecast model and live database demo."
─────────────────
PROFESSOR Q&amp;A
─────────────────
Q: How long did this project take overall?
A: Roughly 12 active weeks from dataset selection through final ML evaluation — approximately 50–60 combined hours between us.
Q: What is the M5 dataset?
A: It's a publicly released Walmart retail dataset used in a major Kaggle forecasting competition. It contains daily unit sales for ~3,000 items across 10 stores in 3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CHYNA  |  TIMING: ~20 sec
SCRIPT:
"Here's our agenda for today. We'll walk through every layer of the project — starting with how we designed the data warehouse, then the ETL build, quality validation, OLAP analytics, our ML model and results, and finally a live demo where you'll see actual queries running against our database."
─────────────────
PROFESSOR Q&amp;A
─────────────────
Q: What is an OLAP query?
A: OLAP stands for Online Analytical Processing — these are queries designed for aggregation and analysis rather than row-by-row lookups. They use GROUP BY, window functions, and multi-table joins to answer business questions like 'which store sold the most units by category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BOTH (each introduces themselves)  |  TIMING: ~40 sec
SCRIPT:
Chyna: "My role was Warehouse Design Lead. I was responsible for every layer of the database — writing the DDL, building the ETL script, creating the ML feature table, training the XGBoost model, and managing the GitHub repository."
Yanet: "My role was Data Acquisition and Profiling. I validated every dataset before it touched the warehouse — checking for nulls, broken foreign keys, and data consistency. I also evaluated the forecasting models and documented the QA results."
─────────────────
PROFESSOR Q&amp;A
─────────────────
Q: Why did you split the roles this way?
A: We divided by pipeline stage — build vs. verify. Having one person build and one person independently validate is a real-world best practice called separation of duties. It caught issues we would have missed if the same person did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CHYNA  |  TIMING: ~50 sec
SCRIPT:
"Our warehouse is a classic star schema built in PostgreSQL under the schema m5_warehouse. At the center are two fact tables: fact_sales_daily holds 58.3 million rows of daily unit sales, and fact_price_weekly holds 6.8 million rows of weekly prices — 65.1 million records total. Each fact table connects to our four dimension tables: dim_item, dim_store, dim_calendar, and dim_prices_ref. Every join follows the grain — item, store, and date. No snowflake, no repeated dimensions."
─────────────────
PROFESSOR Q&amp;A
─────────────────
Q: Why a star schema instead of a normalized 3NF schema?
A: Star schemas are designed for analytical queries. Denormalized dimensions mean fewer joins, which matters a lot when you're aggregating 58 million rows. We chose query performance over storage efficiency.
Q: What is the grain of fact_sales_daily?
A: One row per item, per store, per day — that's the lowest level of detail in the source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CHYNA  |  TIMING: ~55 sec
SCRIPT:
"Our ETL pipeline follows a classic extract-stage-transform-load-validate flow. We started with 5 CSV files from the M5 Walmart dataset. The hardest part was the transform step — the source data has 1,941 day columns named d_1 through d_1941. We used pandas melt() to unpivot them from wide to long format, processing in chunks of 500 columns at a time to avoid memory errors. The full fact_sales_daily load took about 45 minutes on my MacBook and produced 58.3 million rows. We used ON CONFLICT DO NOTHING so the script is safe to re-run without creating duplicates."
─────────────────
PROFESSOR Q&amp;A
─────────────────
Q: What does melt() do?
A: It takes wide-format data — where each column is a date — and converts it to long format, where each row is one observation (one item, one store, one day, one sales value). This is the correct grain for a fact table.
Q: Why chunk the melt?
A: Reading all 1,941 columns at once would exceed available RAM. Processing 500 columns at a time kept memory usage manageable throughout the 45-minute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YANET  |  TIMING: ~50 sec
SCRIPT:
"Before we ran any analytics, I validated every table in the warehouse. The four key checks were: zero null values, correct row counts, no orphaned foreign keys, and valid SNAP flag values. Every single check passed. The QA log is committed to our GitHub repository so there's a permanent record. Our fact_sales_daily table confirmed 58.3 million rows spanning from January 29, 2011 through June 19, 2016 — that's exactly the M5 evaluation period."
─────────────────
PROFESSOR Q&amp;A
─────────────────
Q: What is a referential integrity check?
A: It verifies that every foreign key in a fact table points to a real row in its dimension table. For example, every item_id in fact_sales_daily must exist in dim_item. A broken key means you'd have sales for items that don't exist in your catalog.
Q: What would you do if a check failed?
A: We'd trace the issue back to the ETL script, fix the transformation, truncate the affected table, and re-run the load. That's exactly why we designed the ETL to be idempotent — safe to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CHYNA  |  TIMING: ~45 sec
SCRIPT:
"All four OLAP queries are committed to the sql/queries/ directory in our GitHub repo. Query 1 uses DATE_TRUNC and GROUP BY to show monthly unit sales by category — we can see FOODS category peaks in December. Query 2 joins both fact tables to compute actual revenue — units times price — and ranks all 10 stores. Query 3 looks at price elasticity by department. And Query 4 uses CASE WHEN to compare sales on calendar event days versus non-event days — HOBBIES sales jump 38% on Super Bowl and NBA Finals days."
─────────────────
PROFESSOR Q&amp;A
─────────────────
Q: What makes a query 'OLAP' vs a regular SQL query?
A: OLAP queries aggregate across multiple dimensions simultaneously — time, geography, product. They use GROUP BY, ROLLUP, window functions, and are designed to answer analytical questions, not return individual rows.
Q: How long do these queries take on 58 million rows?
A: With indexes in place — roughly 2–8 seconds depending on the query. Without indexes, Q2's cross-fact join took over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YANET  |  TIMING: ~55 sec
SCRIPT:
"Before we could train any model, Chyna built the ml_features_daily table using PostgreSQL window functions — six lag and rolling average columns that capture recent sales patterns. Our modeling pipeline has four steps: first we split the data — training on days 1 through 1941, testing on the final 28 days. Step two was a seasonal naive baseline — predicting based on the same weekday four weeks earlier. That's our benchmark. Step three trained an XGBoost gradient boosting model using all six features. Step four stored both sets of predictions in the predictions_daily table, with a model_name column to distinguish them."
─────────────────
PROFESSOR Q&amp;A
─────────────────
Q: Why is a baseline model important?
A: The baseline tells you the minimum acceptable performance. If your ML model can't beat a simple rule-based prediction, it's not worth the complexity.
Q: What is early stopping in XGBoost?
A: It monitors validation loss during training and stops adding trees once performance stops improving. This prevents overfitting and reduces training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YANET  |  TIMING: ~55 sec
SCRIPT:
"Let's look at the numbers. Our seasonal naive baseline achieved a MAE of 1.82 and RMSE of 2.47 on the 28-day test window. The XGBoost model improved both metrics — MAE dropped to 1.45 and RMSE to 2.01. That's a 20% improvement in mean absolute error. When we break it down by category, HOBBIES showed the best improvement from 1.71 to 1.38. FOODS was harder to predict — it has more variability driven by events and promotions — but XGBoost still improved over baseline there too."
─────────────────
PROFESSOR Q&amp;A
─────────────────
Q: What does MAE mean in plain terms?
A: On average, our XGBoost predictions are off by 1.45 units per item per day. For context, many items sell fewer than 5 units per day, so 1.45 is meaningful.
Q: Why is RMSE higher than MAE?
A: RMSE penalizes large errors more heavily because it squares them before averaging. The gap between MAE and RMSE tells us there are some days with large prediction errors — likely event-driven demand spikes.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BOTH (Chyna leads 01-03, Yanet leads 04-06)  |  TIMING: ~50 sec
SCRIPT:
Chyna: "Three big data findings. First: FOODS is 60% of all volume — any forecast that ignores category weighting will be wrong. Second: Texas stores lead in revenue, California in price per unit. Third: event days cause 38% spikes in HOBBIES — this is why we kept the calendar dimension."
Yanet: "Three modeling findings. Fourth: lag_7 is the single most predictive feature — weekly seasonality is real and strong. Fifth: XGBoost beat the baseline in every category. Sixth: the warehouse is clean end-to-end — zero data quality failures in the final QA run."
─────────────────
PROFESSOR Q&amp;A
─────────────────
Q: Which insight surprised you most?
A: The HOBBIES event spike surprised us — we expected FOODS to be most event-driven, but sporting events correlate most with HOBBIES.
Q: What would you do next with more time?
A: Add weather data, build a store-specific model per department, and try a time-series model like LightGBM with recursive multi-step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BOTH  |  TIMING: ~15 sec (transition slide)
SCRIPT:
"Now for the live demo. We're going to run two real queries against our PostgreSQL warehouse right now. Chyna will run the OLAP query first, then Yanet will run the forecast retrieval query. These are live — no screenshots, no mock data."
─────────────────
PROFESSOR Q&amp;A
─────────────────
Q: What if the database is down?
A: We have screenshot backups ready on slides 13-14. We also documented expected outputs in docs/demo_runbook.md.
Q: What version of PostgreSQL?
A: PostgreSQL 14 running on localhost port 5433 on Chyna's MacBook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CHYNA (runs the query)  |  TIMING: ~60 sec
SCRIPT:
"I'm going to run this now against our live PostgreSQL warehouse. [Open terminal → psql -p 5433 -d m5_warehouse → paste query → hit enter.]
This query joins fact_sales_daily to fact_price_weekly to compute revenue as units sold times sell price, then uses RANK() window function to order all 10 stores. You can see TX_2 leads with over $4.8 million in total revenue across the entire dataset. All three Texas stores appear in the top 3 — this matches our key insight from slide 10."
─────────────────
PROFESSOR Q&amp;A
─────────────────
Q: Why does TX lead CA in revenue?
A: Texas stores have higher sales volume. California stores have higher per-unit prices but lower volume overall in this dataset.
Q: What time period does 'total revenue' cover?
A: The full M5 dataset — January 2011 through June 2016. About 5.5 years of daily sales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YANET (runs the query)  |  TIMING: ~60 sec
SCRIPT:
"Now I'll run the forecast retrieval. [Open terminal or use Chyna's psql session.]
This query pulls from our predictions_daily table — which has 832,000 rows of forecasts for the 28-day test window from d_1942 through d_1969. We filter to just the XGBoost model using the model_name column, then sort by predicted_units descending to find the highest-demand item-store pairs. You can see FOODS items at Texas stores tend to appear at the top — which is consistent with our OLAP finding that Texas dominates volume."
─────────────────
PROFESSOR Q&amp;A
─────────────────
Q: How do you know the predictions are accurate?
A: We evaluated on the actual holdout data from d_1942–d_1969 — that's real sales we held back from training. XGBoost achieved MAE 1.45 on those actual values.
Q: Why store two models in the same table?
A: Using a model_name column is standard practice for model versioning. It lets us compare any model against another with a simple WHERE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BOTH  |  TIMING: ~30 sec
SCRIPT:
Chyna: "In 12 weeks we went from raw CSV files to a production-quality data warehouse with 65 million records, OLAP analytics, and a trained ML forecasting model."
Yanet: "Everything is reproducible and committed to GitHub. The final submission package including the report, all SQL scripts, and the ETL code is due April 30th. We're happy to take questions."
BOTH: "Thank you."
─────────────────
PROFESSOR Q&amp;A
─────────────────
Q: What was the hardest part of the project?
Chyna: "The ETL load. Figuring out how to melt 1,941 columns in chunks without running out of memory."
Yanet: "Building the QA framework. We didn't have one early on and had to rebuild it from scratch after finding referential integrity issues in Week 9."
Q: Would you use PostgreSQL again for this scale?
A: For 65M rows, yes — PostgreSQL handled it well with proper indexing. At 10x scale we'd look at columnar stores like Redshift or BigQuery.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3291840" cy="5143500"/>
          </a:xfrm>
          <a:prstGeom prst="rect">
            <a:avLst/>
          </a:prstGeom>
          <a:solidFill>
            <a:srgbClr val="145460"/>
          </a:solidFill>
          <a:ln w="12700">
            <a:solidFill>
              <a:srgbClr val="145460"/>
            </a:solidFill>
            <a:prstDash val="solid"/>
          </a:ln>
        </p:spPr>
      </p:sp>
      <p:sp>
        <p:nvSpPr>
          <p:cNvPr id="3" name="Shape 1"/>
          <p:cNvSpPr/>
          <p:nvPr/>
        </p:nvSpPr>
        <p:spPr>
          <a:xfrm rot="5400000">
            <a:off x="2834640" y="0"/>
            <a:ext cx="640080" cy="5143500"/>
          </a:xfrm>
          <a:prstGeom prst="rtTriangle">
            <a:avLst/>
          </a:prstGeom>
          <a:solidFill>
            <a:srgbClr val="A07B1E"/>
          </a:solidFill>
          <a:ln w="12700">
            <a:solidFill>
              <a:srgbClr val="A07B1E"/>
            </a:solidFill>
            <a:prstDash val="solid"/>
          </a:ln>
        </p:spPr>
      </p:sp>
      <p:sp>
        <p:nvSpPr>
          <p:cNvPr id="4" name="Text 2"/>
          <p:cNvSpPr/>
          <p:nvPr/>
        </p:nvSpPr>
        <p:spPr>
          <a:xfrm rot="16200000">
            <a:off x="-1005840" y="2286000"/>
            <a:ext cx="3200400" cy="457200"/>
          </a:xfrm>
          <a:prstGeom prst="rect">
            <a:avLst/>
          </a:prstGeom>
          <a:noFill/>
          <a:ln/>
        </p:spPr>
        <p:txBody>
          <a:bodyPr wrap="square" rtlCol="0" anchor="ctr"/>
          <a:lstStyle/>
          <a:p>
            <a:pPr algn="ctr" indent="0" marL="0">
              <a:buNone/>
            </a:pPr>
            <a:r>
              <a:rPr lang="en-US" sz="1000" spc="300" kern="0" dirty="0">
                <a:solidFill>
                  <a:srgbClr val="FFFFFF"/>
                </a:solidFill>
                <a:latin typeface="Calibri" pitchFamily="34" charset="0"/>
                <a:ea typeface="Calibri" pitchFamily="34" charset="-122"/>
                <a:cs typeface="Calibri" pitchFamily="34" charset="-120"/>
              </a:rPr>
              <a:t>CSDP 431  ·  SPRING 2026</a:t>
            </a:r>
            <a:endParaRPr lang="en-US" sz="1000" dirty="0"/>
          </a:p>
        </p:txBody>
      </p:sp>
      <p:sp>
        <p:nvSpPr>
          <p:cNvPr id="5" name="Text 3"/>
          <p:cNvSpPr/>
          <p:nvPr/>
        </p:nvSpPr>
        <p:spPr>
          <a:xfrm>
            <a:off x="3657600" y="502920"/>
            <a:ext cx="5212080" cy="2011680"/>
          </a:xfrm>
          <a:prstGeom prst="rect">
            <a:avLst/>
          </a:prstGeom>
          <a:noFill/>
          <a:ln/>
        </p:spPr>
        <p:txBody>
          <a:bodyPr wrap="square" rtlCol="0" anchor="ctr"/>
          <a:lstStyle/>
          <a:p>
            <a:pPr algn="l" indent="0" marL="0">
              <a:buNone/>
            </a:pPr>
            <a:r>
              <a:rPr lang="en-US" sz="5000" b="1" dirty="0">
                <a:solidFill>
                  <a:srgbClr val="FFFFFF"/>
                </a:solidFill>
                <a:latin typeface="Calibri" pitchFamily="34" charset="0"/>
                <a:ea typeface="Calibri" pitchFamily="34" charset="-122"/>
                <a:cs typeface="Calibri" pitchFamily="34" charset="-120"/>
              </a:rPr>
              <a:t>M5 Demand</a:t>
            </a:r>
            <a:endParaRPr lang="en-US" sz="5000" dirty="0"/>
          </a:p>
          <a:p>
            <a:pPr algn="l" indent="0" marL="0">
              <a:buNone/>
            </a:pPr>
            <a:r>
              <a:rPr lang="en-US" sz="5000" b="1" dirty="0">
                <a:solidFill>
                  <a:srgbClr val="FFFFFF"/>
                </a:solidFill>
                <a:latin typeface="Calibri" pitchFamily="34" charset="0"/>
                <a:ea typeface="Calibri" pitchFamily="34" charset="-122"/>
                <a:cs typeface="Calibri" pitchFamily="34" charset="-120"/>
              </a:rPr>
              <a:t>Forecasting</a:t>
            </a:r>
            <a:endParaRPr lang="en-US" sz="5000" dirty="0"/>
          </a:p>
        </p:txBody>
      </p:sp>
      <p:sp>
        <p:nvSpPr>
          <p:cNvPr id="6" name="Text 4"/>
          <p:cNvSpPr/>
          <p:nvPr/>
        </p:nvSpPr>
        <p:spPr>
          <a:xfrm>
            <a:off x="3657600" y="2606040"/>
            <a:ext cx="5212080" cy="411480"/>
          </a:xfrm>
          <a:prstGeom prst="rect">
            <a:avLst/>
          </a:prstGeom>
          <a:noFill/>
          <a:ln/>
        </p:spPr>
        <p:txBody>
          <a:bodyPr wrap="square" rtlCol="0" anchor="ctr"/>
          <a:lstStyle/>
          <a:p>
            <a:pPr algn="l" indent="0" marL="0">
              <a:buNone/>
            </a:pPr>
            <a:r>
              <a:rPr lang="en-US" sz="1400" dirty="0">
                <a:solidFill>
                  <a:srgbClr val="A07B1E"/>
                </a:solidFill>
                <a:latin typeface="Calibri" pitchFamily="34" charset="0"/>
                <a:ea typeface="Calibri" pitchFamily="34" charset="-122"/>
                <a:cs typeface="Calibri" pitchFamily="34" charset="-120"/>
              </a:rPr>
              <a:t>Final Presentation  ·  Week 13  ·  Apr 23, 2026</a:t>
            </a:r>
            <a:endParaRPr lang="en-US" sz="1400" dirty="0"/>
          </a:p>
        </p:txBody>
      </p:sp>
      <p:sp>
        <p:nvSpPr>
          <p:cNvPr id="7" name="Shape 5"/>
          <p:cNvSpPr/>
          <p:nvPr/>
        </p:nvSpPr>
        <p:spPr>
          <a:xfrm>
            <a:off x="3657600" y="3090672"/>
            <a:ext cx="5120640" cy="36576"/>
          </a:xfrm>
          <a:prstGeom prst="rect">
            <a:avLst/>
          </a:prstGeom>
          <a:solidFill>
            <a:srgbClr val="E8456A"/>
          </a:solidFill>
          <a:ln w="12700">
            <a:solidFill>
              <a:srgbClr val="E8456A"/>
            </a:solidFill>
            <a:prstDash val="solid"/>
          </a:ln>
        </p:spPr>
      </p:sp>
      <p:sp>
        <p:nvSpPr>
          <p:cNvPr id="8" name="Text 6"/>
          <p:cNvSpPr/>
          <p:nvPr/>
        </p:nvSpPr>
        <p:spPr>
          <a:xfrm>
            <a:off x="3657600" y="3246120"/>
            <a:ext cx="5212080" cy="34747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Chyna Adams  ·  Warehouse Design Lead</a:t>
            </a:r>
            <a:endParaRPr lang="en-US" sz="1300" dirty="0"/>
          </a:p>
        </p:txBody>
      </p:sp>
      <p:sp>
        <p:nvSpPr>
          <p:cNvPr id="9" name="Text 7"/>
          <p:cNvSpPr/>
          <p:nvPr/>
        </p:nvSpPr>
        <p:spPr>
          <a:xfrm>
            <a:off x="3657600" y="3639312"/>
            <a:ext cx="5212080" cy="347472"/>
          </a:xfrm>
          <a:prstGeom prst="rect">
            <a:avLst/>
          </a:prstGeom>
          <a:noFill/>
          <a:ln/>
        </p:spPr>
        <p:txBody>
          <a:bodyPr wrap="square"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Yanet Assefa  ·  Data Acquisition &amp; Profiling Lead</a:t>
            </a:r>
            <a:endParaRPr lang="en-US" sz="1300" dirty="0"/>
          </a:p>
        </p:txBody>
      </p:sp>
      <p:sp>
        <p:nvSpPr>
          <p:cNvPr id="10" name="Text 8"/>
          <p:cNvSpPr/>
          <p:nvPr/>
        </p:nvSpPr>
        <p:spPr>
          <a:xfrm>
            <a:off x="3657600" y="4663440"/>
            <a:ext cx="5212080" cy="320040"/>
          </a:xfrm>
          <a:prstGeom prst="rect">
            <a:avLst/>
          </a:prstGeom>
          <a:noFill/>
          <a:ln/>
        </p:spPr>
        <p:txBody>
          <a:bodyPr wrap="square" rtlCol="0" anchor="ctr"/>
          <a:lstStyle/>
          <a:p>
            <a:pPr algn="l" indent="0" marL="0">
              <a:buNone/>
            </a:pPr>
            <a:r>
              <a:rPr lang="en-US" sz="1050" i="1" dirty="0">
                <a:solidFill>
                  <a:srgbClr val="64748B"/>
                </a:solidFill>
                <a:latin typeface="Calibri" pitchFamily="34" charset="0"/>
                <a:ea typeface="Calibri" pitchFamily="34" charset="-122"/>
                <a:cs typeface="Calibri" pitchFamily="34" charset="-120"/>
              </a:rPr>
              <a:t>University of Maryland Eastern Shore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2</a:t>
            </a:r>
            <a:endParaRPr lang="en-US" sz="1300" dirty="0"/>
          </a:p>
        </p:txBody>
      </p:sp>
      <p:sp>
        <p:nvSpPr>
          <p:cNvPr id="5" name="Shape 3"/>
          <p:cNvSpPr/>
          <p:nvPr/>
        </p:nvSpPr>
        <p:spPr>
          <a:xfrm>
            <a:off x="320040" y="201168"/>
            <a:ext cx="64008" cy="475488"/>
          </a:xfrm>
          <a:prstGeom prst="rect">
            <a:avLst/>
          </a:prstGeom>
          <a:solidFill>
            <a:srgbClr val="1B6B7B"/>
          </a:solidFill>
          <a:ln w="12700">
            <a:solidFill>
              <a:srgbClr val="1B6B7B"/>
            </a:solidFill>
            <a:prstDash val="solid"/>
          </a:ln>
        </p:spPr>
      </p:sp>
      <p:sp>
        <p:nvSpPr>
          <p:cNvPr id="6" name="Text 4"/>
          <p:cNvSpPr/>
          <p:nvPr/>
        </p:nvSpPr>
        <p:spPr>
          <a:xfrm>
            <a:off x="457200" y="182880"/>
            <a:ext cx="8412480" cy="530352"/>
          </a:xfrm>
          <a:prstGeom prst="rect">
            <a:avLst/>
          </a:prstGeom>
          <a:noFill/>
          <a:ln/>
        </p:spPr>
        <p:txBody>
          <a:bodyPr wrap="square" lIns="0" tIns="0" rIns="0" bIns="0"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Presentation Agenda</a:t>
            </a:r>
            <a:endParaRPr lang="en-US" sz="2600" dirty="0"/>
          </a:p>
        </p:txBody>
      </p:sp>
      <p:sp>
        <p:nvSpPr>
          <p:cNvPr id="7" name="Shape 5"/>
          <p:cNvSpPr/>
          <p:nvPr/>
        </p:nvSpPr>
        <p:spPr>
          <a:xfrm>
            <a:off x="320040" y="841248"/>
            <a:ext cx="347472" cy="548640"/>
          </a:xfrm>
          <a:prstGeom prst="rect">
            <a:avLst/>
          </a:prstGeom>
          <a:solidFill>
            <a:srgbClr val="1B6B7B"/>
          </a:solidFill>
          <a:ln w="12700">
            <a:solidFill>
              <a:srgbClr val="1B6B7B"/>
            </a:solidFill>
            <a:prstDash val="solid"/>
          </a:ln>
        </p:spPr>
      </p:sp>
      <p:sp>
        <p:nvSpPr>
          <p:cNvPr id="8" name="Text 6"/>
          <p:cNvSpPr/>
          <p:nvPr/>
        </p:nvSpPr>
        <p:spPr>
          <a:xfrm>
            <a:off x="320040" y="841248"/>
            <a:ext cx="34747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Shape 7"/>
          <p:cNvSpPr/>
          <p:nvPr/>
        </p:nvSpPr>
        <p:spPr>
          <a:xfrm>
            <a:off x="667512" y="841248"/>
            <a:ext cx="3813048" cy="548640"/>
          </a:xfrm>
          <a:prstGeom prst="rect">
            <a:avLst/>
          </a:prstGeom>
          <a:solidFill>
            <a:srgbClr val="FAF7F0"/>
          </a:solidFill>
          <a:ln w="12700">
            <a:solidFill>
              <a:srgbClr val="E2E8F0"/>
            </a:solidFill>
            <a:prstDash val="solid"/>
          </a:ln>
        </p:spPr>
      </p:sp>
      <p:sp>
        <p:nvSpPr>
          <p:cNvPr id="10" name="Text 8"/>
          <p:cNvSpPr/>
          <p:nvPr/>
        </p:nvSpPr>
        <p:spPr>
          <a:xfrm>
            <a:off x="758952" y="877824"/>
            <a:ext cx="3685032" cy="2560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Warehouse Design</a:t>
            </a:r>
            <a:endParaRPr lang="en-US" sz="1300" dirty="0"/>
          </a:p>
        </p:txBody>
      </p:sp>
      <p:sp>
        <p:nvSpPr>
          <p:cNvPr id="11" name="Text 9"/>
          <p:cNvSpPr/>
          <p:nvPr/>
        </p:nvSpPr>
        <p:spPr>
          <a:xfrm>
            <a:off x="758952" y="1115568"/>
            <a:ext cx="3685032"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Star schema, dimensions, fact tables</a:t>
            </a:r>
            <a:endParaRPr lang="en-US" sz="1000" dirty="0"/>
          </a:p>
        </p:txBody>
      </p:sp>
      <p:sp>
        <p:nvSpPr>
          <p:cNvPr id="12" name="Shape 10"/>
          <p:cNvSpPr/>
          <p:nvPr/>
        </p:nvSpPr>
        <p:spPr>
          <a:xfrm>
            <a:off x="320040" y="1463040"/>
            <a:ext cx="347472" cy="548640"/>
          </a:xfrm>
          <a:prstGeom prst="rect">
            <a:avLst/>
          </a:prstGeom>
          <a:solidFill>
            <a:srgbClr val="2563A0"/>
          </a:solidFill>
          <a:ln w="12700">
            <a:solidFill>
              <a:srgbClr val="2563A0"/>
            </a:solidFill>
            <a:prstDash val="solid"/>
          </a:ln>
        </p:spPr>
      </p:sp>
      <p:sp>
        <p:nvSpPr>
          <p:cNvPr id="13" name="Text 11"/>
          <p:cNvSpPr/>
          <p:nvPr/>
        </p:nvSpPr>
        <p:spPr>
          <a:xfrm>
            <a:off x="320040" y="1463040"/>
            <a:ext cx="34747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Shape 12"/>
          <p:cNvSpPr/>
          <p:nvPr/>
        </p:nvSpPr>
        <p:spPr>
          <a:xfrm>
            <a:off x="667512" y="1463040"/>
            <a:ext cx="3813048" cy="548640"/>
          </a:xfrm>
          <a:prstGeom prst="rect">
            <a:avLst/>
          </a:prstGeom>
          <a:solidFill>
            <a:srgbClr val="FAF7F0"/>
          </a:solidFill>
          <a:ln w="12700">
            <a:solidFill>
              <a:srgbClr val="E2E8F0"/>
            </a:solidFill>
            <a:prstDash val="solid"/>
          </a:ln>
        </p:spPr>
      </p:sp>
      <p:sp>
        <p:nvSpPr>
          <p:cNvPr id="15" name="Text 13"/>
          <p:cNvSpPr/>
          <p:nvPr/>
        </p:nvSpPr>
        <p:spPr>
          <a:xfrm>
            <a:off x="758952" y="1499616"/>
            <a:ext cx="3685032" cy="2560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ETL Pipeline</a:t>
            </a:r>
            <a:endParaRPr lang="en-US" sz="1300" dirty="0"/>
          </a:p>
        </p:txBody>
      </p:sp>
      <p:sp>
        <p:nvSpPr>
          <p:cNvPr id="16" name="Text 14"/>
          <p:cNvSpPr/>
          <p:nvPr/>
        </p:nvSpPr>
        <p:spPr>
          <a:xfrm>
            <a:off x="758952" y="1737360"/>
            <a:ext cx="3685032"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Staging → fact load, 65.1M records</a:t>
            </a:r>
            <a:endParaRPr lang="en-US" sz="1000" dirty="0"/>
          </a:p>
        </p:txBody>
      </p:sp>
      <p:sp>
        <p:nvSpPr>
          <p:cNvPr id="17" name="Shape 15"/>
          <p:cNvSpPr/>
          <p:nvPr/>
        </p:nvSpPr>
        <p:spPr>
          <a:xfrm>
            <a:off x="320040" y="2084832"/>
            <a:ext cx="347472" cy="548640"/>
          </a:xfrm>
          <a:prstGeom prst="rect">
            <a:avLst/>
          </a:prstGeom>
          <a:solidFill>
            <a:srgbClr val="E8456A"/>
          </a:solidFill>
          <a:ln w="12700">
            <a:solidFill>
              <a:srgbClr val="E8456A"/>
            </a:solidFill>
            <a:prstDash val="solid"/>
          </a:ln>
        </p:spPr>
      </p:sp>
      <p:sp>
        <p:nvSpPr>
          <p:cNvPr id="18" name="Text 16"/>
          <p:cNvSpPr/>
          <p:nvPr/>
        </p:nvSpPr>
        <p:spPr>
          <a:xfrm>
            <a:off x="320040" y="2084832"/>
            <a:ext cx="34747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9" name="Shape 17"/>
          <p:cNvSpPr/>
          <p:nvPr/>
        </p:nvSpPr>
        <p:spPr>
          <a:xfrm>
            <a:off x="667512" y="2084832"/>
            <a:ext cx="3813048" cy="548640"/>
          </a:xfrm>
          <a:prstGeom prst="rect">
            <a:avLst/>
          </a:prstGeom>
          <a:solidFill>
            <a:srgbClr val="FAF7F0"/>
          </a:solidFill>
          <a:ln w="12700">
            <a:solidFill>
              <a:srgbClr val="E2E8F0"/>
            </a:solidFill>
            <a:prstDash val="solid"/>
          </a:ln>
        </p:spPr>
      </p:sp>
      <p:sp>
        <p:nvSpPr>
          <p:cNvPr id="20" name="Text 18"/>
          <p:cNvSpPr/>
          <p:nvPr/>
        </p:nvSpPr>
        <p:spPr>
          <a:xfrm>
            <a:off x="758952" y="2121408"/>
            <a:ext cx="3685032" cy="2560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Data Quality Checks</a:t>
            </a:r>
            <a:endParaRPr lang="en-US" sz="1300" dirty="0"/>
          </a:p>
        </p:txBody>
      </p:sp>
      <p:sp>
        <p:nvSpPr>
          <p:cNvPr id="21" name="Text 19"/>
          <p:cNvSpPr/>
          <p:nvPr/>
        </p:nvSpPr>
        <p:spPr>
          <a:xfrm>
            <a:off x="758952" y="2359152"/>
            <a:ext cx="3685032"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Null validation, referential integrity, QA log</a:t>
            </a:r>
            <a:endParaRPr lang="en-US" sz="1000" dirty="0"/>
          </a:p>
        </p:txBody>
      </p:sp>
      <p:sp>
        <p:nvSpPr>
          <p:cNvPr id="22" name="Shape 20"/>
          <p:cNvSpPr/>
          <p:nvPr/>
        </p:nvSpPr>
        <p:spPr>
          <a:xfrm>
            <a:off x="320040" y="2706624"/>
            <a:ext cx="347472" cy="548640"/>
          </a:xfrm>
          <a:prstGeom prst="rect">
            <a:avLst/>
          </a:prstGeom>
          <a:solidFill>
            <a:srgbClr val="1B6B7B"/>
          </a:solidFill>
          <a:ln w="12700">
            <a:solidFill>
              <a:srgbClr val="1B6B7B"/>
            </a:solidFill>
            <a:prstDash val="solid"/>
          </a:ln>
        </p:spPr>
      </p:sp>
      <p:sp>
        <p:nvSpPr>
          <p:cNvPr id="23" name="Text 21"/>
          <p:cNvSpPr/>
          <p:nvPr/>
        </p:nvSpPr>
        <p:spPr>
          <a:xfrm>
            <a:off x="320040" y="2706624"/>
            <a:ext cx="34747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hape 22"/>
          <p:cNvSpPr/>
          <p:nvPr/>
        </p:nvSpPr>
        <p:spPr>
          <a:xfrm>
            <a:off x="667512" y="2706624"/>
            <a:ext cx="3813048" cy="548640"/>
          </a:xfrm>
          <a:prstGeom prst="rect">
            <a:avLst/>
          </a:prstGeom>
          <a:solidFill>
            <a:srgbClr val="FAF7F0"/>
          </a:solidFill>
          <a:ln w="12700">
            <a:solidFill>
              <a:srgbClr val="E2E8F0"/>
            </a:solidFill>
            <a:prstDash val="solid"/>
          </a:ln>
        </p:spPr>
      </p:sp>
      <p:sp>
        <p:nvSpPr>
          <p:cNvPr id="25" name="Text 23"/>
          <p:cNvSpPr/>
          <p:nvPr/>
        </p:nvSpPr>
        <p:spPr>
          <a:xfrm>
            <a:off x="758952" y="2743200"/>
            <a:ext cx="3685032" cy="2560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OLAP Analytics</a:t>
            </a:r>
            <a:endParaRPr lang="en-US" sz="1300" dirty="0"/>
          </a:p>
        </p:txBody>
      </p:sp>
      <p:sp>
        <p:nvSpPr>
          <p:cNvPr id="26" name="Text 24"/>
          <p:cNvSpPr/>
          <p:nvPr/>
        </p:nvSpPr>
        <p:spPr>
          <a:xfrm>
            <a:off x="758952" y="2980944"/>
            <a:ext cx="3685032"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4 analytical queries across the warehouse</a:t>
            </a:r>
            <a:endParaRPr lang="en-US" sz="1000" dirty="0"/>
          </a:p>
        </p:txBody>
      </p:sp>
      <p:sp>
        <p:nvSpPr>
          <p:cNvPr id="27" name="Shape 25"/>
          <p:cNvSpPr/>
          <p:nvPr/>
        </p:nvSpPr>
        <p:spPr>
          <a:xfrm>
            <a:off x="4526280" y="841248"/>
            <a:ext cx="347472" cy="548640"/>
          </a:xfrm>
          <a:prstGeom prst="rect">
            <a:avLst/>
          </a:prstGeom>
          <a:solidFill>
            <a:srgbClr val="2563A0"/>
          </a:solidFill>
          <a:ln w="12700">
            <a:solidFill>
              <a:srgbClr val="2563A0"/>
            </a:solidFill>
            <a:prstDash val="solid"/>
          </a:ln>
        </p:spPr>
      </p:sp>
      <p:sp>
        <p:nvSpPr>
          <p:cNvPr id="28" name="Text 26"/>
          <p:cNvSpPr/>
          <p:nvPr/>
        </p:nvSpPr>
        <p:spPr>
          <a:xfrm>
            <a:off x="4526280" y="841248"/>
            <a:ext cx="34747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9" name="Shape 27"/>
          <p:cNvSpPr/>
          <p:nvPr/>
        </p:nvSpPr>
        <p:spPr>
          <a:xfrm>
            <a:off x="4873752" y="841248"/>
            <a:ext cx="3813048" cy="548640"/>
          </a:xfrm>
          <a:prstGeom prst="rect">
            <a:avLst/>
          </a:prstGeom>
          <a:solidFill>
            <a:srgbClr val="FAF7F0"/>
          </a:solidFill>
          <a:ln w="12700">
            <a:solidFill>
              <a:srgbClr val="E2E8F0"/>
            </a:solidFill>
            <a:prstDash val="solid"/>
          </a:ln>
        </p:spPr>
      </p:sp>
      <p:sp>
        <p:nvSpPr>
          <p:cNvPr id="30" name="Text 28"/>
          <p:cNvSpPr/>
          <p:nvPr/>
        </p:nvSpPr>
        <p:spPr>
          <a:xfrm>
            <a:off x="4965192" y="877824"/>
            <a:ext cx="3685032" cy="2560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Modeling Approach</a:t>
            </a:r>
            <a:endParaRPr lang="en-US" sz="1300" dirty="0"/>
          </a:p>
        </p:txBody>
      </p:sp>
      <p:sp>
        <p:nvSpPr>
          <p:cNvPr id="31" name="Text 29"/>
          <p:cNvSpPr/>
          <p:nvPr/>
        </p:nvSpPr>
        <p:spPr>
          <a:xfrm>
            <a:off x="4965192" y="1115568"/>
            <a:ext cx="3685032"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Seasonal naive baseline + XGBoost ML</a:t>
            </a:r>
            <a:endParaRPr lang="en-US" sz="1000" dirty="0"/>
          </a:p>
        </p:txBody>
      </p:sp>
      <p:sp>
        <p:nvSpPr>
          <p:cNvPr id="32" name="Shape 30"/>
          <p:cNvSpPr/>
          <p:nvPr/>
        </p:nvSpPr>
        <p:spPr>
          <a:xfrm>
            <a:off x="4526280" y="1463040"/>
            <a:ext cx="347472" cy="548640"/>
          </a:xfrm>
          <a:prstGeom prst="rect">
            <a:avLst/>
          </a:prstGeom>
          <a:solidFill>
            <a:srgbClr val="E8456A"/>
          </a:solidFill>
          <a:ln w="12700">
            <a:solidFill>
              <a:srgbClr val="E8456A"/>
            </a:solidFill>
            <a:prstDash val="solid"/>
          </a:ln>
        </p:spPr>
      </p:sp>
      <p:sp>
        <p:nvSpPr>
          <p:cNvPr id="33" name="Text 31"/>
          <p:cNvSpPr/>
          <p:nvPr/>
        </p:nvSpPr>
        <p:spPr>
          <a:xfrm>
            <a:off x="4526280" y="1463040"/>
            <a:ext cx="34747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4" name="Shape 32"/>
          <p:cNvSpPr/>
          <p:nvPr/>
        </p:nvSpPr>
        <p:spPr>
          <a:xfrm>
            <a:off x="4873752" y="1463040"/>
            <a:ext cx="3813048" cy="548640"/>
          </a:xfrm>
          <a:prstGeom prst="rect">
            <a:avLst/>
          </a:prstGeom>
          <a:solidFill>
            <a:srgbClr val="FAF7F0"/>
          </a:solidFill>
          <a:ln w="12700">
            <a:solidFill>
              <a:srgbClr val="E2E8F0"/>
            </a:solidFill>
            <a:prstDash val="solid"/>
          </a:ln>
        </p:spPr>
      </p:sp>
      <p:sp>
        <p:nvSpPr>
          <p:cNvPr id="35" name="Text 33"/>
          <p:cNvSpPr/>
          <p:nvPr/>
        </p:nvSpPr>
        <p:spPr>
          <a:xfrm>
            <a:off x="4965192" y="1499616"/>
            <a:ext cx="3685032" cy="2560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Evaluation &amp; Key Insights</a:t>
            </a:r>
            <a:endParaRPr lang="en-US" sz="1300" dirty="0"/>
          </a:p>
        </p:txBody>
      </p:sp>
      <p:sp>
        <p:nvSpPr>
          <p:cNvPr id="36" name="Text 34"/>
          <p:cNvSpPr/>
          <p:nvPr/>
        </p:nvSpPr>
        <p:spPr>
          <a:xfrm>
            <a:off x="4965192" y="1737360"/>
            <a:ext cx="3685032"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Metrics, breakdown analysis, findings</a:t>
            </a:r>
            <a:endParaRPr lang="en-US" sz="1000" dirty="0"/>
          </a:p>
        </p:txBody>
      </p:sp>
      <p:sp>
        <p:nvSpPr>
          <p:cNvPr id="37" name="Shape 35"/>
          <p:cNvSpPr/>
          <p:nvPr/>
        </p:nvSpPr>
        <p:spPr>
          <a:xfrm>
            <a:off x="4526280" y="2084832"/>
            <a:ext cx="347472" cy="548640"/>
          </a:xfrm>
          <a:prstGeom prst="rect">
            <a:avLst/>
          </a:prstGeom>
          <a:solidFill>
            <a:srgbClr val="A07B1E"/>
          </a:solidFill>
          <a:ln w="12700">
            <a:solidFill>
              <a:srgbClr val="A07B1E"/>
            </a:solidFill>
            <a:prstDash val="solid"/>
          </a:ln>
        </p:spPr>
      </p:sp>
      <p:sp>
        <p:nvSpPr>
          <p:cNvPr id="38" name="Text 36"/>
          <p:cNvSpPr/>
          <p:nvPr/>
        </p:nvSpPr>
        <p:spPr>
          <a:xfrm>
            <a:off x="4526280" y="2084832"/>
            <a:ext cx="347472"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9" name="Shape 37"/>
          <p:cNvSpPr/>
          <p:nvPr/>
        </p:nvSpPr>
        <p:spPr>
          <a:xfrm>
            <a:off x="4873752" y="2084832"/>
            <a:ext cx="3813048" cy="548640"/>
          </a:xfrm>
          <a:prstGeom prst="rect">
            <a:avLst/>
          </a:prstGeom>
          <a:solidFill>
            <a:srgbClr val="FAF7F0"/>
          </a:solidFill>
          <a:ln w="12700">
            <a:solidFill>
              <a:srgbClr val="E2E8F0"/>
            </a:solidFill>
            <a:prstDash val="solid"/>
          </a:ln>
        </p:spPr>
      </p:sp>
      <p:sp>
        <p:nvSpPr>
          <p:cNvPr id="40" name="Text 38"/>
          <p:cNvSpPr/>
          <p:nvPr/>
        </p:nvSpPr>
        <p:spPr>
          <a:xfrm>
            <a:off x="4965192" y="2121408"/>
            <a:ext cx="3685032" cy="25603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Live Demo</a:t>
            </a:r>
            <a:endParaRPr lang="en-US" sz="1300" dirty="0"/>
          </a:p>
        </p:txBody>
      </p:sp>
      <p:sp>
        <p:nvSpPr>
          <p:cNvPr id="41" name="Text 39"/>
          <p:cNvSpPr/>
          <p:nvPr/>
        </p:nvSpPr>
        <p:spPr>
          <a:xfrm>
            <a:off x="4965192" y="2359152"/>
            <a:ext cx="3685032" cy="2286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OLAP query + forecast retrieval from predictions_daily</a:t>
            </a:r>
            <a:endParaRPr lang="en-US" sz="1000" dirty="0"/>
          </a:p>
        </p:txBody>
      </p:sp>
      <p:sp>
        <p:nvSpPr>
          <p:cNvPr id="42" name="Text 40"/>
          <p:cNvSpPr/>
          <p:nvPr/>
        </p:nvSpPr>
        <p:spPr>
          <a:xfrm>
            <a:off x="320040" y="4736592"/>
            <a:ext cx="8503920" cy="256032"/>
          </a:xfrm>
          <a:prstGeom prst="rect">
            <a:avLst/>
          </a:prstGeom>
          <a:noFill/>
          <a:ln/>
        </p:spPr>
        <p:txBody>
          <a:bodyPr wrap="square"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Duration: 6–8 min presentation  +  3 min Q&amp;A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3</a:t>
            </a:r>
            <a:endParaRPr lang="en-US" sz="1300" dirty="0"/>
          </a:p>
        </p:txBody>
      </p:sp>
      <p:sp>
        <p:nvSpPr>
          <p:cNvPr id="5" name="Shape 3"/>
          <p:cNvSpPr/>
          <p:nvPr/>
        </p:nvSpPr>
        <p:spPr>
          <a:xfrm>
            <a:off x="320040" y="201168"/>
            <a:ext cx="64008" cy="475488"/>
          </a:xfrm>
          <a:prstGeom prst="rect">
            <a:avLst/>
          </a:prstGeom>
          <a:solidFill>
            <a:srgbClr val="A07B1E"/>
          </a:solidFill>
          <a:ln w="12700">
            <a:solidFill>
              <a:srgbClr val="A07B1E"/>
            </a:solidFill>
            <a:prstDash val="solid"/>
          </a:ln>
        </p:spPr>
      </p:sp>
      <p:sp>
        <p:nvSpPr>
          <p:cNvPr id="6" name="Text 4"/>
          <p:cNvSpPr/>
          <p:nvPr/>
        </p:nvSpPr>
        <p:spPr>
          <a:xfrm>
            <a:off x="457200" y="182880"/>
            <a:ext cx="8412480" cy="530352"/>
          </a:xfrm>
          <a:prstGeom prst="rect">
            <a:avLst/>
          </a:prstGeom>
          <a:noFill/>
          <a:ln/>
        </p:spPr>
        <p:txBody>
          <a:bodyPr wrap="square" lIns="0" tIns="0" rIns="0" bIns="0"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Our Roles</a:t>
            </a:r>
            <a:endParaRPr lang="en-US" sz="2600" dirty="0"/>
          </a:p>
        </p:txBody>
      </p:sp>
      <p:sp>
        <p:nvSpPr>
          <p:cNvPr id="7" name="Shape 5"/>
          <p:cNvSpPr/>
          <p:nvPr/>
        </p:nvSpPr>
        <p:spPr>
          <a:xfrm>
            <a:off x="320040" y="841248"/>
            <a:ext cx="4160520" cy="4069080"/>
          </a:xfrm>
          <a:prstGeom prst="rect">
            <a:avLst/>
          </a:prstGeom>
          <a:solidFill>
            <a:srgbClr val="EBF5F7"/>
          </a:solidFill>
          <a:ln w="25400">
            <a:solidFill>
              <a:srgbClr val="2563A0"/>
            </a:solidFill>
            <a:prstDash val="solid"/>
          </a:ln>
          <a:effectLst>
            <a:outerShdw sx="100000" sy="100000" kx="0" ky="0" algn="bl" rotWithShape="0" blurRad="76200" dist="25400" dir="8100000">
              <a:srgbClr val="000000">
                <a:alpha val="10000"/>
              </a:srgbClr>
            </a:outerShdw>
          </a:effectLst>
        </p:spPr>
      </p:sp>
      <p:sp>
        <p:nvSpPr>
          <p:cNvPr id="8" name="Shape 6"/>
          <p:cNvSpPr/>
          <p:nvPr/>
        </p:nvSpPr>
        <p:spPr>
          <a:xfrm>
            <a:off x="320040" y="841248"/>
            <a:ext cx="4160520" cy="475488"/>
          </a:xfrm>
          <a:prstGeom prst="rect">
            <a:avLst/>
          </a:prstGeom>
          <a:solidFill>
            <a:srgbClr val="2563A0"/>
          </a:solidFill>
          <a:ln w="12700">
            <a:solidFill>
              <a:srgbClr val="2563A0"/>
            </a:solidFill>
            <a:prstDash val="solid"/>
          </a:ln>
        </p:spPr>
      </p:sp>
      <p:sp>
        <p:nvSpPr>
          <p:cNvPr id="9" name="Text 7"/>
          <p:cNvSpPr/>
          <p:nvPr/>
        </p:nvSpPr>
        <p:spPr>
          <a:xfrm>
            <a:off x="320040" y="841248"/>
            <a:ext cx="416052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CHYNA ADAMS</a:t>
            </a:r>
            <a:endParaRPr lang="en-US" sz="1400" dirty="0"/>
          </a:p>
        </p:txBody>
      </p:sp>
      <p:sp>
        <p:nvSpPr>
          <p:cNvPr id="10" name="Text 8"/>
          <p:cNvSpPr/>
          <p:nvPr/>
        </p:nvSpPr>
        <p:spPr>
          <a:xfrm>
            <a:off x="320040" y="1362456"/>
            <a:ext cx="4160520" cy="320040"/>
          </a:xfrm>
          <a:prstGeom prst="rect">
            <a:avLst/>
          </a:prstGeom>
          <a:noFill/>
          <a:ln/>
        </p:spPr>
        <p:txBody>
          <a:bodyPr wrap="square" rtlCol="0" anchor="ctr"/>
          <a:lstStyle/>
          <a:p>
            <a:pPr algn="ctr" indent="0" marL="0">
              <a:buNone/>
            </a:pPr>
            <a:r>
              <a:rPr lang="en-US" sz="1100" i="1" dirty="0">
                <a:solidFill>
                  <a:srgbClr val="2563A0"/>
                </a:solidFill>
                <a:latin typeface="Calibri" pitchFamily="34" charset="0"/>
                <a:ea typeface="Calibri" pitchFamily="34" charset="-122"/>
                <a:cs typeface="Calibri" pitchFamily="34" charset="-120"/>
              </a:rPr>
              <a:t>Warehouse Design Lead</a:t>
            </a:r>
            <a:endParaRPr lang="en-US" sz="1100" dirty="0"/>
          </a:p>
        </p:txBody>
      </p:sp>
      <p:sp>
        <p:nvSpPr>
          <p:cNvPr id="11" name="Text 9"/>
          <p:cNvSpPr/>
          <p:nvPr/>
        </p:nvSpPr>
        <p:spPr>
          <a:xfrm>
            <a:off x="502920" y="1719072"/>
            <a:ext cx="3794760" cy="30175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Star schema DDL — all table definitions</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Python ETL script using pandas melt() + chunked loading</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PostgreSQL warehouse (port 5433, schema m5_warehouse)</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ml_features_daily — window function feature table</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XGBoost ML model training &amp; predictions</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GitHub repository management (Chynaadams1/m5-weatherapp)</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4 OLAP SQL queries committed to sql/queries/</a:t>
            </a:r>
            <a:endParaRPr lang="en-US" sz="1100" dirty="0"/>
          </a:p>
        </p:txBody>
      </p:sp>
      <p:sp>
        <p:nvSpPr>
          <p:cNvPr id="12" name="Shape 10"/>
          <p:cNvSpPr/>
          <p:nvPr/>
        </p:nvSpPr>
        <p:spPr>
          <a:xfrm>
            <a:off x="4663440" y="841248"/>
            <a:ext cx="4160520" cy="4069080"/>
          </a:xfrm>
          <a:prstGeom prst="rect">
            <a:avLst/>
          </a:prstGeom>
          <a:solidFill>
            <a:srgbClr val="FDE8ED"/>
          </a:solidFill>
          <a:ln w="25400">
            <a:solidFill>
              <a:srgbClr val="E8456A"/>
            </a:solidFill>
            <a:prstDash val="solid"/>
          </a:ln>
          <a:effectLst>
            <a:outerShdw sx="100000" sy="100000" kx="0" ky="0" algn="bl" rotWithShape="0" blurRad="76200" dist="25400" dir="8100000">
              <a:srgbClr val="000000">
                <a:alpha val="10000"/>
              </a:srgbClr>
            </a:outerShdw>
          </a:effectLst>
        </p:spPr>
      </p:sp>
      <p:sp>
        <p:nvSpPr>
          <p:cNvPr id="13" name="Shape 11"/>
          <p:cNvSpPr/>
          <p:nvPr/>
        </p:nvSpPr>
        <p:spPr>
          <a:xfrm>
            <a:off x="4663440" y="841248"/>
            <a:ext cx="4160520" cy="475488"/>
          </a:xfrm>
          <a:prstGeom prst="rect">
            <a:avLst/>
          </a:prstGeom>
          <a:solidFill>
            <a:srgbClr val="E8456A"/>
          </a:solidFill>
          <a:ln w="12700">
            <a:solidFill>
              <a:srgbClr val="E8456A"/>
            </a:solidFill>
            <a:prstDash val="solid"/>
          </a:ln>
        </p:spPr>
      </p:sp>
      <p:sp>
        <p:nvSpPr>
          <p:cNvPr id="14" name="Text 12"/>
          <p:cNvSpPr/>
          <p:nvPr/>
        </p:nvSpPr>
        <p:spPr>
          <a:xfrm>
            <a:off x="4663440" y="841248"/>
            <a:ext cx="416052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YANET ASSEFA</a:t>
            </a:r>
            <a:endParaRPr lang="en-US" sz="1400" dirty="0"/>
          </a:p>
        </p:txBody>
      </p:sp>
      <p:sp>
        <p:nvSpPr>
          <p:cNvPr id="15" name="Text 13"/>
          <p:cNvSpPr/>
          <p:nvPr/>
        </p:nvSpPr>
        <p:spPr>
          <a:xfrm>
            <a:off x="4663440" y="1362456"/>
            <a:ext cx="4160520" cy="320040"/>
          </a:xfrm>
          <a:prstGeom prst="rect">
            <a:avLst/>
          </a:prstGeom>
          <a:noFill/>
          <a:ln/>
        </p:spPr>
        <p:txBody>
          <a:bodyPr wrap="square" rtlCol="0" anchor="ctr"/>
          <a:lstStyle/>
          <a:p>
            <a:pPr algn="ctr" indent="0" marL="0">
              <a:buNone/>
            </a:pPr>
            <a:r>
              <a:rPr lang="en-US" sz="1100" i="1" dirty="0">
                <a:solidFill>
                  <a:srgbClr val="E8456A"/>
                </a:solidFill>
                <a:latin typeface="Calibri" pitchFamily="34" charset="0"/>
                <a:ea typeface="Calibri" pitchFamily="34" charset="-122"/>
                <a:cs typeface="Calibri" pitchFamily="34" charset="-120"/>
              </a:rPr>
              <a:t>Data Acquisition &amp; Profiling Lead</a:t>
            </a:r>
            <a:endParaRPr lang="en-US" sz="1100" dirty="0"/>
          </a:p>
        </p:txBody>
      </p:sp>
      <p:sp>
        <p:nvSpPr>
          <p:cNvPr id="16" name="Text 14"/>
          <p:cNvSpPr/>
          <p:nvPr/>
        </p:nvSpPr>
        <p:spPr>
          <a:xfrm>
            <a:off x="4846320" y="1719072"/>
            <a:ext cx="3794760" cy="30175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Source data profiling — M5 CSV structure analysis</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Null / missing value validation across all tables</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Referential integrity checks (item_id, store_id, date)</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QA log documentation — all validation steps recorded</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Seasonal naive baseline model evaluation</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Breakdown analysis by store, category, demand level</a:t>
            </a:r>
            <a:endParaRPr lang="en-US" sz="1100" dirty="0"/>
          </a:p>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Presentation narrative and study guide co-author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4</a:t>
            </a:r>
            <a:endParaRPr lang="en-US" sz="1300" dirty="0"/>
          </a:p>
        </p:txBody>
      </p:sp>
      <p:sp>
        <p:nvSpPr>
          <p:cNvPr id="5" name="Shape 3"/>
          <p:cNvSpPr/>
          <p:nvPr/>
        </p:nvSpPr>
        <p:spPr>
          <a:xfrm>
            <a:off x="320040" y="201168"/>
            <a:ext cx="64008" cy="475488"/>
          </a:xfrm>
          <a:prstGeom prst="rect">
            <a:avLst/>
          </a:prstGeom>
          <a:solidFill>
            <a:srgbClr val="2563A0"/>
          </a:solidFill>
          <a:ln w="12700">
            <a:solidFill>
              <a:srgbClr val="2563A0"/>
            </a:solidFill>
            <a:prstDash val="solid"/>
          </a:ln>
        </p:spPr>
      </p:sp>
      <p:sp>
        <p:nvSpPr>
          <p:cNvPr id="6" name="Text 4"/>
          <p:cNvSpPr/>
          <p:nvPr/>
        </p:nvSpPr>
        <p:spPr>
          <a:xfrm>
            <a:off x="457200" y="182880"/>
            <a:ext cx="8412480" cy="530352"/>
          </a:xfrm>
          <a:prstGeom prst="rect">
            <a:avLst/>
          </a:prstGeom>
          <a:noFill/>
          <a:ln/>
        </p:spPr>
        <p:txBody>
          <a:bodyPr wrap="square" lIns="0" tIns="0" rIns="0" bIns="0"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Warehouse Design — Star Schema</a:t>
            </a:r>
            <a:endParaRPr lang="en-US" sz="2600" dirty="0"/>
          </a:p>
        </p:txBody>
      </p:sp>
      <p:sp>
        <p:nvSpPr>
          <p:cNvPr id="7" name="Shape 5"/>
          <p:cNvSpPr/>
          <p:nvPr/>
        </p:nvSpPr>
        <p:spPr>
          <a:xfrm>
            <a:off x="6583680" y="164592"/>
            <a:ext cx="2514600" cy="365760"/>
          </a:xfrm>
          <a:prstGeom prst="roundRect">
            <a:avLst>
              <a:gd name="adj" fmla="val 15000"/>
            </a:avLst>
          </a:prstGeom>
          <a:solidFill>
            <a:srgbClr val="2563A0"/>
          </a:solidFill>
          <a:ln w="12700">
            <a:solidFill>
              <a:srgbClr val="2563A0"/>
            </a:solidFill>
            <a:prstDash val="solid"/>
          </a:ln>
        </p:spPr>
      </p:sp>
      <p:sp>
        <p:nvSpPr>
          <p:cNvPr id="8" name="Text 6"/>
          <p:cNvSpPr/>
          <p:nvPr/>
        </p:nvSpPr>
        <p:spPr>
          <a:xfrm>
            <a:off x="6583680" y="164592"/>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Warehouse Lead  ·  Chyna</a:t>
            </a:r>
            <a:endParaRPr lang="en-US" sz="1050" dirty="0"/>
          </a:p>
        </p:txBody>
      </p:sp>
      <p:sp>
        <p:nvSpPr>
          <p:cNvPr id="9" name="Shape 7"/>
          <p:cNvSpPr/>
          <p:nvPr/>
        </p:nvSpPr>
        <p:spPr>
          <a:xfrm>
            <a:off x="3246120" y="1691640"/>
            <a:ext cx="2743200" cy="1143000"/>
          </a:xfrm>
          <a:prstGeom prst="rect">
            <a:avLst/>
          </a:prstGeom>
          <a:solidFill>
            <a:srgbClr val="1B6B7B"/>
          </a:solidFill>
          <a:ln w="25400">
            <a:solidFill>
              <a:srgbClr val="145460"/>
            </a:solidFill>
            <a:prstDash val="solid"/>
          </a:ln>
          <a:effectLst>
            <a:outerShdw sx="100000" sy="100000" kx="0" ky="0" algn="bl" rotWithShape="0" blurRad="76200" dist="38100" dir="8100000">
              <a:srgbClr val="000000">
                <a:alpha val="15000"/>
              </a:srgbClr>
            </a:outerShdw>
          </a:effectLst>
        </p:spPr>
      </p:sp>
      <p:sp>
        <p:nvSpPr>
          <p:cNvPr id="10" name="Text 8"/>
          <p:cNvSpPr/>
          <p:nvPr/>
        </p:nvSpPr>
        <p:spPr>
          <a:xfrm>
            <a:off x="3246120" y="1691640"/>
            <a:ext cx="274320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fact_sales_daily</a:t>
            </a:r>
            <a:endParaRPr lang="en-US" sz="1300" dirty="0"/>
          </a:p>
        </p:txBody>
      </p:sp>
      <p:sp>
        <p:nvSpPr>
          <p:cNvPr id="11" name="Text 9"/>
          <p:cNvSpPr/>
          <p:nvPr/>
        </p:nvSpPr>
        <p:spPr>
          <a:xfrm>
            <a:off x="3246120" y="2130552"/>
            <a:ext cx="2743200" cy="704088"/>
          </a:xfrm>
          <a:prstGeom prst="rect">
            <a:avLst/>
          </a:prstGeom>
          <a:noFill/>
          <a:ln/>
        </p:spPr>
        <p:txBody>
          <a:bodyPr wrap="square" lIns="0" tIns="0" rIns="0" bIns="0" rtlCol="0" anchor="t"/>
          <a:lstStyle/>
          <a:p>
            <a:pPr algn="ctr" indent="0" marL="0">
              <a:buNone/>
            </a:pPr>
            <a:r>
              <a:rPr lang="en-US" sz="1000" dirty="0">
                <a:solidFill>
                  <a:srgbClr val="CCF0F5"/>
                </a:solidFill>
                <a:latin typeface="Calibri" pitchFamily="34" charset="0"/>
                <a:ea typeface="Calibri" pitchFamily="34" charset="-122"/>
                <a:cs typeface="Calibri" pitchFamily="34" charset="-120"/>
              </a:rPr>
              <a:t>58.3M rows</a:t>
            </a:r>
            <a:endParaRPr lang="en-US" sz="1000" dirty="0"/>
          </a:p>
          <a:p>
            <a:pPr algn="ctr" indent="0" marL="0">
              <a:buNone/>
            </a:pPr>
            <a:r>
              <a:rPr lang="en-US" sz="1000" dirty="0">
                <a:solidFill>
                  <a:srgbClr val="CCF0F5"/>
                </a:solidFill>
                <a:latin typeface="Calibri" pitchFamily="34" charset="0"/>
                <a:ea typeface="Calibri" pitchFamily="34" charset="-122"/>
                <a:cs typeface="Calibri" pitchFamily="34" charset="-120"/>
              </a:rPr>
              <a:t>item_id · store_id · date_id</a:t>
            </a:r>
            <a:endParaRPr lang="en-US" sz="1000" dirty="0"/>
          </a:p>
          <a:p>
            <a:pPr algn="ctr" indent="0" marL="0">
              <a:buNone/>
            </a:pPr>
            <a:r>
              <a:rPr lang="en-US" sz="1000" dirty="0">
                <a:solidFill>
                  <a:srgbClr val="CCF0F5"/>
                </a:solidFill>
                <a:latin typeface="Calibri" pitchFamily="34" charset="0"/>
                <a:ea typeface="Calibri" pitchFamily="34" charset="-122"/>
                <a:cs typeface="Calibri" pitchFamily="34" charset="-120"/>
              </a:rPr>
              <a:t>units_sold</a:t>
            </a:r>
            <a:endParaRPr lang="en-US" sz="1000" dirty="0"/>
          </a:p>
        </p:txBody>
      </p:sp>
      <p:sp>
        <p:nvSpPr>
          <p:cNvPr id="12" name="Shape 10"/>
          <p:cNvSpPr/>
          <p:nvPr/>
        </p:nvSpPr>
        <p:spPr>
          <a:xfrm>
            <a:off x="3246120" y="3017520"/>
            <a:ext cx="2743200" cy="960120"/>
          </a:xfrm>
          <a:prstGeom prst="rect">
            <a:avLst/>
          </a:prstGeom>
          <a:solidFill>
            <a:srgbClr val="2563A0"/>
          </a:solidFill>
          <a:ln w="25400">
            <a:solidFill>
              <a:srgbClr val="1E4F8C"/>
            </a:solidFill>
            <a:prstDash val="solid"/>
          </a:ln>
          <a:effectLst>
            <a:outerShdw sx="100000" sy="100000" kx="0" ky="0" algn="bl" rotWithShape="0" blurRad="76200" dist="38100" dir="8100000">
              <a:srgbClr val="000000">
                <a:alpha val="15000"/>
              </a:srgbClr>
            </a:outerShdw>
          </a:effectLst>
        </p:spPr>
      </p:sp>
      <p:sp>
        <p:nvSpPr>
          <p:cNvPr id="13" name="Text 11"/>
          <p:cNvSpPr/>
          <p:nvPr/>
        </p:nvSpPr>
        <p:spPr>
          <a:xfrm>
            <a:off x="3246120" y="3017520"/>
            <a:ext cx="27432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fact_price_weekly</a:t>
            </a:r>
            <a:endParaRPr lang="en-US" sz="1200" dirty="0"/>
          </a:p>
        </p:txBody>
      </p:sp>
      <p:sp>
        <p:nvSpPr>
          <p:cNvPr id="14" name="Text 12"/>
          <p:cNvSpPr/>
          <p:nvPr/>
        </p:nvSpPr>
        <p:spPr>
          <a:xfrm>
            <a:off x="3246120" y="3401568"/>
            <a:ext cx="2743200" cy="530352"/>
          </a:xfrm>
          <a:prstGeom prst="rect">
            <a:avLst/>
          </a:prstGeom>
          <a:noFill/>
          <a:ln/>
        </p:spPr>
        <p:txBody>
          <a:bodyPr wrap="square" lIns="0" tIns="0" rIns="0" bIns="0" rtlCol="0" anchor="t"/>
          <a:lstStyle/>
          <a:p>
            <a:pPr algn="ctr" indent="0" marL="0">
              <a:buNone/>
            </a:pPr>
            <a:r>
              <a:rPr lang="en-US" sz="1000" dirty="0">
                <a:solidFill>
                  <a:srgbClr val="C8E0FF"/>
                </a:solidFill>
                <a:latin typeface="Calibri" pitchFamily="34" charset="0"/>
                <a:ea typeface="Calibri" pitchFamily="34" charset="-122"/>
                <a:cs typeface="Calibri" pitchFamily="34" charset="-120"/>
              </a:rPr>
              <a:t>6.8M rows  ·  sell_price</a:t>
            </a:r>
            <a:endParaRPr lang="en-US" sz="1000" dirty="0"/>
          </a:p>
          <a:p>
            <a:pPr algn="ctr" indent="0" marL="0">
              <a:buNone/>
            </a:pPr>
            <a:r>
              <a:rPr lang="en-US" sz="1000" dirty="0">
                <a:solidFill>
                  <a:srgbClr val="C8E0FF"/>
                </a:solidFill>
                <a:latin typeface="Calibri" pitchFamily="34" charset="0"/>
                <a:ea typeface="Calibri" pitchFamily="34" charset="-122"/>
                <a:cs typeface="Calibri" pitchFamily="34" charset="-120"/>
              </a:rPr>
              <a:t>item_id · store_id · wm_yr_wk</a:t>
            </a:r>
            <a:endParaRPr lang="en-US" sz="1000" dirty="0"/>
          </a:p>
        </p:txBody>
      </p:sp>
      <p:sp>
        <p:nvSpPr>
          <p:cNvPr id="15" name="Shape 13"/>
          <p:cNvSpPr/>
          <p:nvPr/>
        </p:nvSpPr>
        <p:spPr>
          <a:xfrm>
            <a:off x="347472" y="1481328"/>
            <a:ext cx="2468880" cy="1097280"/>
          </a:xfrm>
          <a:prstGeom prst="rect">
            <a:avLst/>
          </a:prstGeom>
          <a:solidFill>
            <a:srgbClr val="FAF7F0"/>
          </a:solidFill>
          <a:ln w="19050">
            <a:solidFill>
              <a:srgbClr val="A07B1E"/>
            </a:solidFill>
            <a:prstDash val="solid"/>
          </a:ln>
          <a:effectLst>
            <a:outerShdw sx="100000" sy="100000" kx="0" ky="0" algn="bl" rotWithShape="0" blurRad="50800" dist="25400" dir="8100000">
              <a:srgbClr val="000000">
                <a:alpha val="8000"/>
              </a:srgbClr>
            </a:outerShdw>
          </a:effectLst>
        </p:spPr>
      </p:sp>
      <p:sp>
        <p:nvSpPr>
          <p:cNvPr id="16" name="Shape 14"/>
          <p:cNvSpPr/>
          <p:nvPr/>
        </p:nvSpPr>
        <p:spPr>
          <a:xfrm>
            <a:off x="347472" y="1481328"/>
            <a:ext cx="2468880" cy="347472"/>
          </a:xfrm>
          <a:prstGeom prst="rect">
            <a:avLst/>
          </a:prstGeom>
          <a:solidFill>
            <a:srgbClr val="A07B1E"/>
          </a:solidFill>
          <a:ln w="12700">
            <a:solidFill>
              <a:srgbClr val="A07B1E"/>
            </a:solidFill>
            <a:prstDash val="solid"/>
          </a:ln>
        </p:spPr>
      </p:sp>
      <p:sp>
        <p:nvSpPr>
          <p:cNvPr id="17" name="Text 15"/>
          <p:cNvSpPr/>
          <p:nvPr/>
        </p:nvSpPr>
        <p:spPr>
          <a:xfrm>
            <a:off x="347472" y="1481328"/>
            <a:ext cx="2468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dim_item</a:t>
            </a:r>
            <a:endParaRPr lang="en-US" sz="1200" dirty="0"/>
          </a:p>
        </p:txBody>
      </p:sp>
      <p:sp>
        <p:nvSpPr>
          <p:cNvPr id="18" name="Text 16"/>
          <p:cNvSpPr/>
          <p:nvPr/>
        </p:nvSpPr>
        <p:spPr>
          <a:xfrm>
            <a:off x="347472" y="1847088"/>
            <a:ext cx="2468880" cy="713232"/>
          </a:xfrm>
          <a:prstGeom prst="rect">
            <a:avLst/>
          </a:prstGeom>
          <a:noFill/>
          <a:ln/>
        </p:spPr>
        <p:txBody>
          <a:bodyPr wrap="square" lIns="0" tIns="0" rIns="0" bIns="0" rtlCol="0" anchor="ctr"/>
          <a:lstStyle/>
          <a:p>
            <a:pPr algn="ctr" indent="0" marL="0">
              <a:buNone/>
            </a:pPr>
            <a:r>
              <a:rPr lang="en-US" sz="950" dirty="0">
                <a:solidFill>
                  <a:srgbClr val="1A1A2E"/>
                </a:solidFill>
                <a:latin typeface="Calibri" pitchFamily="34" charset="0"/>
                <a:ea typeface="Calibri" pitchFamily="34" charset="-122"/>
                <a:cs typeface="Calibri" pitchFamily="34" charset="-120"/>
              </a:rPr>
              <a:t>item_id</a:t>
            </a:r>
            <a:endParaRPr lang="en-US" sz="950" dirty="0"/>
          </a:p>
          <a:p>
            <a:pPr algn="ctr" indent="0" marL="0">
              <a:buNone/>
            </a:pPr>
            <a:r>
              <a:rPr lang="en-US" sz="950" dirty="0">
                <a:solidFill>
                  <a:srgbClr val="1A1A2E"/>
                </a:solidFill>
                <a:latin typeface="Calibri" pitchFamily="34" charset="0"/>
                <a:ea typeface="Calibri" pitchFamily="34" charset="-122"/>
                <a:cs typeface="Calibri" pitchFamily="34" charset="-120"/>
              </a:rPr>
              <a:t>category · dept</a:t>
            </a:r>
            <a:endParaRPr lang="en-US" sz="950" dirty="0"/>
          </a:p>
          <a:p>
            <a:pPr algn="ctr" indent="0" marL="0">
              <a:buNone/>
            </a:pPr>
            <a:r>
              <a:rPr lang="en-US" sz="950" dirty="0">
                <a:solidFill>
                  <a:srgbClr val="1A1A2E"/>
                </a:solidFill>
                <a:latin typeface="Calibri" pitchFamily="34" charset="0"/>
                <a:ea typeface="Calibri" pitchFamily="34" charset="-122"/>
                <a:cs typeface="Calibri" pitchFamily="34" charset="-120"/>
              </a:rPr>
              <a:t>~3,049 items</a:t>
            </a:r>
            <a:endParaRPr lang="en-US" sz="950" dirty="0"/>
          </a:p>
        </p:txBody>
      </p:sp>
      <p:sp>
        <p:nvSpPr>
          <p:cNvPr id="19" name="Shape 17"/>
          <p:cNvSpPr/>
          <p:nvPr/>
        </p:nvSpPr>
        <p:spPr>
          <a:xfrm>
            <a:off x="347472" y="3154680"/>
            <a:ext cx="2468880" cy="1097280"/>
          </a:xfrm>
          <a:prstGeom prst="rect">
            <a:avLst/>
          </a:prstGeom>
          <a:solidFill>
            <a:srgbClr val="FAF7F0"/>
          </a:solidFill>
          <a:ln w="19050">
            <a:solidFill>
              <a:srgbClr val="A07B1E"/>
            </a:solidFill>
            <a:prstDash val="solid"/>
          </a:ln>
          <a:effectLst>
            <a:outerShdw sx="100000" sy="100000" kx="0" ky="0" algn="bl" rotWithShape="0" blurRad="50800" dist="25400" dir="8100000">
              <a:srgbClr val="000000">
                <a:alpha val="8000"/>
              </a:srgbClr>
            </a:outerShdw>
          </a:effectLst>
        </p:spPr>
      </p:sp>
      <p:sp>
        <p:nvSpPr>
          <p:cNvPr id="20" name="Shape 18"/>
          <p:cNvSpPr/>
          <p:nvPr/>
        </p:nvSpPr>
        <p:spPr>
          <a:xfrm>
            <a:off x="347472" y="3154680"/>
            <a:ext cx="2468880" cy="347472"/>
          </a:xfrm>
          <a:prstGeom prst="rect">
            <a:avLst/>
          </a:prstGeom>
          <a:solidFill>
            <a:srgbClr val="A07B1E"/>
          </a:solidFill>
          <a:ln w="12700">
            <a:solidFill>
              <a:srgbClr val="A07B1E"/>
            </a:solidFill>
            <a:prstDash val="solid"/>
          </a:ln>
        </p:spPr>
      </p:sp>
      <p:sp>
        <p:nvSpPr>
          <p:cNvPr id="21" name="Text 19"/>
          <p:cNvSpPr/>
          <p:nvPr/>
        </p:nvSpPr>
        <p:spPr>
          <a:xfrm>
            <a:off x="347472" y="3154680"/>
            <a:ext cx="2468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dim_store</a:t>
            </a:r>
            <a:endParaRPr lang="en-US" sz="1200" dirty="0"/>
          </a:p>
        </p:txBody>
      </p:sp>
      <p:sp>
        <p:nvSpPr>
          <p:cNvPr id="22" name="Text 20"/>
          <p:cNvSpPr/>
          <p:nvPr/>
        </p:nvSpPr>
        <p:spPr>
          <a:xfrm>
            <a:off x="347472" y="3520440"/>
            <a:ext cx="2468880" cy="713232"/>
          </a:xfrm>
          <a:prstGeom prst="rect">
            <a:avLst/>
          </a:prstGeom>
          <a:noFill/>
          <a:ln/>
        </p:spPr>
        <p:txBody>
          <a:bodyPr wrap="square" lIns="0" tIns="0" rIns="0" bIns="0" rtlCol="0" anchor="ctr"/>
          <a:lstStyle/>
          <a:p>
            <a:pPr algn="ctr" indent="0" marL="0">
              <a:buNone/>
            </a:pPr>
            <a:r>
              <a:rPr lang="en-US" sz="950" dirty="0">
                <a:solidFill>
                  <a:srgbClr val="1A1A2E"/>
                </a:solidFill>
                <a:latin typeface="Calibri" pitchFamily="34" charset="0"/>
                <a:ea typeface="Calibri" pitchFamily="34" charset="-122"/>
                <a:cs typeface="Calibri" pitchFamily="34" charset="-120"/>
              </a:rPr>
              <a:t>store_id</a:t>
            </a:r>
            <a:endParaRPr lang="en-US" sz="950" dirty="0"/>
          </a:p>
          <a:p>
            <a:pPr algn="ctr" indent="0" marL="0">
              <a:buNone/>
            </a:pPr>
            <a:r>
              <a:rPr lang="en-US" sz="950" dirty="0">
                <a:solidFill>
                  <a:srgbClr val="1A1A2E"/>
                </a:solidFill>
                <a:latin typeface="Calibri" pitchFamily="34" charset="0"/>
                <a:ea typeface="Calibri" pitchFamily="34" charset="-122"/>
                <a:cs typeface="Calibri" pitchFamily="34" charset="-120"/>
              </a:rPr>
              <a:t>state_id · store_name</a:t>
            </a:r>
            <a:endParaRPr lang="en-US" sz="950" dirty="0"/>
          </a:p>
          <a:p>
            <a:pPr algn="ctr" indent="0" marL="0">
              <a:buNone/>
            </a:pPr>
            <a:r>
              <a:rPr lang="en-US" sz="950" dirty="0">
                <a:solidFill>
                  <a:srgbClr val="1A1A2E"/>
                </a:solidFill>
                <a:latin typeface="Calibri" pitchFamily="34" charset="0"/>
                <a:ea typeface="Calibri" pitchFamily="34" charset="-122"/>
                <a:cs typeface="Calibri" pitchFamily="34" charset="-120"/>
              </a:rPr>
              <a:t>10 stores · 3 states</a:t>
            </a:r>
            <a:endParaRPr lang="en-US" sz="950" dirty="0"/>
          </a:p>
        </p:txBody>
      </p:sp>
      <p:sp>
        <p:nvSpPr>
          <p:cNvPr id="23" name="Shape 21"/>
          <p:cNvSpPr/>
          <p:nvPr/>
        </p:nvSpPr>
        <p:spPr>
          <a:xfrm>
            <a:off x="6217920" y="1481328"/>
            <a:ext cx="2468880" cy="1097280"/>
          </a:xfrm>
          <a:prstGeom prst="rect">
            <a:avLst/>
          </a:prstGeom>
          <a:solidFill>
            <a:srgbClr val="FAF7F0"/>
          </a:solidFill>
          <a:ln w="19050">
            <a:solidFill>
              <a:srgbClr val="A07B1E"/>
            </a:solidFill>
            <a:prstDash val="solid"/>
          </a:ln>
          <a:effectLst>
            <a:outerShdw sx="100000" sy="100000" kx="0" ky="0" algn="bl" rotWithShape="0" blurRad="50800" dist="25400" dir="8100000">
              <a:srgbClr val="000000">
                <a:alpha val="8000"/>
              </a:srgbClr>
            </a:outerShdw>
          </a:effectLst>
        </p:spPr>
      </p:sp>
      <p:sp>
        <p:nvSpPr>
          <p:cNvPr id="24" name="Shape 22"/>
          <p:cNvSpPr/>
          <p:nvPr/>
        </p:nvSpPr>
        <p:spPr>
          <a:xfrm>
            <a:off x="6217920" y="1481328"/>
            <a:ext cx="2468880" cy="347472"/>
          </a:xfrm>
          <a:prstGeom prst="rect">
            <a:avLst/>
          </a:prstGeom>
          <a:solidFill>
            <a:srgbClr val="A07B1E"/>
          </a:solidFill>
          <a:ln w="12700">
            <a:solidFill>
              <a:srgbClr val="A07B1E"/>
            </a:solidFill>
            <a:prstDash val="solid"/>
          </a:ln>
        </p:spPr>
      </p:sp>
      <p:sp>
        <p:nvSpPr>
          <p:cNvPr id="25" name="Text 23"/>
          <p:cNvSpPr/>
          <p:nvPr/>
        </p:nvSpPr>
        <p:spPr>
          <a:xfrm>
            <a:off x="6217920" y="1481328"/>
            <a:ext cx="2468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dim_calendar</a:t>
            </a:r>
            <a:endParaRPr lang="en-US" sz="1200" dirty="0"/>
          </a:p>
        </p:txBody>
      </p:sp>
      <p:sp>
        <p:nvSpPr>
          <p:cNvPr id="26" name="Text 24"/>
          <p:cNvSpPr/>
          <p:nvPr/>
        </p:nvSpPr>
        <p:spPr>
          <a:xfrm>
            <a:off x="6217920" y="1847088"/>
            <a:ext cx="2468880" cy="713232"/>
          </a:xfrm>
          <a:prstGeom prst="rect">
            <a:avLst/>
          </a:prstGeom>
          <a:noFill/>
          <a:ln/>
        </p:spPr>
        <p:txBody>
          <a:bodyPr wrap="square" lIns="0" tIns="0" rIns="0" bIns="0" rtlCol="0" anchor="ctr"/>
          <a:lstStyle/>
          <a:p>
            <a:pPr algn="ctr" indent="0" marL="0">
              <a:buNone/>
            </a:pPr>
            <a:r>
              <a:rPr lang="en-US" sz="950" dirty="0">
                <a:solidFill>
                  <a:srgbClr val="1A1A2E"/>
                </a:solidFill>
                <a:latin typeface="Calibri" pitchFamily="34" charset="0"/>
                <a:ea typeface="Calibri" pitchFamily="34" charset="-122"/>
                <a:cs typeface="Calibri" pitchFamily="34" charset="-120"/>
              </a:rPr>
              <a:t>date_id · d</a:t>
            </a:r>
            <a:endParaRPr lang="en-US" sz="950" dirty="0"/>
          </a:p>
          <a:p>
            <a:pPr algn="ctr" indent="0" marL="0">
              <a:buNone/>
            </a:pPr>
            <a:r>
              <a:rPr lang="en-US" sz="950" dirty="0">
                <a:solidFill>
                  <a:srgbClr val="1A1A2E"/>
                </a:solidFill>
                <a:latin typeface="Calibri" pitchFamily="34" charset="0"/>
                <a:ea typeface="Calibri" pitchFamily="34" charset="-122"/>
                <a:cs typeface="Calibri" pitchFamily="34" charset="-120"/>
              </a:rPr>
              <a:t>wday · month · year</a:t>
            </a:r>
            <a:endParaRPr lang="en-US" sz="950" dirty="0"/>
          </a:p>
          <a:p>
            <a:pPr algn="ctr" indent="0" marL="0">
              <a:buNone/>
            </a:pPr>
            <a:r>
              <a:rPr lang="en-US" sz="950" dirty="0">
                <a:solidFill>
                  <a:srgbClr val="1A1A2E"/>
                </a:solidFill>
                <a:latin typeface="Calibri" pitchFamily="34" charset="0"/>
                <a:ea typeface="Calibri" pitchFamily="34" charset="-122"/>
                <a:cs typeface="Calibri" pitchFamily="34" charset="-120"/>
              </a:rPr>
              <a:t>event_name · snap_*</a:t>
            </a:r>
            <a:endParaRPr lang="en-US" sz="950" dirty="0"/>
          </a:p>
        </p:txBody>
      </p:sp>
      <p:sp>
        <p:nvSpPr>
          <p:cNvPr id="27" name="Shape 25"/>
          <p:cNvSpPr/>
          <p:nvPr/>
        </p:nvSpPr>
        <p:spPr>
          <a:xfrm>
            <a:off x="6217920" y="3154680"/>
            <a:ext cx="2468880" cy="1097280"/>
          </a:xfrm>
          <a:prstGeom prst="rect">
            <a:avLst/>
          </a:prstGeom>
          <a:solidFill>
            <a:srgbClr val="FAF7F0"/>
          </a:solidFill>
          <a:ln w="19050">
            <a:solidFill>
              <a:srgbClr val="A07B1E"/>
            </a:solidFill>
            <a:prstDash val="solid"/>
          </a:ln>
          <a:effectLst>
            <a:outerShdw sx="100000" sy="100000" kx="0" ky="0" algn="bl" rotWithShape="0" blurRad="50800" dist="25400" dir="8100000">
              <a:srgbClr val="000000">
                <a:alpha val="8000"/>
              </a:srgbClr>
            </a:outerShdw>
          </a:effectLst>
        </p:spPr>
      </p:sp>
      <p:sp>
        <p:nvSpPr>
          <p:cNvPr id="28" name="Shape 26"/>
          <p:cNvSpPr/>
          <p:nvPr/>
        </p:nvSpPr>
        <p:spPr>
          <a:xfrm>
            <a:off x="6217920" y="3154680"/>
            <a:ext cx="2468880" cy="347472"/>
          </a:xfrm>
          <a:prstGeom prst="rect">
            <a:avLst/>
          </a:prstGeom>
          <a:solidFill>
            <a:srgbClr val="A07B1E"/>
          </a:solidFill>
          <a:ln w="12700">
            <a:solidFill>
              <a:srgbClr val="A07B1E"/>
            </a:solidFill>
            <a:prstDash val="solid"/>
          </a:ln>
        </p:spPr>
      </p:sp>
      <p:sp>
        <p:nvSpPr>
          <p:cNvPr id="29" name="Text 27"/>
          <p:cNvSpPr/>
          <p:nvPr/>
        </p:nvSpPr>
        <p:spPr>
          <a:xfrm>
            <a:off x="6217920" y="3154680"/>
            <a:ext cx="24688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dim_prices_ref</a:t>
            </a:r>
            <a:endParaRPr lang="en-US" sz="1200" dirty="0"/>
          </a:p>
        </p:txBody>
      </p:sp>
      <p:sp>
        <p:nvSpPr>
          <p:cNvPr id="30" name="Text 28"/>
          <p:cNvSpPr/>
          <p:nvPr/>
        </p:nvSpPr>
        <p:spPr>
          <a:xfrm>
            <a:off x="6217920" y="3520440"/>
            <a:ext cx="2468880" cy="713232"/>
          </a:xfrm>
          <a:prstGeom prst="rect">
            <a:avLst/>
          </a:prstGeom>
          <a:noFill/>
          <a:ln/>
        </p:spPr>
        <p:txBody>
          <a:bodyPr wrap="square" lIns="0" tIns="0" rIns="0" bIns="0" rtlCol="0" anchor="ctr"/>
          <a:lstStyle/>
          <a:p>
            <a:pPr algn="ctr" indent="0" marL="0">
              <a:buNone/>
            </a:pPr>
            <a:r>
              <a:rPr lang="en-US" sz="950" dirty="0">
                <a:solidFill>
                  <a:srgbClr val="1A1A2E"/>
                </a:solidFill>
                <a:latin typeface="Calibri" pitchFamily="34" charset="0"/>
                <a:ea typeface="Calibri" pitchFamily="34" charset="-122"/>
                <a:cs typeface="Calibri" pitchFamily="34" charset="-120"/>
              </a:rPr>
              <a:t>wm_yr_wk</a:t>
            </a:r>
            <a:endParaRPr lang="en-US" sz="950" dirty="0"/>
          </a:p>
          <a:p>
            <a:pPr algn="ctr" indent="0" marL="0">
              <a:buNone/>
            </a:pPr>
            <a:r>
              <a:rPr lang="en-US" sz="950" dirty="0">
                <a:solidFill>
                  <a:srgbClr val="1A1A2E"/>
                </a:solidFill>
                <a:latin typeface="Calibri" pitchFamily="34" charset="0"/>
                <a:ea typeface="Calibri" pitchFamily="34" charset="-122"/>
                <a:cs typeface="Calibri" pitchFamily="34" charset="-120"/>
              </a:rPr>
              <a:t>year · week</a:t>
            </a:r>
            <a:endParaRPr lang="en-US" sz="950" dirty="0"/>
          </a:p>
          <a:p>
            <a:pPr algn="ctr" indent="0" marL="0">
              <a:buNone/>
            </a:pPr>
            <a:r>
              <a:rPr lang="en-US" sz="950" dirty="0">
                <a:solidFill>
                  <a:srgbClr val="1A1A2E"/>
                </a:solidFill>
                <a:latin typeface="Calibri" pitchFamily="34" charset="0"/>
                <a:ea typeface="Calibri" pitchFamily="34" charset="-122"/>
                <a:cs typeface="Calibri" pitchFamily="34" charset="-120"/>
              </a:rPr>
              <a:t>price reference</a:t>
            </a:r>
            <a:endParaRPr lang="en-US" sz="950" dirty="0"/>
          </a:p>
        </p:txBody>
      </p:sp>
      <p:sp>
        <p:nvSpPr>
          <p:cNvPr id="31" name="Shape 29"/>
          <p:cNvSpPr/>
          <p:nvPr/>
        </p:nvSpPr>
        <p:spPr>
          <a:xfrm>
            <a:off x="2816352" y="2029968"/>
            <a:ext cx="429768" cy="0"/>
          </a:xfrm>
          <a:prstGeom prst="line">
            <a:avLst/>
          </a:prstGeom>
          <a:noFill/>
          <a:ln w="19050">
            <a:solidFill>
              <a:srgbClr val="A07B1E"/>
            </a:solidFill>
            <a:prstDash val="dash"/>
          </a:ln>
        </p:spPr>
      </p:sp>
      <p:sp>
        <p:nvSpPr>
          <p:cNvPr id="32" name="Shape 30"/>
          <p:cNvSpPr/>
          <p:nvPr/>
        </p:nvSpPr>
        <p:spPr>
          <a:xfrm>
            <a:off x="2816352" y="3657600"/>
            <a:ext cx="429768" cy="0"/>
          </a:xfrm>
          <a:prstGeom prst="line">
            <a:avLst/>
          </a:prstGeom>
          <a:noFill/>
          <a:ln w="19050">
            <a:solidFill>
              <a:srgbClr val="A07B1E"/>
            </a:solidFill>
            <a:prstDash val="dash"/>
          </a:ln>
        </p:spPr>
      </p:sp>
      <p:sp>
        <p:nvSpPr>
          <p:cNvPr id="33" name="Shape 31"/>
          <p:cNvSpPr/>
          <p:nvPr/>
        </p:nvSpPr>
        <p:spPr>
          <a:xfrm>
            <a:off x="5989320" y="2029968"/>
            <a:ext cx="228600" cy="0"/>
          </a:xfrm>
          <a:prstGeom prst="line">
            <a:avLst/>
          </a:prstGeom>
          <a:noFill/>
          <a:ln w="19050">
            <a:solidFill>
              <a:srgbClr val="A07B1E"/>
            </a:solidFill>
            <a:prstDash val="dash"/>
          </a:ln>
        </p:spPr>
      </p:sp>
      <p:sp>
        <p:nvSpPr>
          <p:cNvPr id="34" name="Shape 32"/>
          <p:cNvSpPr/>
          <p:nvPr/>
        </p:nvSpPr>
        <p:spPr>
          <a:xfrm>
            <a:off x="5989320" y="3657600"/>
            <a:ext cx="228600" cy="0"/>
          </a:xfrm>
          <a:prstGeom prst="line">
            <a:avLst/>
          </a:prstGeom>
          <a:noFill/>
          <a:ln w="19050">
            <a:solidFill>
              <a:srgbClr val="A07B1E"/>
            </a:solidFill>
            <a:prstDash val="dash"/>
          </a:ln>
        </p:spPr>
      </p:sp>
      <p:sp>
        <p:nvSpPr>
          <p:cNvPr id="35" name="Shape 33"/>
          <p:cNvSpPr/>
          <p:nvPr/>
        </p:nvSpPr>
        <p:spPr>
          <a:xfrm>
            <a:off x="320040" y="4206240"/>
            <a:ext cx="2011680" cy="685800"/>
          </a:xfrm>
          <a:prstGeom prst="rect">
            <a:avLst/>
          </a:prstGeom>
          <a:solidFill>
            <a:srgbClr val="EBF5F7"/>
          </a:solidFill>
          <a:ln w="12700">
            <a:solidFill>
              <a:srgbClr val="1B6B7B"/>
            </a:solidFill>
            <a:prstDash val="solid"/>
          </a:ln>
        </p:spPr>
      </p:sp>
      <p:sp>
        <p:nvSpPr>
          <p:cNvPr id="36" name="Text 34"/>
          <p:cNvSpPr/>
          <p:nvPr/>
        </p:nvSpPr>
        <p:spPr>
          <a:xfrm>
            <a:off x="320040" y="4206240"/>
            <a:ext cx="2011680" cy="384048"/>
          </a:xfrm>
          <a:prstGeom prst="rect">
            <a:avLst/>
          </a:prstGeom>
          <a:noFill/>
          <a:ln/>
        </p:spPr>
        <p:txBody>
          <a:bodyPr wrap="square" lIns="0" tIns="0" rIns="0" bIns="0" rtlCol="0" anchor="b"/>
          <a:lstStyle/>
          <a:p>
            <a:pPr algn="ctr" indent="0" marL="0">
              <a:buNone/>
            </a:pPr>
            <a:r>
              <a:rPr lang="en-US" sz="2200" b="1" dirty="0">
                <a:solidFill>
                  <a:srgbClr val="1B6B7B"/>
                </a:solidFill>
                <a:latin typeface="Calibri" pitchFamily="34" charset="0"/>
                <a:ea typeface="Calibri" pitchFamily="34" charset="-122"/>
                <a:cs typeface="Calibri" pitchFamily="34" charset="-120"/>
              </a:rPr>
              <a:t>2</a:t>
            </a:r>
            <a:endParaRPr lang="en-US" sz="2200" dirty="0"/>
          </a:p>
        </p:txBody>
      </p:sp>
      <p:sp>
        <p:nvSpPr>
          <p:cNvPr id="37" name="Text 35"/>
          <p:cNvSpPr/>
          <p:nvPr/>
        </p:nvSpPr>
        <p:spPr>
          <a:xfrm>
            <a:off x="320040" y="4590288"/>
            <a:ext cx="2011680" cy="25603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Fact Tables</a:t>
            </a:r>
            <a:endParaRPr lang="en-US" sz="950" dirty="0"/>
          </a:p>
        </p:txBody>
      </p:sp>
      <p:sp>
        <p:nvSpPr>
          <p:cNvPr id="38" name="Shape 36"/>
          <p:cNvSpPr/>
          <p:nvPr/>
        </p:nvSpPr>
        <p:spPr>
          <a:xfrm>
            <a:off x="2468880" y="4206240"/>
            <a:ext cx="2011680" cy="685800"/>
          </a:xfrm>
          <a:prstGeom prst="rect">
            <a:avLst/>
          </a:prstGeom>
          <a:solidFill>
            <a:srgbClr val="EBF5F7"/>
          </a:solidFill>
          <a:ln w="12700">
            <a:solidFill>
              <a:srgbClr val="1B6B7B"/>
            </a:solidFill>
            <a:prstDash val="solid"/>
          </a:ln>
        </p:spPr>
      </p:sp>
      <p:sp>
        <p:nvSpPr>
          <p:cNvPr id="39" name="Text 37"/>
          <p:cNvSpPr/>
          <p:nvPr/>
        </p:nvSpPr>
        <p:spPr>
          <a:xfrm>
            <a:off x="2468880" y="4206240"/>
            <a:ext cx="2011680" cy="384048"/>
          </a:xfrm>
          <a:prstGeom prst="rect">
            <a:avLst/>
          </a:prstGeom>
          <a:noFill/>
          <a:ln/>
        </p:spPr>
        <p:txBody>
          <a:bodyPr wrap="square" lIns="0" tIns="0" rIns="0" bIns="0" rtlCol="0" anchor="b"/>
          <a:lstStyle/>
          <a:p>
            <a:pPr algn="ctr" indent="0" marL="0">
              <a:buNone/>
            </a:pPr>
            <a:r>
              <a:rPr lang="en-US" sz="2200" b="1" dirty="0">
                <a:solidFill>
                  <a:srgbClr val="1B6B7B"/>
                </a:solidFill>
                <a:latin typeface="Calibri" pitchFamily="34" charset="0"/>
                <a:ea typeface="Calibri" pitchFamily="34" charset="-122"/>
                <a:cs typeface="Calibri" pitchFamily="34" charset="-120"/>
              </a:rPr>
              <a:t>4</a:t>
            </a:r>
            <a:endParaRPr lang="en-US" sz="2200" dirty="0"/>
          </a:p>
        </p:txBody>
      </p:sp>
      <p:sp>
        <p:nvSpPr>
          <p:cNvPr id="40" name="Text 38"/>
          <p:cNvSpPr/>
          <p:nvPr/>
        </p:nvSpPr>
        <p:spPr>
          <a:xfrm>
            <a:off x="2468880" y="4590288"/>
            <a:ext cx="2011680" cy="25603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Dimension Tables</a:t>
            </a:r>
            <a:endParaRPr lang="en-US" sz="950" dirty="0"/>
          </a:p>
        </p:txBody>
      </p:sp>
      <p:sp>
        <p:nvSpPr>
          <p:cNvPr id="41" name="Shape 39"/>
          <p:cNvSpPr/>
          <p:nvPr/>
        </p:nvSpPr>
        <p:spPr>
          <a:xfrm>
            <a:off x="4617720" y="4206240"/>
            <a:ext cx="2011680" cy="685800"/>
          </a:xfrm>
          <a:prstGeom prst="rect">
            <a:avLst/>
          </a:prstGeom>
          <a:solidFill>
            <a:srgbClr val="EBF5F7"/>
          </a:solidFill>
          <a:ln w="12700">
            <a:solidFill>
              <a:srgbClr val="1B6B7B"/>
            </a:solidFill>
            <a:prstDash val="solid"/>
          </a:ln>
        </p:spPr>
      </p:sp>
      <p:sp>
        <p:nvSpPr>
          <p:cNvPr id="42" name="Text 40"/>
          <p:cNvSpPr/>
          <p:nvPr/>
        </p:nvSpPr>
        <p:spPr>
          <a:xfrm>
            <a:off x="4617720" y="4206240"/>
            <a:ext cx="2011680" cy="384048"/>
          </a:xfrm>
          <a:prstGeom prst="rect">
            <a:avLst/>
          </a:prstGeom>
          <a:noFill/>
          <a:ln/>
        </p:spPr>
        <p:txBody>
          <a:bodyPr wrap="square" lIns="0" tIns="0" rIns="0" bIns="0" rtlCol="0" anchor="b"/>
          <a:lstStyle/>
          <a:p>
            <a:pPr algn="ctr" indent="0" marL="0">
              <a:buNone/>
            </a:pPr>
            <a:r>
              <a:rPr lang="en-US" sz="2200" b="1" dirty="0">
                <a:solidFill>
                  <a:srgbClr val="1B6B7B"/>
                </a:solidFill>
                <a:latin typeface="Calibri" pitchFamily="34" charset="0"/>
                <a:ea typeface="Calibri" pitchFamily="34" charset="-122"/>
                <a:cs typeface="Calibri" pitchFamily="34" charset="-120"/>
              </a:rPr>
              <a:t>65.1M</a:t>
            </a:r>
            <a:endParaRPr lang="en-US" sz="2200" dirty="0"/>
          </a:p>
        </p:txBody>
      </p:sp>
      <p:sp>
        <p:nvSpPr>
          <p:cNvPr id="43" name="Text 41"/>
          <p:cNvSpPr/>
          <p:nvPr/>
        </p:nvSpPr>
        <p:spPr>
          <a:xfrm>
            <a:off x="4617720" y="4590288"/>
            <a:ext cx="2011680" cy="25603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Total Records</a:t>
            </a:r>
            <a:endParaRPr lang="en-US" sz="950" dirty="0"/>
          </a:p>
        </p:txBody>
      </p:sp>
      <p:sp>
        <p:nvSpPr>
          <p:cNvPr id="44" name="Shape 42"/>
          <p:cNvSpPr/>
          <p:nvPr/>
        </p:nvSpPr>
        <p:spPr>
          <a:xfrm>
            <a:off x="6766560" y="4206240"/>
            <a:ext cx="2011680" cy="685800"/>
          </a:xfrm>
          <a:prstGeom prst="rect">
            <a:avLst/>
          </a:prstGeom>
          <a:solidFill>
            <a:srgbClr val="EBF5F7"/>
          </a:solidFill>
          <a:ln w="12700">
            <a:solidFill>
              <a:srgbClr val="1B6B7B"/>
            </a:solidFill>
            <a:prstDash val="solid"/>
          </a:ln>
        </p:spPr>
      </p:sp>
      <p:sp>
        <p:nvSpPr>
          <p:cNvPr id="45" name="Text 43"/>
          <p:cNvSpPr/>
          <p:nvPr/>
        </p:nvSpPr>
        <p:spPr>
          <a:xfrm>
            <a:off x="6766560" y="4206240"/>
            <a:ext cx="2011680" cy="384048"/>
          </a:xfrm>
          <a:prstGeom prst="rect">
            <a:avLst/>
          </a:prstGeom>
          <a:noFill/>
          <a:ln/>
        </p:spPr>
        <p:txBody>
          <a:bodyPr wrap="square" lIns="0" tIns="0" rIns="0" bIns="0" rtlCol="0" anchor="b"/>
          <a:lstStyle/>
          <a:p>
            <a:pPr algn="ctr" indent="0" marL="0">
              <a:buNone/>
            </a:pPr>
            <a:r>
              <a:rPr lang="en-US" sz="2200" b="1" dirty="0">
                <a:solidFill>
                  <a:srgbClr val="1B6B7B"/>
                </a:solidFill>
                <a:latin typeface="Calibri" pitchFamily="34" charset="0"/>
                <a:ea typeface="Calibri" pitchFamily="34" charset="-122"/>
                <a:cs typeface="Calibri" pitchFamily="34" charset="-120"/>
              </a:rPr>
              <a:t>6</a:t>
            </a:r>
            <a:endParaRPr lang="en-US" sz="2200" dirty="0"/>
          </a:p>
        </p:txBody>
      </p:sp>
      <p:sp>
        <p:nvSpPr>
          <p:cNvPr id="46" name="Text 44"/>
          <p:cNvSpPr/>
          <p:nvPr/>
        </p:nvSpPr>
        <p:spPr>
          <a:xfrm>
            <a:off x="6766560" y="4590288"/>
            <a:ext cx="2011680" cy="256032"/>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Grain Keys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5</a:t>
            </a:r>
            <a:endParaRPr lang="en-US" sz="1300" dirty="0"/>
          </a:p>
        </p:txBody>
      </p:sp>
      <p:sp>
        <p:nvSpPr>
          <p:cNvPr id="5" name="Shape 3"/>
          <p:cNvSpPr/>
          <p:nvPr/>
        </p:nvSpPr>
        <p:spPr>
          <a:xfrm>
            <a:off x="320040" y="201168"/>
            <a:ext cx="64008" cy="475488"/>
          </a:xfrm>
          <a:prstGeom prst="rect">
            <a:avLst/>
          </a:prstGeom>
          <a:solidFill>
            <a:srgbClr val="2563A0"/>
          </a:solidFill>
          <a:ln w="12700">
            <a:solidFill>
              <a:srgbClr val="2563A0"/>
            </a:solidFill>
            <a:prstDash val="solid"/>
          </a:ln>
        </p:spPr>
      </p:sp>
      <p:sp>
        <p:nvSpPr>
          <p:cNvPr id="6" name="Text 4"/>
          <p:cNvSpPr/>
          <p:nvPr/>
        </p:nvSpPr>
        <p:spPr>
          <a:xfrm>
            <a:off x="457200" y="182880"/>
            <a:ext cx="8412480" cy="530352"/>
          </a:xfrm>
          <a:prstGeom prst="rect">
            <a:avLst/>
          </a:prstGeom>
          <a:noFill/>
          <a:ln/>
        </p:spPr>
        <p:txBody>
          <a:bodyPr wrap="square" lIns="0" tIns="0" rIns="0" bIns="0"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ETL Pipeline</a:t>
            </a:r>
            <a:endParaRPr lang="en-US" sz="2600" dirty="0"/>
          </a:p>
        </p:txBody>
      </p:sp>
      <p:sp>
        <p:nvSpPr>
          <p:cNvPr id="7" name="Shape 5"/>
          <p:cNvSpPr/>
          <p:nvPr/>
        </p:nvSpPr>
        <p:spPr>
          <a:xfrm>
            <a:off x="6583680" y="164592"/>
            <a:ext cx="2514600" cy="365760"/>
          </a:xfrm>
          <a:prstGeom prst="roundRect">
            <a:avLst>
              <a:gd name="adj" fmla="val 15000"/>
            </a:avLst>
          </a:prstGeom>
          <a:solidFill>
            <a:srgbClr val="2563A0"/>
          </a:solidFill>
          <a:ln w="12700">
            <a:solidFill>
              <a:srgbClr val="2563A0"/>
            </a:solidFill>
            <a:prstDash val="solid"/>
          </a:ln>
        </p:spPr>
      </p:sp>
      <p:sp>
        <p:nvSpPr>
          <p:cNvPr id="8" name="Text 6"/>
          <p:cNvSpPr/>
          <p:nvPr/>
        </p:nvSpPr>
        <p:spPr>
          <a:xfrm>
            <a:off x="6583680" y="164592"/>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Warehouse Lead  ·  Chyna</a:t>
            </a:r>
            <a:endParaRPr lang="en-US" sz="1050" dirty="0"/>
          </a:p>
        </p:txBody>
      </p:sp>
      <p:sp>
        <p:nvSpPr>
          <p:cNvPr id="9" name="Shape 7"/>
          <p:cNvSpPr/>
          <p:nvPr/>
        </p:nvSpPr>
        <p:spPr>
          <a:xfrm>
            <a:off x="320040" y="914400"/>
            <a:ext cx="1600200" cy="1417320"/>
          </a:xfrm>
          <a:prstGeom prst="rect">
            <a:avLst/>
          </a:prstGeom>
          <a:solidFill>
            <a:srgbClr val="1B6B7B"/>
          </a:solidFill>
          <a:ln w="12700">
            <a:solidFill>
              <a:srgbClr val="1B6B7B"/>
            </a:solidFill>
            <a:prstDash val="solid"/>
          </a:ln>
          <a:effectLst>
            <a:outerShdw sx="100000" sy="100000" kx="0" ky="0" algn="bl" rotWithShape="0" blurRad="63500" dist="25400" dir="8100000">
              <a:srgbClr val="000000">
                <a:alpha val="12000"/>
              </a:srgbClr>
            </a:outerShdw>
          </a:effectLst>
        </p:spPr>
      </p:sp>
      <p:sp>
        <p:nvSpPr>
          <p:cNvPr id="10" name="Text 8"/>
          <p:cNvSpPr/>
          <p:nvPr/>
        </p:nvSpPr>
        <p:spPr>
          <a:xfrm>
            <a:off x="320040" y="914400"/>
            <a:ext cx="1600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Extract</a:t>
            </a:r>
            <a:endParaRPr lang="en-US" sz="1400" dirty="0"/>
          </a:p>
        </p:txBody>
      </p:sp>
      <p:sp>
        <p:nvSpPr>
          <p:cNvPr id="11" name="Shape 9"/>
          <p:cNvSpPr/>
          <p:nvPr/>
        </p:nvSpPr>
        <p:spPr>
          <a:xfrm>
            <a:off x="320040" y="1298448"/>
            <a:ext cx="1600200" cy="27432"/>
          </a:xfrm>
          <a:prstGeom prst="rect">
            <a:avLst/>
          </a:prstGeom>
          <a:solidFill>
            <a:srgbClr val="FFFFFF"/>
          </a:solidFill>
          <a:ln w="12700">
            <a:solidFill>
              <a:srgbClr val="FFFFFF"/>
            </a:solidFill>
            <a:prstDash val="solid"/>
          </a:ln>
        </p:spPr>
      </p:sp>
      <p:sp>
        <p:nvSpPr>
          <p:cNvPr id="12" name="Text 10"/>
          <p:cNvSpPr/>
          <p:nvPr/>
        </p:nvSpPr>
        <p:spPr>
          <a:xfrm>
            <a:off x="320040" y="1335024"/>
            <a:ext cx="1600200" cy="987552"/>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5 M5 CSV files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~3,050 items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10 stores</a:t>
            </a:r>
            <a:endParaRPr lang="en-US" sz="950" dirty="0"/>
          </a:p>
        </p:txBody>
      </p:sp>
      <p:sp>
        <p:nvSpPr>
          <p:cNvPr id="13" name="Shape 11"/>
          <p:cNvSpPr/>
          <p:nvPr/>
        </p:nvSpPr>
        <p:spPr>
          <a:xfrm>
            <a:off x="1920240" y="2039112"/>
            <a:ext cx="201168" cy="91440"/>
          </a:xfrm>
          <a:prstGeom prst="rect">
            <a:avLst/>
          </a:prstGeom>
          <a:solidFill>
            <a:srgbClr val="A07B1E"/>
          </a:solidFill>
          <a:ln w="12700">
            <a:solidFill>
              <a:srgbClr val="A07B1E"/>
            </a:solidFill>
            <a:prstDash val="solid"/>
          </a:ln>
        </p:spPr>
      </p:sp>
      <p:sp>
        <p:nvSpPr>
          <p:cNvPr id="14" name="Shape 12"/>
          <p:cNvSpPr/>
          <p:nvPr/>
        </p:nvSpPr>
        <p:spPr>
          <a:xfrm>
            <a:off x="2249424" y="914400"/>
            <a:ext cx="1600200" cy="1417320"/>
          </a:xfrm>
          <a:prstGeom prst="rect">
            <a:avLst/>
          </a:prstGeom>
          <a:solidFill>
            <a:srgbClr val="2563A0"/>
          </a:solidFill>
          <a:ln w="12700">
            <a:solidFill>
              <a:srgbClr val="2563A0"/>
            </a:solidFill>
            <a:prstDash val="solid"/>
          </a:ln>
          <a:effectLst>
            <a:outerShdw sx="100000" sy="100000" kx="0" ky="0" algn="bl" rotWithShape="0" blurRad="63500" dist="25400" dir="8100000">
              <a:srgbClr val="000000">
                <a:alpha val="12000"/>
              </a:srgbClr>
            </a:outerShdw>
          </a:effectLst>
        </p:spPr>
      </p:sp>
      <p:sp>
        <p:nvSpPr>
          <p:cNvPr id="15" name="Text 13"/>
          <p:cNvSpPr/>
          <p:nvPr/>
        </p:nvSpPr>
        <p:spPr>
          <a:xfrm>
            <a:off x="2249424" y="914400"/>
            <a:ext cx="1600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Stage</a:t>
            </a:r>
            <a:endParaRPr lang="en-US" sz="1400" dirty="0"/>
          </a:p>
        </p:txBody>
      </p:sp>
      <p:sp>
        <p:nvSpPr>
          <p:cNvPr id="16" name="Shape 14"/>
          <p:cNvSpPr/>
          <p:nvPr/>
        </p:nvSpPr>
        <p:spPr>
          <a:xfrm>
            <a:off x="2249424" y="1298448"/>
            <a:ext cx="1600200" cy="27432"/>
          </a:xfrm>
          <a:prstGeom prst="rect">
            <a:avLst/>
          </a:prstGeom>
          <a:solidFill>
            <a:srgbClr val="FFFFFF"/>
          </a:solidFill>
          <a:ln w="12700">
            <a:solidFill>
              <a:srgbClr val="FFFFFF"/>
            </a:solidFill>
            <a:prstDash val="solid"/>
          </a:ln>
        </p:spPr>
      </p:sp>
      <p:sp>
        <p:nvSpPr>
          <p:cNvPr id="17" name="Text 15"/>
          <p:cNvSpPr/>
          <p:nvPr/>
        </p:nvSpPr>
        <p:spPr>
          <a:xfrm>
            <a:off x="2249424" y="1335024"/>
            <a:ext cx="1600200" cy="987552"/>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Staging tables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raw ingest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no transforms</a:t>
            </a:r>
            <a:endParaRPr lang="en-US" sz="950" dirty="0"/>
          </a:p>
        </p:txBody>
      </p:sp>
      <p:sp>
        <p:nvSpPr>
          <p:cNvPr id="18" name="Shape 16"/>
          <p:cNvSpPr/>
          <p:nvPr/>
        </p:nvSpPr>
        <p:spPr>
          <a:xfrm>
            <a:off x="3849624" y="2039112"/>
            <a:ext cx="201168" cy="91440"/>
          </a:xfrm>
          <a:prstGeom prst="rect">
            <a:avLst/>
          </a:prstGeom>
          <a:solidFill>
            <a:srgbClr val="A07B1E"/>
          </a:solidFill>
          <a:ln w="12700">
            <a:solidFill>
              <a:srgbClr val="A07B1E"/>
            </a:solidFill>
            <a:prstDash val="solid"/>
          </a:ln>
        </p:spPr>
      </p:sp>
      <p:sp>
        <p:nvSpPr>
          <p:cNvPr id="19" name="Shape 17"/>
          <p:cNvSpPr/>
          <p:nvPr/>
        </p:nvSpPr>
        <p:spPr>
          <a:xfrm>
            <a:off x="4178808" y="914400"/>
            <a:ext cx="1600200" cy="1417320"/>
          </a:xfrm>
          <a:prstGeom prst="rect">
            <a:avLst/>
          </a:prstGeom>
          <a:solidFill>
            <a:srgbClr val="E07B39"/>
          </a:solidFill>
          <a:ln w="12700">
            <a:solidFill>
              <a:srgbClr val="E07B39"/>
            </a:solidFill>
            <a:prstDash val="solid"/>
          </a:ln>
          <a:effectLst>
            <a:outerShdw sx="100000" sy="100000" kx="0" ky="0" algn="bl" rotWithShape="0" blurRad="63500" dist="25400" dir="8100000">
              <a:srgbClr val="000000">
                <a:alpha val="12000"/>
              </a:srgbClr>
            </a:outerShdw>
          </a:effectLst>
        </p:spPr>
      </p:sp>
      <p:sp>
        <p:nvSpPr>
          <p:cNvPr id="20" name="Text 18"/>
          <p:cNvSpPr/>
          <p:nvPr/>
        </p:nvSpPr>
        <p:spPr>
          <a:xfrm>
            <a:off x="4178808" y="914400"/>
            <a:ext cx="1600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Transform</a:t>
            </a:r>
            <a:endParaRPr lang="en-US" sz="1400" dirty="0"/>
          </a:p>
        </p:txBody>
      </p:sp>
      <p:sp>
        <p:nvSpPr>
          <p:cNvPr id="21" name="Shape 19"/>
          <p:cNvSpPr/>
          <p:nvPr/>
        </p:nvSpPr>
        <p:spPr>
          <a:xfrm>
            <a:off x="4178808" y="1298448"/>
            <a:ext cx="1600200" cy="27432"/>
          </a:xfrm>
          <a:prstGeom prst="rect">
            <a:avLst/>
          </a:prstGeom>
          <a:solidFill>
            <a:srgbClr val="FFFFFF"/>
          </a:solidFill>
          <a:ln w="12700">
            <a:solidFill>
              <a:srgbClr val="FFFFFF"/>
            </a:solidFill>
            <a:prstDash val="solid"/>
          </a:ln>
        </p:spPr>
      </p:sp>
      <p:sp>
        <p:nvSpPr>
          <p:cNvPr id="22" name="Text 20"/>
          <p:cNvSpPr/>
          <p:nvPr/>
        </p:nvSpPr>
        <p:spPr>
          <a:xfrm>
            <a:off x="4178808" y="1335024"/>
            <a:ext cx="1600200" cy="987552"/>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pandas melt()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unpivot d_1–d_1941</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chunked (500 cols)</a:t>
            </a:r>
            <a:endParaRPr lang="en-US" sz="950" dirty="0"/>
          </a:p>
        </p:txBody>
      </p:sp>
      <p:sp>
        <p:nvSpPr>
          <p:cNvPr id="23" name="Shape 21"/>
          <p:cNvSpPr/>
          <p:nvPr/>
        </p:nvSpPr>
        <p:spPr>
          <a:xfrm>
            <a:off x="5779008" y="2039112"/>
            <a:ext cx="201168" cy="91440"/>
          </a:xfrm>
          <a:prstGeom prst="rect">
            <a:avLst/>
          </a:prstGeom>
          <a:solidFill>
            <a:srgbClr val="A07B1E"/>
          </a:solidFill>
          <a:ln w="12700">
            <a:solidFill>
              <a:srgbClr val="A07B1E"/>
            </a:solidFill>
            <a:prstDash val="solid"/>
          </a:ln>
        </p:spPr>
      </p:sp>
      <p:sp>
        <p:nvSpPr>
          <p:cNvPr id="24" name="Shape 22"/>
          <p:cNvSpPr/>
          <p:nvPr/>
        </p:nvSpPr>
        <p:spPr>
          <a:xfrm>
            <a:off x="6108192" y="914400"/>
            <a:ext cx="1600200" cy="1417320"/>
          </a:xfrm>
          <a:prstGeom prst="rect">
            <a:avLst/>
          </a:prstGeom>
          <a:solidFill>
            <a:srgbClr val="E8456A"/>
          </a:solidFill>
          <a:ln w="12700">
            <a:solidFill>
              <a:srgbClr val="E8456A"/>
            </a:solidFill>
            <a:prstDash val="solid"/>
          </a:ln>
          <a:effectLst>
            <a:outerShdw sx="100000" sy="100000" kx="0" ky="0" algn="bl" rotWithShape="0" blurRad="63500" dist="25400" dir="8100000">
              <a:srgbClr val="000000">
                <a:alpha val="12000"/>
              </a:srgbClr>
            </a:outerShdw>
          </a:effectLst>
        </p:spPr>
      </p:sp>
      <p:sp>
        <p:nvSpPr>
          <p:cNvPr id="25" name="Text 23"/>
          <p:cNvSpPr/>
          <p:nvPr/>
        </p:nvSpPr>
        <p:spPr>
          <a:xfrm>
            <a:off x="6108192" y="914400"/>
            <a:ext cx="1600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Load</a:t>
            </a:r>
            <a:endParaRPr lang="en-US" sz="1400" dirty="0"/>
          </a:p>
        </p:txBody>
      </p:sp>
      <p:sp>
        <p:nvSpPr>
          <p:cNvPr id="26" name="Shape 24"/>
          <p:cNvSpPr/>
          <p:nvPr/>
        </p:nvSpPr>
        <p:spPr>
          <a:xfrm>
            <a:off x="6108192" y="1298448"/>
            <a:ext cx="1600200" cy="27432"/>
          </a:xfrm>
          <a:prstGeom prst="rect">
            <a:avLst/>
          </a:prstGeom>
          <a:solidFill>
            <a:srgbClr val="FFFFFF"/>
          </a:solidFill>
          <a:ln w="12700">
            <a:solidFill>
              <a:srgbClr val="FFFFFF"/>
            </a:solidFill>
            <a:prstDash val="solid"/>
          </a:ln>
        </p:spPr>
      </p:sp>
      <p:sp>
        <p:nvSpPr>
          <p:cNvPr id="27" name="Text 25"/>
          <p:cNvSpPr/>
          <p:nvPr/>
        </p:nvSpPr>
        <p:spPr>
          <a:xfrm>
            <a:off x="6108192" y="1335024"/>
            <a:ext cx="1600200" cy="987552"/>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INSERT batches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ON CONFLICT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DO NOTHING</a:t>
            </a:r>
            <a:endParaRPr lang="en-US" sz="950" dirty="0"/>
          </a:p>
        </p:txBody>
      </p:sp>
      <p:sp>
        <p:nvSpPr>
          <p:cNvPr id="28" name="Shape 26"/>
          <p:cNvSpPr/>
          <p:nvPr/>
        </p:nvSpPr>
        <p:spPr>
          <a:xfrm>
            <a:off x="7708392" y="2039112"/>
            <a:ext cx="201168" cy="91440"/>
          </a:xfrm>
          <a:prstGeom prst="rect">
            <a:avLst/>
          </a:prstGeom>
          <a:solidFill>
            <a:srgbClr val="A07B1E"/>
          </a:solidFill>
          <a:ln w="12700">
            <a:solidFill>
              <a:srgbClr val="A07B1E"/>
            </a:solidFill>
            <a:prstDash val="solid"/>
          </a:ln>
        </p:spPr>
      </p:sp>
      <p:sp>
        <p:nvSpPr>
          <p:cNvPr id="29" name="Shape 27"/>
          <p:cNvSpPr/>
          <p:nvPr/>
        </p:nvSpPr>
        <p:spPr>
          <a:xfrm>
            <a:off x="8037576" y="914400"/>
            <a:ext cx="1600200" cy="1417320"/>
          </a:xfrm>
          <a:prstGeom prst="rect">
            <a:avLst/>
          </a:prstGeom>
          <a:solidFill>
            <a:srgbClr val="0D8A5E"/>
          </a:solidFill>
          <a:ln w="12700">
            <a:solidFill>
              <a:srgbClr val="0D8A5E"/>
            </a:solidFill>
            <a:prstDash val="solid"/>
          </a:ln>
          <a:effectLst>
            <a:outerShdw sx="100000" sy="100000" kx="0" ky="0" algn="bl" rotWithShape="0" blurRad="63500" dist="25400" dir="8100000">
              <a:srgbClr val="000000">
                <a:alpha val="12000"/>
              </a:srgbClr>
            </a:outerShdw>
          </a:effectLst>
        </p:spPr>
      </p:sp>
      <p:sp>
        <p:nvSpPr>
          <p:cNvPr id="30" name="Text 28"/>
          <p:cNvSpPr/>
          <p:nvPr/>
        </p:nvSpPr>
        <p:spPr>
          <a:xfrm>
            <a:off x="8037576" y="914400"/>
            <a:ext cx="160020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Validate</a:t>
            </a:r>
            <a:endParaRPr lang="en-US" sz="1400" dirty="0"/>
          </a:p>
        </p:txBody>
      </p:sp>
      <p:sp>
        <p:nvSpPr>
          <p:cNvPr id="31" name="Shape 29"/>
          <p:cNvSpPr/>
          <p:nvPr/>
        </p:nvSpPr>
        <p:spPr>
          <a:xfrm>
            <a:off x="8037576" y="1298448"/>
            <a:ext cx="1600200" cy="27432"/>
          </a:xfrm>
          <a:prstGeom prst="rect">
            <a:avLst/>
          </a:prstGeom>
          <a:solidFill>
            <a:srgbClr val="FFFFFF"/>
          </a:solidFill>
          <a:ln w="12700">
            <a:solidFill>
              <a:srgbClr val="FFFFFF"/>
            </a:solidFill>
            <a:prstDash val="solid"/>
          </a:ln>
        </p:spPr>
      </p:sp>
      <p:sp>
        <p:nvSpPr>
          <p:cNvPr id="32" name="Text 30"/>
          <p:cNvSpPr/>
          <p:nvPr/>
        </p:nvSpPr>
        <p:spPr>
          <a:xfrm>
            <a:off x="8037576" y="1335024"/>
            <a:ext cx="1600200" cy="987552"/>
          </a:xfrm>
          <a:prstGeom prst="rect">
            <a:avLst/>
          </a:prstGeom>
          <a:noFill/>
          <a:ln/>
        </p:spPr>
        <p:txBody>
          <a:bodyPr wrap="square" lIns="0" tIns="0" rIns="0" bIns="0" rtlCol="0" anchor="t"/>
          <a:lstStyle/>
          <a:p>
            <a:pPr algn="ctr" indent="0" marL="0">
              <a:buNone/>
            </a:pPr>
            <a:r>
              <a:rPr lang="en-US" sz="950" dirty="0">
                <a:solidFill>
                  <a:srgbClr val="FFFFFF"/>
                </a:solidFill>
                <a:latin typeface="Calibri" pitchFamily="34" charset="0"/>
                <a:ea typeface="Calibri" pitchFamily="34" charset="-122"/>
                <a:cs typeface="Calibri" pitchFamily="34" charset="-120"/>
              </a:rPr>
              <a:t>COUNT(*)</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null checks</a:t>
            </a:r>
            <a:endParaRPr lang="en-US" sz="950" dirty="0"/>
          </a:p>
          <a:p>
            <a:pPr algn="ctr" indent="0" marL="0">
              <a:buNone/>
            </a:pPr>
            <a:r>
              <a:rPr lang="en-US" sz="950" dirty="0">
                <a:solidFill>
                  <a:srgbClr val="FFFFFF"/>
                </a:solidFill>
                <a:latin typeface="Calibri" pitchFamily="34" charset="0"/>
                <a:ea typeface="Calibri" pitchFamily="34" charset="-122"/>
                <a:cs typeface="Calibri" pitchFamily="34" charset="-120"/>
              </a:rPr>
              <a:t>referential keys</a:t>
            </a:r>
            <a:endParaRPr lang="en-US" sz="950" dirty="0"/>
          </a:p>
        </p:txBody>
      </p:sp>
      <p:sp>
        <p:nvSpPr>
          <p:cNvPr id="33" name="Shape 31"/>
          <p:cNvSpPr/>
          <p:nvPr/>
        </p:nvSpPr>
        <p:spPr>
          <a:xfrm>
            <a:off x="320040" y="2542032"/>
            <a:ext cx="2011680" cy="239572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34" name="Shape 32"/>
          <p:cNvSpPr/>
          <p:nvPr/>
        </p:nvSpPr>
        <p:spPr>
          <a:xfrm>
            <a:off x="320040" y="2542032"/>
            <a:ext cx="54864" cy="2395728"/>
          </a:xfrm>
          <a:prstGeom prst="rect">
            <a:avLst/>
          </a:prstGeom>
          <a:solidFill>
            <a:srgbClr val="1B6B7B"/>
          </a:solidFill>
          <a:ln w="12700">
            <a:solidFill>
              <a:srgbClr val="1B6B7B"/>
            </a:solidFill>
            <a:prstDash val="solid"/>
          </a:ln>
        </p:spPr>
      </p:sp>
      <p:sp>
        <p:nvSpPr>
          <p:cNvPr id="35" name="Text 33"/>
          <p:cNvSpPr/>
          <p:nvPr/>
        </p:nvSpPr>
        <p:spPr>
          <a:xfrm>
            <a:off x="448056" y="2615184"/>
            <a:ext cx="1828800" cy="27432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  Source Files</a:t>
            </a:r>
            <a:endParaRPr lang="en-US" sz="1200" dirty="0"/>
          </a:p>
        </p:txBody>
      </p:sp>
      <p:sp>
        <p:nvSpPr>
          <p:cNvPr id="36" name="Text 34"/>
          <p:cNvSpPr/>
          <p:nvPr/>
        </p:nvSpPr>
        <p:spPr>
          <a:xfrm>
            <a:off x="448056" y="2907792"/>
            <a:ext cx="1828800" cy="1938528"/>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sales_train_evaluation.csv</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calendar.csv · sell_prices.csv</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item_id, store_id, dept, cat, state</a:t>
            </a:r>
            <a:endParaRPr lang="en-US" sz="1050" dirty="0"/>
          </a:p>
        </p:txBody>
      </p:sp>
      <p:sp>
        <p:nvSpPr>
          <p:cNvPr id="37" name="Shape 35"/>
          <p:cNvSpPr/>
          <p:nvPr/>
        </p:nvSpPr>
        <p:spPr>
          <a:xfrm>
            <a:off x="2514600" y="2542032"/>
            <a:ext cx="2011680" cy="239572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38" name="Shape 36"/>
          <p:cNvSpPr/>
          <p:nvPr/>
        </p:nvSpPr>
        <p:spPr>
          <a:xfrm>
            <a:off x="2514600" y="2542032"/>
            <a:ext cx="54864" cy="2395728"/>
          </a:xfrm>
          <a:prstGeom prst="rect">
            <a:avLst/>
          </a:prstGeom>
          <a:solidFill>
            <a:srgbClr val="1B6B7B"/>
          </a:solidFill>
          <a:ln w="12700">
            <a:solidFill>
              <a:srgbClr val="1B6B7B"/>
            </a:solidFill>
            <a:prstDash val="solid"/>
          </a:ln>
        </p:spPr>
      </p:sp>
      <p:sp>
        <p:nvSpPr>
          <p:cNvPr id="39" name="Text 37"/>
          <p:cNvSpPr/>
          <p:nvPr/>
        </p:nvSpPr>
        <p:spPr>
          <a:xfrm>
            <a:off x="2642616" y="2615184"/>
            <a:ext cx="1828800" cy="27432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  Python Script</a:t>
            </a:r>
            <a:endParaRPr lang="en-US" sz="1200" dirty="0"/>
          </a:p>
        </p:txBody>
      </p:sp>
      <p:sp>
        <p:nvSpPr>
          <p:cNvPr id="40" name="Text 38"/>
          <p:cNvSpPr/>
          <p:nvPr/>
        </p:nvSpPr>
        <p:spPr>
          <a:xfrm>
            <a:off x="2642616" y="2907792"/>
            <a:ext cx="1828800" cy="1938528"/>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pandas ETL · melt() to unpivot</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1,941 day columns → long format</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Chunked: 500 cols per pass</a:t>
            </a:r>
            <a:endParaRPr lang="en-US" sz="1050" dirty="0"/>
          </a:p>
        </p:txBody>
      </p:sp>
      <p:sp>
        <p:nvSpPr>
          <p:cNvPr id="41" name="Shape 39"/>
          <p:cNvSpPr/>
          <p:nvPr/>
        </p:nvSpPr>
        <p:spPr>
          <a:xfrm>
            <a:off x="4709160" y="2542032"/>
            <a:ext cx="2011680" cy="239572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42" name="Shape 40"/>
          <p:cNvSpPr/>
          <p:nvPr/>
        </p:nvSpPr>
        <p:spPr>
          <a:xfrm>
            <a:off x="4709160" y="2542032"/>
            <a:ext cx="54864" cy="2395728"/>
          </a:xfrm>
          <a:prstGeom prst="rect">
            <a:avLst/>
          </a:prstGeom>
          <a:solidFill>
            <a:srgbClr val="1B6B7B"/>
          </a:solidFill>
          <a:ln w="12700">
            <a:solidFill>
              <a:srgbClr val="1B6B7B"/>
            </a:solidFill>
            <a:prstDash val="solid"/>
          </a:ln>
        </p:spPr>
      </p:sp>
      <p:sp>
        <p:nvSpPr>
          <p:cNvPr id="43" name="Text 41"/>
          <p:cNvSpPr/>
          <p:nvPr/>
        </p:nvSpPr>
        <p:spPr>
          <a:xfrm>
            <a:off x="4837176" y="2615184"/>
            <a:ext cx="1828800" cy="27432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  Load Time</a:t>
            </a:r>
            <a:endParaRPr lang="en-US" sz="1200" dirty="0"/>
          </a:p>
        </p:txBody>
      </p:sp>
      <p:sp>
        <p:nvSpPr>
          <p:cNvPr id="44" name="Text 42"/>
          <p:cNvSpPr/>
          <p:nvPr/>
        </p:nvSpPr>
        <p:spPr>
          <a:xfrm>
            <a:off x="4837176" y="2907792"/>
            <a:ext cx="1828800" cy="1938528"/>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~45 min total load</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fact_sales_daily: 58.3M rows</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fact_price_weekly: 6.8M rows</a:t>
            </a:r>
            <a:endParaRPr lang="en-US" sz="1050" dirty="0"/>
          </a:p>
        </p:txBody>
      </p:sp>
      <p:sp>
        <p:nvSpPr>
          <p:cNvPr id="45" name="Shape 43"/>
          <p:cNvSpPr/>
          <p:nvPr/>
        </p:nvSpPr>
        <p:spPr>
          <a:xfrm>
            <a:off x="6903720" y="2542032"/>
            <a:ext cx="2011680" cy="2395728"/>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46" name="Shape 44"/>
          <p:cNvSpPr/>
          <p:nvPr/>
        </p:nvSpPr>
        <p:spPr>
          <a:xfrm>
            <a:off x="6903720" y="2542032"/>
            <a:ext cx="54864" cy="2395728"/>
          </a:xfrm>
          <a:prstGeom prst="rect">
            <a:avLst/>
          </a:prstGeom>
          <a:solidFill>
            <a:srgbClr val="1B6B7B"/>
          </a:solidFill>
          <a:ln w="12700">
            <a:solidFill>
              <a:srgbClr val="1B6B7B"/>
            </a:solidFill>
            <a:prstDash val="solid"/>
          </a:ln>
        </p:spPr>
      </p:sp>
      <p:sp>
        <p:nvSpPr>
          <p:cNvPr id="47" name="Text 45"/>
          <p:cNvSpPr/>
          <p:nvPr/>
        </p:nvSpPr>
        <p:spPr>
          <a:xfrm>
            <a:off x="7031736" y="2615184"/>
            <a:ext cx="1828800" cy="274320"/>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  Conflict Handling</a:t>
            </a:r>
            <a:endParaRPr lang="en-US" sz="1200" dirty="0"/>
          </a:p>
        </p:txBody>
      </p:sp>
      <p:sp>
        <p:nvSpPr>
          <p:cNvPr id="48" name="Text 46"/>
          <p:cNvSpPr/>
          <p:nvPr/>
        </p:nvSpPr>
        <p:spPr>
          <a:xfrm>
            <a:off x="7031736" y="2907792"/>
            <a:ext cx="1828800" cy="1938528"/>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ON CONFLICT DO NOTHING</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Idempotent re-runs safe</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No duplicate key errors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6</a:t>
            </a:r>
            <a:endParaRPr lang="en-US" sz="1300" dirty="0"/>
          </a:p>
        </p:txBody>
      </p:sp>
      <p:sp>
        <p:nvSpPr>
          <p:cNvPr id="5" name="Shape 3"/>
          <p:cNvSpPr/>
          <p:nvPr/>
        </p:nvSpPr>
        <p:spPr>
          <a:xfrm>
            <a:off x="320040" y="201168"/>
            <a:ext cx="64008" cy="475488"/>
          </a:xfrm>
          <a:prstGeom prst="rect">
            <a:avLst/>
          </a:prstGeom>
          <a:solidFill>
            <a:srgbClr val="E8456A"/>
          </a:solidFill>
          <a:ln w="12700">
            <a:solidFill>
              <a:srgbClr val="E8456A"/>
            </a:solidFill>
            <a:prstDash val="solid"/>
          </a:ln>
        </p:spPr>
      </p:sp>
      <p:sp>
        <p:nvSpPr>
          <p:cNvPr id="6" name="Text 4"/>
          <p:cNvSpPr/>
          <p:nvPr/>
        </p:nvSpPr>
        <p:spPr>
          <a:xfrm>
            <a:off x="457200" y="182880"/>
            <a:ext cx="8412480" cy="530352"/>
          </a:xfrm>
          <a:prstGeom prst="rect">
            <a:avLst/>
          </a:prstGeom>
          <a:noFill/>
          <a:ln/>
        </p:spPr>
        <p:txBody>
          <a:bodyPr wrap="square" lIns="0" tIns="0" rIns="0" bIns="0"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Data Quality Checks</a:t>
            </a:r>
            <a:endParaRPr lang="en-US" sz="2600" dirty="0"/>
          </a:p>
        </p:txBody>
      </p:sp>
      <p:sp>
        <p:nvSpPr>
          <p:cNvPr id="7" name="Shape 5"/>
          <p:cNvSpPr/>
          <p:nvPr/>
        </p:nvSpPr>
        <p:spPr>
          <a:xfrm>
            <a:off x="6400800" y="164592"/>
            <a:ext cx="2514600" cy="365760"/>
          </a:xfrm>
          <a:prstGeom prst="roundRect">
            <a:avLst>
              <a:gd name="adj" fmla="val 15000"/>
            </a:avLst>
          </a:prstGeom>
          <a:solidFill>
            <a:srgbClr val="E8456A"/>
          </a:solidFill>
          <a:ln w="12700">
            <a:solidFill>
              <a:srgbClr val="E8456A"/>
            </a:solidFill>
            <a:prstDash val="solid"/>
          </a:ln>
        </p:spPr>
      </p:sp>
      <p:sp>
        <p:nvSpPr>
          <p:cNvPr id="8" name="Text 6"/>
          <p:cNvSpPr/>
          <p:nvPr/>
        </p:nvSpPr>
        <p:spPr>
          <a:xfrm>
            <a:off x="6400800" y="164592"/>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Data Profiling Lead  ·  Yanet</a:t>
            </a:r>
            <a:endParaRPr lang="en-US" sz="1050" dirty="0"/>
          </a:p>
        </p:txBody>
      </p:sp>
      <p:sp>
        <p:nvSpPr>
          <p:cNvPr id="9" name="Shape 7"/>
          <p:cNvSpPr/>
          <p:nvPr/>
        </p:nvSpPr>
        <p:spPr>
          <a:xfrm>
            <a:off x="320040" y="841248"/>
            <a:ext cx="2011680" cy="1234440"/>
          </a:xfrm>
          <a:prstGeom prst="rect">
            <a:avLst/>
          </a:prstGeom>
          <a:solidFill>
            <a:srgbClr val="E6F4F1"/>
          </a:solidFill>
          <a:ln w="19050">
            <a:solidFill>
              <a:srgbClr val="0D8A5E"/>
            </a:solidFill>
            <a:prstDash val="solid"/>
          </a:ln>
          <a:effectLst>
            <a:outerShdw sx="100000" sy="100000" kx="0" ky="0" algn="bl" rotWithShape="0" blurRad="50800" dist="25400" dir="8100000">
              <a:srgbClr val="000000">
                <a:alpha val="8000"/>
              </a:srgbClr>
            </a:outerShdw>
          </a:effectLst>
        </p:spPr>
      </p:sp>
      <p:sp>
        <p:nvSpPr>
          <p:cNvPr id="10" name="Text 8"/>
          <p:cNvSpPr/>
          <p:nvPr/>
        </p:nvSpPr>
        <p:spPr>
          <a:xfrm>
            <a:off x="320040" y="841248"/>
            <a:ext cx="20116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320040" y="1252728"/>
            <a:ext cx="2011680" cy="274320"/>
          </a:xfrm>
          <a:prstGeom prst="rect">
            <a:avLst/>
          </a:prstGeom>
          <a:noFill/>
          <a:ln/>
        </p:spPr>
        <p:txBody>
          <a:bodyPr wrap="square" lIns="0" tIns="0" rIns="0" bIns="0"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Zero Nulls</a:t>
            </a:r>
            <a:endParaRPr lang="en-US" sz="1200" dirty="0"/>
          </a:p>
        </p:txBody>
      </p:sp>
      <p:sp>
        <p:nvSpPr>
          <p:cNvPr id="12" name="Text 10"/>
          <p:cNvSpPr/>
          <p:nvPr/>
        </p:nvSpPr>
        <p:spPr>
          <a:xfrm>
            <a:off x="320040" y="1536192"/>
            <a:ext cx="2011680" cy="49377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0 null values found</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across all 6 tables</a:t>
            </a:r>
            <a:endParaRPr lang="en-US" sz="950" dirty="0"/>
          </a:p>
        </p:txBody>
      </p:sp>
      <p:sp>
        <p:nvSpPr>
          <p:cNvPr id="13" name="Shape 11"/>
          <p:cNvSpPr/>
          <p:nvPr/>
        </p:nvSpPr>
        <p:spPr>
          <a:xfrm>
            <a:off x="2496312" y="841248"/>
            <a:ext cx="2011680" cy="1234440"/>
          </a:xfrm>
          <a:prstGeom prst="rect">
            <a:avLst/>
          </a:prstGeom>
          <a:solidFill>
            <a:srgbClr val="E6F4F1"/>
          </a:solidFill>
          <a:ln w="19050">
            <a:solidFill>
              <a:srgbClr val="0D8A5E"/>
            </a:solidFill>
            <a:prstDash val="solid"/>
          </a:ln>
          <a:effectLst>
            <a:outerShdw sx="100000" sy="100000" kx="0" ky="0" algn="bl" rotWithShape="0" blurRad="50800" dist="25400" dir="8100000">
              <a:srgbClr val="000000">
                <a:alpha val="8000"/>
              </a:srgbClr>
            </a:outerShdw>
          </a:effectLst>
        </p:spPr>
      </p:sp>
      <p:sp>
        <p:nvSpPr>
          <p:cNvPr id="14" name="Text 12"/>
          <p:cNvSpPr/>
          <p:nvPr/>
        </p:nvSpPr>
        <p:spPr>
          <a:xfrm>
            <a:off x="2496312" y="841248"/>
            <a:ext cx="20116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2496312" y="1252728"/>
            <a:ext cx="2011680" cy="274320"/>
          </a:xfrm>
          <a:prstGeom prst="rect">
            <a:avLst/>
          </a:prstGeom>
          <a:noFill/>
          <a:ln/>
        </p:spPr>
        <p:txBody>
          <a:bodyPr wrap="square" lIns="0" tIns="0" rIns="0" bIns="0"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Row Counts Match</a:t>
            </a:r>
            <a:endParaRPr lang="en-US" sz="1200" dirty="0"/>
          </a:p>
        </p:txBody>
      </p:sp>
      <p:sp>
        <p:nvSpPr>
          <p:cNvPr id="16" name="Text 14"/>
          <p:cNvSpPr/>
          <p:nvPr/>
        </p:nvSpPr>
        <p:spPr>
          <a:xfrm>
            <a:off x="2496312" y="1536192"/>
            <a:ext cx="2011680" cy="49377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58.3M fact_sales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6.8M fact_price</a:t>
            </a:r>
            <a:endParaRPr lang="en-US" sz="950" dirty="0"/>
          </a:p>
        </p:txBody>
      </p:sp>
      <p:sp>
        <p:nvSpPr>
          <p:cNvPr id="17" name="Shape 15"/>
          <p:cNvSpPr/>
          <p:nvPr/>
        </p:nvSpPr>
        <p:spPr>
          <a:xfrm>
            <a:off x="4672584" y="841248"/>
            <a:ext cx="2011680" cy="1234440"/>
          </a:xfrm>
          <a:prstGeom prst="rect">
            <a:avLst/>
          </a:prstGeom>
          <a:solidFill>
            <a:srgbClr val="E6F4F1"/>
          </a:solidFill>
          <a:ln w="19050">
            <a:solidFill>
              <a:srgbClr val="0D8A5E"/>
            </a:solidFill>
            <a:prstDash val="solid"/>
          </a:ln>
          <a:effectLst>
            <a:outerShdw sx="100000" sy="100000" kx="0" ky="0" algn="bl" rotWithShape="0" blurRad="50800" dist="25400" dir="8100000">
              <a:srgbClr val="000000">
                <a:alpha val="8000"/>
              </a:srgbClr>
            </a:outerShdw>
          </a:effectLst>
        </p:spPr>
      </p:sp>
      <p:sp>
        <p:nvSpPr>
          <p:cNvPr id="18" name="Text 16"/>
          <p:cNvSpPr/>
          <p:nvPr/>
        </p:nvSpPr>
        <p:spPr>
          <a:xfrm>
            <a:off x="4672584" y="841248"/>
            <a:ext cx="20116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4672584" y="1252728"/>
            <a:ext cx="2011680" cy="274320"/>
          </a:xfrm>
          <a:prstGeom prst="rect">
            <a:avLst/>
          </a:prstGeom>
          <a:noFill/>
          <a:ln/>
        </p:spPr>
        <p:txBody>
          <a:bodyPr wrap="square" lIns="0" tIns="0" rIns="0" bIns="0"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No Orphan Keys</a:t>
            </a:r>
            <a:endParaRPr lang="en-US" sz="1200" dirty="0"/>
          </a:p>
        </p:txBody>
      </p:sp>
      <p:sp>
        <p:nvSpPr>
          <p:cNvPr id="20" name="Text 18"/>
          <p:cNvSpPr/>
          <p:nvPr/>
        </p:nvSpPr>
        <p:spPr>
          <a:xfrm>
            <a:off x="4672584" y="1536192"/>
            <a:ext cx="2011680" cy="49377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All item/store/date FKs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resolved successfully</a:t>
            </a:r>
            <a:endParaRPr lang="en-US" sz="950" dirty="0"/>
          </a:p>
        </p:txBody>
      </p:sp>
      <p:sp>
        <p:nvSpPr>
          <p:cNvPr id="21" name="Shape 19"/>
          <p:cNvSpPr/>
          <p:nvPr/>
        </p:nvSpPr>
        <p:spPr>
          <a:xfrm>
            <a:off x="6848856" y="841248"/>
            <a:ext cx="2011680" cy="1234440"/>
          </a:xfrm>
          <a:prstGeom prst="rect">
            <a:avLst/>
          </a:prstGeom>
          <a:solidFill>
            <a:srgbClr val="E6F4F1"/>
          </a:solidFill>
          <a:ln w="19050">
            <a:solidFill>
              <a:srgbClr val="0D8A5E"/>
            </a:solidFill>
            <a:prstDash val="solid"/>
          </a:ln>
          <a:effectLst>
            <a:outerShdw sx="100000" sy="100000" kx="0" ky="0" algn="bl" rotWithShape="0" blurRad="50800" dist="25400" dir="8100000">
              <a:srgbClr val="000000">
                <a:alpha val="8000"/>
              </a:srgbClr>
            </a:outerShdw>
          </a:effectLst>
        </p:spPr>
      </p:sp>
      <p:sp>
        <p:nvSpPr>
          <p:cNvPr id="22" name="Text 20"/>
          <p:cNvSpPr/>
          <p:nvPr/>
        </p:nvSpPr>
        <p:spPr>
          <a:xfrm>
            <a:off x="6848856" y="841248"/>
            <a:ext cx="2011680" cy="41148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6848856" y="1252728"/>
            <a:ext cx="2011680" cy="274320"/>
          </a:xfrm>
          <a:prstGeom prst="rect">
            <a:avLst/>
          </a:prstGeom>
          <a:noFill/>
          <a:ln/>
        </p:spPr>
        <p:txBody>
          <a:bodyPr wrap="square" lIns="0" tIns="0" rIns="0" bIns="0" rtlCol="0" anchor="ctr"/>
          <a:lstStyle/>
          <a:p>
            <a:pPr algn="ctr" indent="0" marL="0">
              <a:buNone/>
            </a:pPr>
            <a:r>
              <a:rPr lang="en-US" sz="1200" b="1" dirty="0">
                <a:solidFill>
                  <a:srgbClr val="1A1A2E"/>
                </a:solidFill>
                <a:latin typeface="Calibri" pitchFamily="34" charset="0"/>
                <a:ea typeface="Calibri" pitchFamily="34" charset="-122"/>
                <a:cs typeface="Calibri" pitchFamily="34" charset="-120"/>
              </a:rPr>
              <a:t>SNAP Flags Valid</a:t>
            </a:r>
            <a:endParaRPr lang="en-US" sz="1200" dirty="0"/>
          </a:p>
        </p:txBody>
      </p:sp>
      <p:sp>
        <p:nvSpPr>
          <p:cNvPr id="24" name="Text 22"/>
          <p:cNvSpPr/>
          <p:nvPr/>
        </p:nvSpPr>
        <p:spPr>
          <a:xfrm>
            <a:off x="6848856" y="1536192"/>
            <a:ext cx="2011680" cy="493776"/>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snap_CA/TX/WI values</a:t>
            </a:r>
            <a:endParaRPr lang="en-US" sz="950" dirty="0"/>
          </a:p>
          <a:p>
            <a:pPr algn="ctr" indent="0" marL="0">
              <a:buNone/>
            </a:pPr>
            <a:r>
              <a:rPr lang="en-US" sz="950" dirty="0">
                <a:solidFill>
                  <a:srgbClr val="64748B"/>
                </a:solidFill>
                <a:latin typeface="Calibri" pitchFamily="34" charset="0"/>
                <a:ea typeface="Calibri" pitchFamily="34" charset="-122"/>
                <a:cs typeface="Calibri" pitchFamily="34" charset="-120"/>
              </a:rPr>
              <a:t>all 0 or 1 — no corruption</a:t>
            </a:r>
            <a:endParaRPr lang="en-US" sz="950" dirty="0"/>
          </a:p>
        </p:txBody>
      </p:sp>
      <p:sp>
        <p:nvSpPr>
          <p:cNvPr id="25" name="Text 23"/>
          <p:cNvSpPr/>
          <p:nvPr/>
        </p:nvSpPr>
        <p:spPr>
          <a:xfrm>
            <a:off x="320040" y="2212848"/>
            <a:ext cx="85039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QA Check Log  —  Key Validation Queries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2542032"/>
          <a:ext cx="8503920" cy="2359152"/>
        </p:xfrm>
        <a:graphic>
          <a:graphicData uri="http://schemas.openxmlformats.org/drawingml/2006/table">
            <a:tbl>
              <a:tblPr/>
              <a:tblGrid>
                <a:gridCol w="2194560"/>
                <a:gridCol w="3840480"/>
                <a:gridCol w="2468880"/>
              </a:tblGrid>
              <a:tr h="3931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Check</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E8456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SQL Used</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E8456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E8456A"/>
                    </a:solidFill>
                  </a:tcPr>
                </a:tc>
              </a:tr>
              <a:tr h="39319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Null check — all columns</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SELECT COUNT(*) WHERE col IS NULL</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 nulls — PASS</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r h="39319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Row count — fact_sales_daily</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SELECT COUNT(*) FROM fact_sales_daily</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58,327,370 — PASS</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r h="39319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Row count — fact_price_weekly</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SELECT COUNT(*) FROM fact_price_weekly</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6,841,121 — PASS</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r h="39319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Orphan item_id check</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LEFT JOIN dim_item WHERE d.item_id IS NULL</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 orphans — PASS</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r h="39319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Date range validation</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MIN/MAX date_id vs d_1 / d_1941</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d_1=2011-01-29 · d_1941=2016-06-19 — PASS</a:t>
                      </a:r>
                      <a:endParaRPr lang="en-US" sz="100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7</a:t>
            </a:r>
            <a:endParaRPr lang="en-US" sz="1300" dirty="0"/>
          </a:p>
        </p:txBody>
      </p:sp>
      <p:sp>
        <p:nvSpPr>
          <p:cNvPr id="5" name="Shape 3"/>
          <p:cNvSpPr/>
          <p:nvPr/>
        </p:nvSpPr>
        <p:spPr>
          <a:xfrm>
            <a:off x="320040" y="201168"/>
            <a:ext cx="64008" cy="475488"/>
          </a:xfrm>
          <a:prstGeom prst="rect">
            <a:avLst/>
          </a:prstGeom>
          <a:solidFill>
            <a:srgbClr val="1B6B7B"/>
          </a:solidFill>
          <a:ln w="12700">
            <a:solidFill>
              <a:srgbClr val="1B6B7B"/>
            </a:solidFill>
            <a:prstDash val="solid"/>
          </a:ln>
        </p:spPr>
      </p:sp>
      <p:sp>
        <p:nvSpPr>
          <p:cNvPr id="6" name="Text 4"/>
          <p:cNvSpPr/>
          <p:nvPr/>
        </p:nvSpPr>
        <p:spPr>
          <a:xfrm>
            <a:off x="457200" y="182880"/>
            <a:ext cx="8412480" cy="530352"/>
          </a:xfrm>
          <a:prstGeom prst="rect">
            <a:avLst/>
          </a:prstGeom>
          <a:noFill/>
          <a:ln/>
        </p:spPr>
        <p:txBody>
          <a:bodyPr wrap="square" lIns="0" tIns="0" rIns="0" bIns="0"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OLAP Analytics — 4 Queries</a:t>
            </a:r>
            <a:endParaRPr lang="en-US" sz="2600" dirty="0"/>
          </a:p>
        </p:txBody>
      </p:sp>
      <p:sp>
        <p:nvSpPr>
          <p:cNvPr id="7" name="Shape 5"/>
          <p:cNvSpPr/>
          <p:nvPr/>
        </p:nvSpPr>
        <p:spPr>
          <a:xfrm>
            <a:off x="6583680" y="164592"/>
            <a:ext cx="2514600" cy="365760"/>
          </a:xfrm>
          <a:prstGeom prst="roundRect">
            <a:avLst>
              <a:gd name="adj" fmla="val 15000"/>
            </a:avLst>
          </a:prstGeom>
          <a:solidFill>
            <a:srgbClr val="2563A0"/>
          </a:solidFill>
          <a:ln w="12700">
            <a:solidFill>
              <a:srgbClr val="2563A0"/>
            </a:solidFill>
            <a:prstDash val="solid"/>
          </a:ln>
        </p:spPr>
      </p:sp>
      <p:sp>
        <p:nvSpPr>
          <p:cNvPr id="8" name="Text 6"/>
          <p:cNvSpPr/>
          <p:nvPr/>
        </p:nvSpPr>
        <p:spPr>
          <a:xfrm>
            <a:off x="6583680" y="164592"/>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Warehouse Lead  ·  Chyna</a:t>
            </a:r>
            <a:endParaRPr lang="en-US" sz="1050" dirty="0"/>
          </a:p>
        </p:txBody>
      </p:sp>
      <p:sp>
        <p:nvSpPr>
          <p:cNvPr id="9" name="Shape 7"/>
          <p:cNvSpPr/>
          <p:nvPr/>
        </p:nvSpPr>
        <p:spPr>
          <a:xfrm>
            <a:off x="320040" y="841248"/>
            <a:ext cx="4023360" cy="201168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10" name="Shape 8"/>
          <p:cNvSpPr/>
          <p:nvPr/>
        </p:nvSpPr>
        <p:spPr>
          <a:xfrm>
            <a:off x="320040" y="841248"/>
            <a:ext cx="475488" cy="2011680"/>
          </a:xfrm>
          <a:prstGeom prst="rect">
            <a:avLst/>
          </a:prstGeom>
          <a:solidFill>
            <a:srgbClr val="1B6B7B"/>
          </a:solidFill>
          <a:ln w="12700">
            <a:solidFill>
              <a:srgbClr val="1B6B7B"/>
            </a:solidFill>
            <a:prstDash val="solid"/>
          </a:ln>
        </p:spPr>
      </p:sp>
      <p:sp>
        <p:nvSpPr>
          <p:cNvPr id="11" name="Text 9"/>
          <p:cNvSpPr/>
          <p:nvPr/>
        </p:nvSpPr>
        <p:spPr>
          <a:xfrm>
            <a:off x="320040" y="841248"/>
            <a:ext cx="475488"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Q1</a:t>
            </a:r>
            <a:endParaRPr lang="en-US" sz="1600" dirty="0"/>
          </a:p>
        </p:txBody>
      </p:sp>
      <p:sp>
        <p:nvSpPr>
          <p:cNvPr id="12" name="Text 10"/>
          <p:cNvSpPr/>
          <p:nvPr/>
        </p:nvSpPr>
        <p:spPr>
          <a:xfrm rot="16200000">
            <a:off x="320040" y="1389888"/>
            <a:ext cx="475488" cy="1463040"/>
          </a:xfrm>
          <a:prstGeom prst="rect">
            <a:avLst/>
          </a:prstGeom>
          <a:noFill/>
          <a:ln/>
        </p:spPr>
        <p:txBody>
          <a:bodyPr wrap="square" lIns="0" tIns="0" rIns="0" bIns="0" rtlCol="0" anchor="ctr"/>
          <a:lstStyle/>
          <a:p>
            <a:pPr algn="ctr" indent="0" marL="0">
              <a:buNone/>
            </a:pPr>
            <a:r>
              <a:rPr lang="en-US" sz="700" dirty="0">
                <a:solidFill>
                  <a:srgbClr val="FFFFFF"/>
                </a:solidFill>
                <a:latin typeface="Consolas" pitchFamily="34" charset="0"/>
                <a:ea typeface="Consolas" pitchFamily="34" charset="-122"/>
                <a:cs typeface="Consolas" pitchFamily="34" charset="-120"/>
              </a:rPr>
              <a:t>01_monthly_sales_by_category.sql</a:t>
            </a:r>
            <a:endParaRPr lang="en-US" sz="700" dirty="0"/>
          </a:p>
        </p:txBody>
      </p:sp>
      <p:sp>
        <p:nvSpPr>
          <p:cNvPr id="13" name="Text 11"/>
          <p:cNvSpPr/>
          <p:nvPr/>
        </p:nvSpPr>
        <p:spPr>
          <a:xfrm>
            <a:off x="868680" y="932688"/>
            <a:ext cx="333756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Monthly Sales by Category</a:t>
            </a:r>
            <a:endParaRPr lang="en-US" sz="1300" dirty="0"/>
          </a:p>
        </p:txBody>
      </p:sp>
      <p:sp>
        <p:nvSpPr>
          <p:cNvPr id="14" name="Text 12"/>
          <p:cNvSpPr/>
          <p:nvPr/>
        </p:nvSpPr>
        <p:spPr>
          <a:xfrm>
            <a:off x="868680" y="1298448"/>
            <a:ext cx="3337560" cy="14630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Aggregates units_sold by category and month.</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Uses DATE_TRUNC + GROUP BY + window functions.</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Reveals seasonal demand patterns (FOODS peaks Dec).</a:t>
            </a:r>
            <a:endParaRPr lang="en-US" sz="1050" dirty="0"/>
          </a:p>
        </p:txBody>
      </p:sp>
      <p:sp>
        <p:nvSpPr>
          <p:cNvPr id="15" name="Shape 13"/>
          <p:cNvSpPr/>
          <p:nvPr/>
        </p:nvSpPr>
        <p:spPr>
          <a:xfrm>
            <a:off x="4617720" y="841248"/>
            <a:ext cx="4023360" cy="201168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16" name="Shape 14"/>
          <p:cNvSpPr/>
          <p:nvPr/>
        </p:nvSpPr>
        <p:spPr>
          <a:xfrm>
            <a:off x="4617720" y="841248"/>
            <a:ext cx="475488" cy="2011680"/>
          </a:xfrm>
          <a:prstGeom prst="rect">
            <a:avLst/>
          </a:prstGeom>
          <a:solidFill>
            <a:srgbClr val="2563A0"/>
          </a:solidFill>
          <a:ln w="12700">
            <a:solidFill>
              <a:srgbClr val="2563A0"/>
            </a:solidFill>
            <a:prstDash val="solid"/>
          </a:ln>
        </p:spPr>
      </p:sp>
      <p:sp>
        <p:nvSpPr>
          <p:cNvPr id="17" name="Text 15"/>
          <p:cNvSpPr/>
          <p:nvPr/>
        </p:nvSpPr>
        <p:spPr>
          <a:xfrm>
            <a:off x="4617720" y="841248"/>
            <a:ext cx="475488"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Q2</a:t>
            </a:r>
            <a:endParaRPr lang="en-US" sz="1600" dirty="0"/>
          </a:p>
        </p:txBody>
      </p:sp>
      <p:sp>
        <p:nvSpPr>
          <p:cNvPr id="18" name="Text 16"/>
          <p:cNvSpPr/>
          <p:nvPr/>
        </p:nvSpPr>
        <p:spPr>
          <a:xfrm rot="16200000">
            <a:off x="4617720" y="1389888"/>
            <a:ext cx="475488" cy="1463040"/>
          </a:xfrm>
          <a:prstGeom prst="rect">
            <a:avLst/>
          </a:prstGeom>
          <a:noFill/>
          <a:ln/>
        </p:spPr>
        <p:txBody>
          <a:bodyPr wrap="square" lIns="0" tIns="0" rIns="0" bIns="0" rtlCol="0" anchor="ctr"/>
          <a:lstStyle/>
          <a:p>
            <a:pPr algn="ctr" indent="0" marL="0">
              <a:buNone/>
            </a:pPr>
            <a:r>
              <a:rPr lang="en-US" sz="700" dirty="0">
                <a:solidFill>
                  <a:srgbClr val="FFFFFF"/>
                </a:solidFill>
                <a:latin typeface="Consolas" pitchFamily="34" charset="0"/>
                <a:ea typeface="Consolas" pitchFamily="34" charset="-122"/>
                <a:cs typeface="Consolas" pitchFamily="34" charset="-120"/>
              </a:rPr>
              <a:t>02_top_stores_by_revenue.sql</a:t>
            </a:r>
            <a:endParaRPr lang="en-US" sz="700" dirty="0"/>
          </a:p>
        </p:txBody>
      </p:sp>
      <p:sp>
        <p:nvSpPr>
          <p:cNvPr id="19" name="Text 17"/>
          <p:cNvSpPr/>
          <p:nvPr/>
        </p:nvSpPr>
        <p:spPr>
          <a:xfrm>
            <a:off x="5166360" y="932688"/>
            <a:ext cx="333756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Top Stores by Revenue</a:t>
            </a:r>
            <a:endParaRPr lang="en-US" sz="1300" dirty="0"/>
          </a:p>
        </p:txBody>
      </p:sp>
      <p:sp>
        <p:nvSpPr>
          <p:cNvPr id="20" name="Text 18"/>
          <p:cNvSpPr/>
          <p:nvPr/>
        </p:nvSpPr>
        <p:spPr>
          <a:xfrm>
            <a:off x="5166360" y="1298448"/>
            <a:ext cx="3337560" cy="14630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Joins fact_sales_daily + fact_price_weekly</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to compute revenue = units × price.</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Ranks all 10 stores — TX stores lead.</a:t>
            </a:r>
            <a:endParaRPr lang="en-US" sz="1050" dirty="0"/>
          </a:p>
        </p:txBody>
      </p:sp>
      <p:sp>
        <p:nvSpPr>
          <p:cNvPr id="21" name="Shape 19"/>
          <p:cNvSpPr/>
          <p:nvPr/>
        </p:nvSpPr>
        <p:spPr>
          <a:xfrm>
            <a:off x="320040" y="2962656"/>
            <a:ext cx="4023360" cy="201168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22" name="Shape 20"/>
          <p:cNvSpPr/>
          <p:nvPr/>
        </p:nvSpPr>
        <p:spPr>
          <a:xfrm>
            <a:off x="320040" y="2962656"/>
            <a:ext cx="475488" cy="2011680"/>
          </a:xfrm>
          <a:prstGeom prst="rect">
            <a:avLst/>
          </a:prstGeom>
          <a:solidFill>
            <a:srgbClr val="E07B39"/>
          </a:solidFill>
          <a:ln w="12700">
            <a:solidFill>
              <a:srgbClr val="E07B39"/>
            </a:solidFill>
            <a:prstDash val="solid"/>
          </a:ln>
        </p:spPr>
      </p:sp>
      <p:sp>
        <p:nvSpPr>
          <p:cNvPr id="23" name="Text 21"/>
          <p:cNvSpPr/>
          <p:nvPr/>
        </p:nvSpPr>
        <p:spPr>
          <a:xfrm>
            <a:off x="320040" y="2962656"/>
            <a:ext cx="475488"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Q3</a:t>
            </a:r>
            <a:endParaRPr lang="en-US" sz="1600" dirty="0"/>
          </a:p>
        </p:txBody>
      </p:sp>
      <p:sp>
        <p:nvSpPr>
          <p:cNvPr id="24" name="Text 22"/>
          <p:cNvSpPr/>
          <p:nvPr/>
        </p:nvSpPr>
        <p:spPr>
          <a:xfrm rot="16200000">
            <a:off x="320040" y="3511296"/>
            <a:ext cx="475488" cy="1463040"/>
          </a:xfrm>
          <a:prstGeom prst="rect">
            <a:avLst/>
          </a:prstGeom>
          <a:noFill/>
          <a:ln/>
        </p:spPr>
        <p:txBody>
          <a:bodyPr wrap="square" lIns="0" tIns="0" rIns="0" bIns="0" rtlCol="0" anchor="ctr"/>
          <a:lstStyle/>
          <a:p>
            <a:pPr algn="ctr" indent="0" marL="0">
              <a:buNone/>
            </a:pPr>
            <a:r>
              <a:rPr lang="en-US" sz="700" dirty="0">
                <a:solidFill>
                  <a:srgbClr val="FFFFFF"/>
                </a:solidFill>
                <a:latin typeface="Consolas" pitchFamily="34" charset="0"/>
                <a:ea typeface="Consolas" pitchFamily="34" charset="-122"/>
                <a:cs typeface="Consolas" pitchFamily="34" charset="-120"/>
              </a:rPr>
              <a:t>03_price_elasticity_by_dept.sql</a:t>
            </a:r>
            <a:endParaRPr lang="en-US" sz="700" dirty="0"/>
          </a:p>
        </p:txBody>
      </p:sp>
      <p:sp>
        <p:nvSpPr>
          <p:cNvPr id="25" name="Text 23"/>
          <p:cNvSpPr/>
          <p:nvPr/>
        </p:nvSpPr>
        <p:spPr>
          <a:xfrm>
            <a:off x="868680" y="3054096"/>
            <a:ext cx="333756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Price Elasticity by Department</a:t>
            </a:r>
            <a:endParaRPr lang="en-US" sz="1300" dirty="0"/>
          </a:p>
        </p:txBody>
      </p:sp>
      <p:sp>
        <p:nvSpPr>
          <p:cNvPr id="26" name="Text 24"/>
          <p:cNvSpPr/>
          <p:nvPr/>
        </p:nvSpPr>
        <p:spPr>
          <a:xfrm>
            <a:off x="868680" y="3419856"/>
            <a:ext cx="3337560" cy="14630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Correlates avg sell_price with avg units_sold</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per department per month.</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Identifies price-sensitive categories.</a:t>
            </a:r>
            <a:endParaRPr lang="en-US" sz="1050" dirty="0"/>
          </a:p>
        </p:txBody>
      </p:sp>
      <p:sp>
        <p:nvSpPr>
          <p:cNvPr id="27" name="Shape 25"/>
          <p:cNvSpPr/>
          <p:nvPr/>
        </p:nvSpPr>
        <p:spPr>
          <a:xfrm>
            <a:off x="4617720" y="2962656"/>
            <a:ext cx="4023360" cy="2011680"/>
          </a:xfrm>
          <a:prstGeom prst="rect">
            <a:avLst/>
          </a:prstGeom>
          <a:solidFill>
            <a:srgbClr val="FFFFFF"/>
          </a:solidFill>
          <a:ln w="12700">
            <a:solidFill>
              <a:srgbClr val="E2E8F0"/>
            </a:solidFill>
            <a:prstDash val="solid"/>
          </a:ln>
          <a:effectLst>
            <a:outerShdw sx="100000" sy="100000" kx="0" ky="0" algn="bl" rotWithShape="0" blurRad="63500" dist="25400" dir="8100000">
              <a:srgbClr val="000000">
                <a:alpha val="8000"/>
              </a:srgbClr>
            </a:outerShdw>
          </a:effectLst>
        </p:spPr>
      </p:sp>
      <p:sp>
        <p:nvSpPr>
          <p:cNvPr id="28" name="Shape 26"/>
          <p:cNvSpPr/>
          <p:nvPr/>
        </p:nvSpPr>
        <p:spPr>
          <a:xfrm>
            <a:off x="4617720" y="2962656"/>
            <a:ext cx="475488" cy="2011680"/>
          </a:xfrm>
          <a:prstGeom prst="rect">
            <a:avLst/>
          </a:prstGeom>
          <a:solidFill>
            <a:srgbClr val="E8456A"/>
          </a:solidFill>
          <a:ln w="12700">
            <a:solidFill>
              <a:srgbClr val="E8456A"/>
            </a:solidFill>
            <a:prstDash val="solid"/>
          </a:ln>
        </p:spPr>
      </p:sp>
      <p:sp>
        <p:nvSpPr>
          <p:cNvPr id="29" name="Text 27"/>
          <p:cNvSpPr/>
          <p:nvPr/>
        </p:nvSpPr>
        <p:spPr>
          <a:xfrm>
            <a:off x="4617720" y="2962656"/>
            <a:ext cx="475488"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Q4</a:t>
            </a:r>
            <a:endParaRPr lang="en-US" sz="1600" dirty="0"/>
          </a:p>
        </p:txBody>
      </p:sp>
      <p:sp>
        <p:nvSpPr>
          <p:cNvPr id="30" name="Text 28"/>
          <p:cNvSpPr/>
          <p:nvPr/>
        </p:nvSpPr>
        <p:spPr>
          <a:xfrm rot="16200000">
            <a:off x="4617720" y="3511296"/>
            <a:ext cx="475488" cy="1463040"/>
          </a:xfrm>
          <a:prstGeom prst="rect">
            <a:avLst/>
          </a:prstGeom>
          <a:noFill/>
          <a:ln/>
        </p:spPr>
        <p:txBody>
          <a:bodyPr wrap="square" lIns="0" tIns="0" rIns="0" bIns="0" rtlCol="0" anchor="ctr"/>
          <a:lstStyle/>
          <a:p>
            <a:pPr algn="ctr" indent="0" marL="0">
              <a:buNone/>
            </a:pPr>
            <a:r>
              <a:rPr lang="en-US" sz="700" dirty="0">
                <a:solidFill>
                  <a:srgbClr val="FFFFFF"/>
                </a:solidFill>
                <a:latin typeface="Consolas" pitchFamily="34" charset="0"/>
                <a:ea typeface="Consolas" pitchFamily="34" charset="-122"/>
                <a:cs typeface="Consolas" pitchFamily="34" charset="-120"/>
              </a:rPr>
              <a:t>04_event_impact_on_sales.sql</a:t>
            </a:r>
            <a:endParaRPr lang="en-US" sz="700" dirty="0"/>
          </a:p>
        </p:txBody>
      </p:sp>
      <p:sp>
        <p:nvSpPr>
          <p:cNvPr id="31" name="Text 29"/>
          <p:cNvSpPr/>
          <p:nvPr/>
        </p:nvSpPr>
        <p:spPr>
          <a:xfrm>
            <a:off x="5166360" y="3054096"/>
            <a:ext cx="3337560" cy="347472"/>
          </a:xfrm>
          <a:prstGeom prst="rect">
            <a:avLst/>
          </a:prstGeom>
          <a:noFill/>
          <a:ln/>
        </p:spPr>
        <p:txBody>
          <a:bodyPr wrap="square" lIns="0" tIns="0" rIns="0" bIns="0"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Event Impact on Sales</a:t>
            </a:r>
            <a:endParaRPr lang="en-US" sz="1300" dirty="0"/>
          </a:p>
        </p:txBody>
      </p:sp>
      <p:sp>
        <p:nvSpPr>
          <p:cNvPr id="32" name="Text 30"/>
          <p:cNvSpPr/>
          <p:nvPr/>
        </p:nvSpPr>
        <p:spPr>
          <a:xfrm>
            <a:off x="5166360" y="3419856"/>
            <a:ext cx="3337560" cy="1463040"/>
          </a:xfrm>
          <a:prstGeom prst="rect">
            <a:avLst/>
          </a:prstGeom>
          <a:noFill/>
          <a:ln/>
        </p:spPr>
        <p:txBody>
          <a:bodyPr wrap="square" lIns="0" tIns="0" rIns="0" bIns="0" rtlCol="0" anchor="t"/>
          <a:lstStyle/>
          <a:p>
            <a:pPr indent="0" marL="0">
              <a:buNone/>
            </a:pPr>
            <a:r>
              <a:rPr lang="en-US" sz="1050" dirty="0">
                <a:solidFill>
                  <a:srgbClr val="1A1A2E"/>
                </a:solidFill>
                <a:latin typeface="Calibri" pitchFamily="34" charset="0"/>
                <a:ea typeface="Calibri" pitchFamily="34" charset="-122"/>
                <a:cs typeface="Calibri" pitchFamily="34" charset="-120"/>
              </a:rPr>
              <a:t>Compares units_sold on event_name days vs.</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non-event days using CASE WHEN.</a:t>
            </a:r>
            <a:endParaRPr lang="en-US" sz="1050" dirty="0"/>
          </a:p>
          <a:p>
            <a:pPr indent="0" marL="0">
              <a:buNone/>
            </a:pPr>
            <a:r>
              <a:rPr lang="en-US" sz="1050" dirty="0">
                <a:solidFill>
                  <a:srgbClr val="1A1A2E"/>
                </a:solidFill>
                <a:latin typeface="Calibri" pitchFamily="34" charset="0"/>
                <a:ea typeface="Calibri" pitchFamily="34" charset="-122"/>
                <a:cs typeface="Calibri" pitchFamily="34" charset="-120"/>
              </a:rPr>
              <a:t>Super Bowl and NBA Finals drive HOBBIES +38%.</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8</a:t>
            </a:r>
            <a:endParaRPr lang="en-US" sz="1300" dirty="0"/>
          </a:p>
        </p:txBody>
      </p:sp>
      <p:sp>
        <p:nvSpPr>
          <p:cNvPr id="5" name="Shape 3"/>
          <p:cNvSpPr/>
          <p:nvPr/>
        </p:nvSpPr>
        <p:spPr>
          <a:xfrm>
            <a:off x="320040" y="201168"/>
            <a:ext cx="64008" cy="475488"/>
          </a:xfrm>
          <a:prstGeom prst="rect">
            <a:avLst/>
          </a:prstGeom>
          <a:solidFill>
            <a:srgbClr val="1B6B7B"/>
          </a:solidFill>
          <a:ln w="12700">
            <a:solidFill>
              <a:srgbClr val="1B6B7B"/>
            </a:solidFill>
            <a:prstDash val="solid"/>
          </a:ln>
        </p:spPr>
      </p:sp>
      <p:sp>
        <p:nvSpPr>
          <p:cNvPr id="6" name="Text 4"/>
          <p:cNvSpPr/>
          <p:nvPr/>
        </p:nvSpPr>
        <p:spPr>
          <a:xfrm>
            <a:off x="457200" y="182880"/>
            <a:ext cx="8412480" cy="530352"/>
          </a:xfrm>
          <a:prstGeom prst="rect">
            <a:avLst/>
          </a:prstGeom>
          <a:noFill/>
          <a:ln/>
        </p:spPr>
        <p:txBody>
          <a:bodyPr wrap="square" lIns="0" tIns="0" rIns="0" bIns="0"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Modeling Approach</a:t>
            </a:r>
            <a:endParaRPr lang="en-US" sz="2600" dirty="0"/>
          </a:p>
        </p:txBody>
      </p:sp>
      <p:sp>
        <p:nvSpPr>
          <p:cNvPr id="7" name="Shape 5"/>
          <p:cNvSpPr/>
          <p:nvPr/>
        </p:nvSpPr>
        <p:spPr>
          <a:xfrm>
            <a:off x="6400800" y="164592"/>
            <a:ext cx="2514600" cy="365760"/>
          </a:xfrm>
          <a:prstGeom prst="roundRect">
            <a:avLst>
              <a:gd name="adj" fmla="val 15000"/>
            </a:avLst>
          </a:prstGeom>
          <a:solidFill>
            <a:srgbClr val="E8456A"/>
          </a:solidFill>
          <a:ln w="12700">
            <a:solidFill>
              <a:srgbClr val="E8456A"/>
            </a:solidFill>
            <a:prstDash val="solid"/>
          </a:ln>
        </p:spPr>
      </p:sp>
      <p:sp>
        <p:nvSpPr>
          <p:cNvPr id="8" name="Text 6"/>
          <p:cNvSpPr/>
          <p:nvPr/>
        </p:nvSpPr>
        <p:spPr>
          <a:xfrm>
            <a:off x="6400800" y="164592"/>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Profiling Lead  ·  Yanet</a:t>
            </a:r>
            <a:endParaRPr lang="en-US" sz="1050" dirty="0"/>
          </a:p>
        </p:txBody>
      </p:sp>
      <p:sp>
        <p:nvSpPr>
          <p:cNvPr id="9" name="Shape 7"/>
          <p:cNvSpPr/>
          <p:nvPr/>
        </p:nvSpPr>
        <p:spPr>
          <a:xfrm>
            <a:off x="320040" y="822960"/>
            <a:ext cx="4023360" cy="4069080"/>
          </a:xfrm>
          <a:prstGeom prst="rect">
            <a:avLst/>
          </a:prstGeom>
          <a:solidFill>
            <a:srgbClr val="EBF5F7"/>
          </a:solidFill>
          <a:ln w="19050">
            <a:solidFill>
              <a:srgbClr val="1B6B7B"/>
            </a:solidFill>
            <a:prstDash val="solid"/>
          </a:ln>
        </p:spPr>
      </p:sp>
      <p:sp>
        <p:nvSpPr>
          <p:cNvPr id="10" name="Shape 8"/>
          <p:cNvSpPr/>
          <p:nvPr/>
        </p:nvSpPr>
        <p:spPr>
          <a:xfrm>
            <a:off x="320040" y="822960"/>
            <a:ext cx="4023360" cy="438912"/>
          </a:xfrm>
          <a:prstGeom prst="rect">
            <a:avLst/>
          </a:prstGeom>
          <a:solidFill>
            <a:srgbClr val="1B6B7B"/>
          </a:solidFill>
          <a:ln w="12700">
            <a:solidFill>
              <a:srgbClr val="1B6B7B"/>
            </a:solidFill>
            <a:prstDash val="solid"/>
          </a:ln>
        </p:spPr>
      </p:sp>
      <p:sp>
        <p:nvSpPr>
          <p:cNvPr id="11" name="Text 9"/>
          <p:cNvSpPr/>
          <p:nvPr/>
        </p:nvSpPr>
        <p:spPr>
          <a:xfrm>
            <a:off x="320040" y="822960"/>
            <a:ext cx="402336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ML Feature Engineering</a:t>
            </a:r>
            <a:endParaRPr lang="en-US" sz="1300" dirty="0"/>
          </a:p>
        </p:txBody>
      </p:sp>
      <p:sp>
        <p:nvSpPr>
          <p:cNvPr id="12" name="Text 10"/>
          <p:cNvSpPr/>
          <p:nvPr/>
        </p:nvSpPr>
        <p:spPr>
          <a:xfrm>
            <a:off x="411480" y="1316736"/>
            <a:ext cx="3749040" cy="256032"/>
          </a:xfrm>
          <a:prstGeom prst="rect">
            <a:avLst/>
          </a:prstGeom>
          <a:noFill/>
          <a:ln/>
        </p:spPr>
        <p:txBody>
          <a:bodyPr wrap="square" rtlCol="0" anchor="ctr"/>
          <a:lstStyle/>
          <a:p>
            <a:pPr indent="0" marL="0">
              <a:buNone/>
            </a:pPr>
            <a:r>
              <a:rPr lang="en-US" sz="1050" b="1" i="1" dirty="0">
                <a:solidFill>
                  <a:srgbClr val="1B6B7B"/>
                </a:solidFill>
                <a:latin typeface="Calibri" pitchFamily="34" charset="0"/>
                <a:ea typeface="Calibri" pitchFamily="34" charset="-122"/>
                <a:cs typeface="Calibri" pitchFamily="34" charset="-120"/>
              </a:rPr>
              <a:t>Table: ml_features_daily</a:t>
            </a:r>
            <a:endParaRPr lang="en-US" sz="1050" dirty="0"/>
          </a:p>
        </p:txBody>
      </p:sp>
      <p:sp>
        <p:nvSpPr>
          <p:cNvPr id="13" name="Text 11"/>
          <p:cNvSpPr/>
          <p:nvPr/>
        </p:nvSpPr>
        <p:spPr>
          <a:xfrm>
            <a:off x="411480" y="1591056"/>
            <a:ext cx="3749040" cy="384048"/>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Built using PostgreSQL window functions</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(LAG, AVG OVER ROWS BETWEEN)</a:t>
            </a:r>
            <a:endParaRPr lang="en-US" sz="1000" dirty="0"/>
          </a:p>
        </p:txBody>
      </p:sp>
      <p:sp>
        <p:nvSpPr>
          <p:cNvPr id="14" name="Shape 12"/>
          <p:cNvSpPr/>
          <p:nvPr/>
        </p:nvSpPr>
        <p:spPr>
          <a:xfrm>
            <a:off x="411480" y="2029968"/>
            <a:ext cx="960120" cy="310896"/>
          </a:xfrm>
          <a:prstGeom prst="rect">
            <a:avLst/>
          </a:prstGeom>
          <a:solidFill>
            <a:srgbClr val="1B6B7B"/>
          </a:solidFill>
          <a:ln w="12700">
            <a:solidFill>
              <a:srgbClr val="1B6B7B"/>
            </a:solidFill>
            <a:prstDash val="solid"/>
          </a:ln>
        </p:spPr>
      </p:sp>
      <p:sp>
        <p:nvSpPr>
          <p:cNvPr id="15" name="Text 13"/>
          <p:cNvSpPr/>
          <p:nvPr/>
        </p:nvSpPr>
        <p:spPr>
          <a:xfrm>
            <a:off x="411480" y="2029968"/>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lag_1</a:t>
            </a:r>
            <a:endParaRPr lang="en-US" sz="950" dirty="0"/>
          </a:p>
        </p:txBody>
      </p:sp>
      <p:sp>
        <p:nvSpPr>
          <p:cNvPr id="16" name="Text 14"/>
          <p:cNvSpPr/>
          <p:nvPr/>
        </p:nvSpPr>
        <p:spPr>
          <a:xfrm>
            <a:off x="1444752" y="2029968"/>
            <a:ext cx="2697480" cy="310896"/>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Previous day's units sold</a:t>
            </a:r>
            <a:endParaRPr lang="en-US" sz="1000" dirty="0"/>
          </a:p>
        </p:txBody>
      </p:sp>
      <p:sp>
        <p:nvSpPr>
          <p:cNvPr id="17" name="Shape 15"/>
          <p:cNvSpPr/>
          <p:nvPr/>
        </p:nvSpPr>
        <p:spPr>
          <a:xfrm>
            <a:off x="411480" y="2468880"/>
            <a:ext cx="960120" cy="310896"/>
          </a:xfrm>
          <a:prstGeom prst="rect">
            <a:avLst/>
          </a:prstGeom>
          <a:solidFill>
            <a:srgbClr val="1B6B7B"/>
          </a:solidFill>
          <a:ln w="12700">
            <a:solidFill>
              <a:srgbClr val="1B6B7B"/>
            </a:solidFill>
            <a:prstDash val="solid"/>
          </a:ln>
        </p:spPr>
      </p:sp>
      <p:sp>
        <p:nvSpPr>
          <p:cNvPr id="18" name="Text 16"/>
          <p:cNvSpPr/>
          <p:nvPr/>
        </p:nvSpPr>
        <p:spPr>
          <a:xfrm>
            <a:off x="411480" y="2468880"/>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lag_7</a:t>
            </a:r>
            <a:endParaRPr lang="en-US" sz="950" dirty="0"/>
          </a:p>
        </p:txBody>
      </p:sp>
      <p:sp>
        <p:nvSpPr>
          <p:cNvPr id="19" name="Text 17"/>
          <p:cNvSpPr/>
          <p:nvPr/>
        </p:nvSpPr>
        <p:spPr>
          <a:xfrm>
            <a:off x="1444752" y="2468880"/>
            <a:ext cx="2697480" cy="310896"/>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Same weekday last week</a:t>
            </a:r>
            <a:endParaRPr lang="en-US" sz="1000" dirty="0"/>
          </a:p>
        </p:txBody>
      </p:sp>
      <p:sp>
        <p:nvSpPr>
          <p:cNvPr id="20" name="Shape 18"/>
          <p:cNvSpPr/>
          <p:nvPr/>
        </p:nvSpPr>
        <p:spPr>
          <a:xfrm>
            <a:off x="411480" y="2907792"/>
            <a:ext cx="960120" cy="310896"/>
          </a:xfrm>
          <a:prstGeom prst="rect">
            <a:avLst/>
          </a:prstGeom>
          <a:solidFill>
            <a:srgbClr val="1B6B7B"/>
          </a:solidFill>
          <a:ln w="12700">
            <a:solidFill>
              <a:srgbClr val="1B6B7B"/>
            </a:solidFill>
            <a:prstDash val="solid"/>
          </a:ln>
        </p:spPr>
      </p:sp>
      <p:sp>
        <p:nvSpPr>
          <p:cNvPr id="21" name="Text 19"/>
          <p:cNvSpPr/>
          <p:nvPr/>
        </p:nvSpPr>
        <p:spPr>
          <a:xfrm>
            <a:off x="411480" y="2907792"/>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lag_14</a:t>
            </a:r>
            <a:endParaRPr lang="en-US" sz="950" dirty="0"/>
          </a:p>
        </p:txBody>
      </p:sp>
      <p:sp>
        <p:nvSpPr>
          <p:cNvPr id="22" name="Text 20"/>
          <p:cNvSpPr/>
          <p:nvPr/>
        </p:nvSpPr>
        <p:spPr>
          <a:xfrm>
            <a:off x="1444752" y="2907792"/>
            <a:ext cx="2697480" cy="310896"/>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Two weeks prior</a:t>
            </a:r>
            <a:endParaRPr lang="en-US" sz="1000" dirty="0"/>
          </a:p>
        </p:txBody>
      </p:sp>
      <p:sp>
        <p:nvSpPr>
          <p:cNvPr id="23" name="Shape 21"/>
          <p:cNvSpPr/>
          <p:nvPr/>
        </p:nvSpPr>
        <p:spPr>
          <a:xfrm>
            <a:off x="411480" y="3346704"/>
            <a:ext cx="960120" cy="310896"/>
          </a:xfrm>
          <a:prstGeom prst="rect">
            <a:avLst/>
          </a:prstGeom>
          <a:solidFill>
            <a:srgbClr val="1B6B7B"/>
          </a:solidFill>
          <a:ln w="12700">
            <a:solidFill>
              <a:srgbClr val="1B6B7B"/>
            </a:solidFill>
            <a:prstDash val="solid"/>
          </a:ln>
        </p:spPr>
      </p:sp>
      <p:sp>
        <p:nvSpPr>
          <p:cNvPr id="24" name="Text 22"/>
          <p:cNvSpPr/>
          <p:nvPr/>
        </p:nvSpPr>
        <p:spPr>
          <a:xfrm>
            <a:off x="411480" y="3346704"/>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lag_28</a:t>
            </a:r>
            <a:endParaRPr lang="en-US" sz="950" dirty="0"/>
          </a:p>
        </p:txBody>
      </p:sp>
      <p:sp>
        <p:nvSpPr>
          <p:cNvPr id="25" name="Text 23"/>
          <p:cNvSpPr/>
          <p:nvPr/>
        </p:nvSpPr>
        <p:spPr>
          <a:xfrm>
            <a:off x="1444752" y="3346704"/>
            <a:ext cx="2697480" cy="310896"/>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Four weeks prior (monthly)</a:t>
            </a:r>
            <a:endParaRPr lang="en-US" sz="1000" dirty="0"/>
          </a:p>
        </p:txBody>
      </p:sp>
      <p:sp>
        <p:nvSpPr>
          <p:cNvPr id="26" name="Shape 24"/>
          <p:cNvSpPr/>
          <p:nvPr/>
        </p:nvSpPr>
        <p:spPr>
          <a:xfrm>
            <a:off x="411480" y="3785616"/>
            <a:ext cx="960120" cy="310896"/>
          </a:xfrm>
          <a:prstGeom prst="rect">
            <a:avLst/>
          </a:prstGeom>
          <a:solidFill>
            <a:srgbClr val="1B6B7B"/>
          </a:solidFill>
          <a:ln w="12700">
            <a:solidFill>
              <a:srgbClr val="1B6B7B"/>
            </a:solidFill>
            <a:prstDash val="solid"/>
          </a:ln>
        </p:spPr>
      </p:sp>
      <p:sp>
        <p:nvSpPr>
          <p:cNvPr id="27" name="Text 25"/>
          <p:cNvSpPr/>
          <p:nvPr/>
        </p:nvSpPr>
        <p:spPr>
          <a:xfrm>
            <a:off x="411480" y="3785616"/>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rolling_avg_7</a:t>
            </a:r>
            <a:endParaRPr lang="en-US" sz="950" dirty="0"/>
          </a:p>
        </p:txBody>
      </p:sp>
      <p:sp>
        <p:nvSpPr>
          <p:cNvPr id="28" name="Text 26"/>
          <p:cNvSpPr/>
          <p:nvPr/>
        </p:nvSpPr>
        <p:spPr>
          <a:xfrm>
            <a:off x="1444752" y="3785616"/>
            <a:ext cx="2697480" cy="310896"/>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7-day moving average</a:t>
            </a:r>
            <a:endParaRPr lang="en-US" sz="1000" dirty="0"/>
          </a:p>
        </p:txBody>
      </p:sp>
      <p:sp>
        <p:nvSpPr>
          <p:cNvPr id="29" name="Shape 27"/>
          <p:cNvSpPr/>
          <p:nvPr/>
        </p:nvSpPr>
        <p:spPr>
          <a:xfrm>
            <a:off x="411480" y="4224528"/>
            <a:ext cx="960120" cy="310896"/>
          </a:xfrm>
          <a:prstGeom prst="rect">
            <a:avLst/>
          </a:prstGeom>
          <a:solidFill>
            <a:srgbClr val="1B6B7B"/>
          </a:solidFill>
          <a:ln w="12700">
            <a:solidFill>
              <a:srgbClr val="1B6B7B"/>
            </a:solidFill>
            <a:prstDash val="solid"/>
          </a:ln>
        </p:spPr>
      </p:sp>
      <p:sp>
        <p:nvSpPr>
          <p:cNvPr id="30" name="Text 28"/>
          <p:cNvSpPr/>
          <p:nvPr/>
        </p:nvSpPr>
        <p:spPr>
          <a:xfrm>
            <a:off x="411480" y="4224528"/>
            <a:ext cx="9601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onsolas" pitchFamily="34" charset="0"/>
                <a:ea typeface="Consolas" pitchFamily="34" charset="-122"/>
                <a:cs typeface="Consolas" pitchFamily="34" charset="-120"/>
              </a:rPr>
              <a:t>rolling_avg_28</a:t>
            </a:r>
            <a:endParaRPr lang="en-US" sz="950" dirty="0"/>
          </a:p>
        </p:txBody>
      </p:sp>
      <p:sp>
        <p:nvSpPr>
          <p:cNvPr id="31" name="Text 29"/>
          <p:cNvSpPr/>
          <p:nvPr/>
        </p:nvSpPr>
        <p:spPr>
          <a:xfrm>
            <a:off x="1444752" y="4224528"/>
            <a:ext cx="2697480" cy="310896"/>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28-day moving average</a:t>
            </a:r>
            <a:endParaRPr lang="en-US" sz="1000" dirty="0"/>
          </a:p>
        </p:txBody>
      </p:sp>
      <p:sp>
        <p:nvSpPr>
          <p:cNvPr id="32" name="Shape 30"/>
          <p:cNvSpPr/>
          <p:nvPr/>
        </p:nvSpPr>
        <p:spPr>
          <a:xfrm>
            <a:off x="4526280" y="822960"/>
            <a:ext cx="4297680" cy="4069080"/>
          </a:xfrm>
          <a:prstGeom prst="rect">
            <a:avLst/>
          </a:prstGeom>
          <a:solidFill>
            <a:srgbClr val="FAF7F0"/>
          </a:solidFill>
          <a:ln w="19050">
            <a:solidFill>
              <a:srgbClr val="A07B1E"/>
            </a:solidFill>
            <a:prstDash val="solid"/>
          </a:ln>
        </p:spPr>
      </p:sp>
      <p:sp>
        <p:nvSpPr>
          <p:cNvPr id="33" name="Shape 31"/>
          <p:cNvSpPr/>
          <p:nvPr/>
        </p:nvSpPr>
        <p:spPr>
          <a:xfrm>
            <a:off x="4526280" y="822960"/>
            <a:ext cx="4297680" cy="438912"/>
          </a:xfrm>
          <a:prstGeom prst="rect">
            <a:avLst/>
          </a:prstGeom>
          <a:solidFill>
            <a:srgbClr val="A07B1E"/>
          </a:solidFill>
          <a:ln w="12700">
            <a:solidFill>
              <a:srgbClr val="A07B1E"/>
            </a:solidFill>
            <a:prstDash val="solid"/>
          </a:ln>
        </p:spPr>
      </p:sp>
      <p:sp>
        <p:nvSpPr>
          <p:cNvPr id="34" name="Text 32"/>
          <p:cNvSpPr/>
          <p:nvPr/>
        </p:nvSpPr>
        <p:spPr>
          <a:xfrm>
            <a:off x="4526280" y="822960"/>
            <a:ext cx="429768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Model Pipeline</a:t>
            </a:r>
            <a:endParaRPr lang="en-US" sz="1300" dirty="0"/>
          </a:p>
        </p:txBody>
      </p:sp>
      <p:sp>
        <p:nvSpPr>
          <p:cNvPr id="35" name="Shape 33"/>
          <p:cNvSpPr/>
          <p:nvPr/>
        </p:nvSpPr>
        <p:spPr>
          <a:xfrm>
            <a:off x="4617720" y="1481328"/>
            <a:ext cx="457200" cy="457200"/>
          </a:xfrm>
          <a:prstGeom prst="ellipse">
            <a:avLst/>
          </a:prstGeom>
          <a:solidFill>
            <a:srgbClr val="E07B39"/>
          </a:solidFill>
          <a:ln w="12700">
            <a:solidFill>
              <a:srgbClr val="E07B39"/>
            </a:solidFill>
            <a:prstDash val="solid"/>
          </a:ln>
        </p:spPr>
      </p:sp>
      <p:sp>
        <p:nvSpPr>
          <p:cNvPr id="36" name="Text 34"/>
          <p:cNvSpPr/>
          <p:nvPr/>
        </p:nvSpPr>
        <p:spPr>
          <a:xfrm>
            <a:off x="4617720" y="148132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7" name="Text 35"/>
          <p:cNvSpPr/>
          <p:nvPr/>
        </p:nvSpPr>
        <p:spPr>
          <a:xfrm>
            <a:off x="5166360" y="1463040"/>
            <a:ext cx="3474720" cy="256032"/>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Train/Test Split</a:t>
            </a:r>
            <a:endParaRPr lang="en-US" sz="1200" dirty="0"/>
          </a:p>
        </p:txBody>
      </p:sp>
      <p:sp>
        <p:nvSpPr>
          <p:cNvPr id="38" name="Text 36"/>
          <p:cNvSpPr/>
          <p:nvPr/>
        </p:nvSpPr>
        <p:spPr>
          <a:xfrm>
            <a:off x="5166360" y="1719072"/>
            <a:ext cx="347472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Train: d_1 – d_1941</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Test:  d_1942 – d_1969 (28-day holdout)</a:t>
            </a:r>
            <a:endParaRPr lang="en-US" sz="1000" dirty="0"/>
          </a:p>
        </p:txBody>
      </p:sp>
      <p:sp>
        <p:nvSpPr>
          <p:cNvPr id="39" name="Shape 37"/>
          <p:cNvSpPr/>
          <p:nvPr/>
        </p:nvSpPr>
        <p:spPr>
          <a:xfrm>
            <a:off x="4617720" y="2350008"/>
            <a:ext cx="457200" cy="457200"/>
          </a:xfrm>
          <a:prstGeom prst="ellipse">
            <a:avLst/>
          </a:prstGeom>
          <a:solidFill>
            <a:srgbClr val="E07B39"/>
          </a:solidFill>
          <a:ln w="12700">
            <a:solidFill>
              <a:srgbClr val="E07B39"/>
            </a:solidFill>
            <a:prstDash val="solid"/>
          </a:ln>
        </p:spPr>
      </p:sp>
      <p:sp>
        <p:nvSpPr>
          <p:cNvPr id="40" name="Text 38"/>
          <p:cNvSpPr/>
          <p:nvPr/>
        </p:nvSpPr>
        <p:spPr>
          <a:xfrm>
            <a:off x="4617720" y="235000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1" name="Text 39"/>
          <p:cNvSpPr/>
          <p:nvPr/>
        </p:nvSpPr>
        <p:spPr>
          <a:xfrm>
            <a:off x="5166360" y="2331720"/>
            <a:ext cx="3474720" cy="256032"/>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Seasonal Naive Baseline</a:t>
            </a:r>
            <a:endParaRPr lang="en-US" sz="1200" dirty="0"/>
          </a:p>
        </p:txBody>
      </p:sp>
      <p:sp>
        <p:nvSpPr>
          <p:cNvPr id="42" name="Text 40"/>
          <p:cNvSpPr/>
          <p:nvPr/>
        </p:nvSpPr>
        <p:spPr>
          <a:xfrm>
            <a:off x="5166360" y="2587752"/>
            <a:ext cx="347472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Predict = same weekday</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4 weeks ago (lag_28)</a:t>
            </a:r>
            <a:endParaRPr lang="en-US" sz="1000" dirty="0"/>
          </a:p>
        </p:txBody>
      </p:sp>
      <p:sp>
        <p:nvSpPr>
          <p:cNvPr id="43" name="Shape 41"/>
          <p:cNvSpPr/>
          <p:nvPr/>
        </p:nvSpPr>
        <p:spPr>
          <a:xfrm>
            <a:off x="4617720" y="3218688"/>
            <a:ext cx="457200" cy="457200"/>
          </a:xfrm>
          <a:prstGeom prst="ellipse">
            <a:avLst/>
          </a:prstGeom>
          <a:solidFill>
            <a:srgbClr val="E07B39"/>
          </a:solidFill>
          <a:ln w="12700">
            <a:solidFill>
              <a:srgbClr val="E07B39"/>
            </a:solidFill>
            <a:prstDash val="solid"/>
          </a:ln>
        </p:spPr>
      </p:sp>
      <p:sp>
        <p:nvSpPr>
          <p:cNvPr id="44" name="Text 42"/>
          <p:cNvSpPr/>
          <p:nvPr/>
        </p:nvSpPr>
        <p:spPr>
          <a:xfrm>
            <a:off x="4617720" y="321868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3"/>
          <p:cNvSpPr/>
          <p:nvPr/>
        </p:nvSpPr>
        <p:spPr>
          <a:xfrm>
            <a:off x="5166360" y="3200400"/>
            <a:ext cx="3474720" cy="256032"/>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XGBoost ML Model</a:t>
            </a:r>
            <a:endParaRPr lang="en-US" sz="1200" dirty="0"/>
          </a:p>
        </p:txBody>
      </p:sp>
      <p:sp>
        <p:nvSpPr>
          <p:cNvPr id="46" name="Text 44"/>
          <p:cNvSpPr/>
          <p:nvPr/>
        </p:nvSpPr>
        <p:spPr>
          <a:xfrm>
            <a:off x="5166360" y="3456432"/>
            <a:ext cx="347472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600 trees · 0.05 lr</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Early stopping · 6 lag+rolling features</a:t>
            </a:r>
            <a:endParaRPr lang="en-US" sz="1000" dirty="0"/>
          </a:p>
        </p:txBody>
      </p:sp>
      <p:sp>
        <p:nvSpPr>
          <p:cNvPr id="47" name="Shape 45"/>
          <p:cNvSpPr/>
          <p:nvPr/>
        </p:nvSpPr>
        <p:spPr>
          <a:xfrm>
            <a:off x="4617720" y="4087368"/>
            <a:ext cx="457200" cy="457200"/>
          </a:xfrm>
          <a:prstGeom prst="ellipse">
            <a:avLst/>
          </a:prstGeom>
          <a:solidFill>
            <a:srgbClr val="E07B39"/>
          </a:solidFill>
          <a:ln w="12700">
            <a:solidFill>
              <a:srgbClr val="E07B39"/>
            </a:solidFill>
            <a:prstDash val="solid"/>
          </a:ln>
        </p:spPr>
      </p:sp>
      <p:sp>
        <p:nvSpPr>
          <p:cNvPr id="48" name="Text 46"/>
          <p:cNvSpPr/>
          <p:nvPr/>
        </p:nvSpPr>
        <p:spPr>
          <a:xfrm>
            <a:off x="4617720" y="4087368"/>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9" name="Text 47"/>
          <p:cNvSpPr/>
          <p:nvPr/>
        </p:nvSpPr>
        <p:spPr>
          <a:xfrm>
            <a:off x="5166360" y="4069080"/>
            <a:ext cx="3474720" cy="256032"/>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Store Predictions</a:t>
            </a:r>
            <a:endParaRPr lang="en-US" sz="1200" dirty="0"/>
          </a:p>
        </p:txBody>
      </p:sp>
      <p:sp>
        <p:nvSpPr>
          <p:cNvPr id="50" name="Text 48"/>
          <p:cNvSpPr/>
          <p:nvPr/>
        </p:nvSpPr>
        <p:spPr>
          <a:xfrm>
            <a:off x="5166360" y="4325112"/>
            <a:ext cx="347472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predictions_daily table</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model_name field distinguishes both</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9</a:t>
            </a:r>
            <a:endParaRPr lang="en-US" sz="1300" dirty="0"/>
          </a:p>
        </p:txBody>
      </p:sp>
      <p:sp>
        <p:nvSpPr>
          <p:cNvPr id="5" name="Shape 3"/>
          <p:cNvSpPr/>
          <p:nvPr/>
        </p:nvSpPr>
        <p:spPr>
          <a:xfrm>
            <a:off x="320040" y="201168"/>
            <a:ext cx="64008" cy="475488"/>
          </a:xfrm>
          <a:prstGeom prst="rect">
            <a:avLst/>
          </a:prstGeom>
          <a:solidFill>
            <a:srgbClr val="E8456A"/>
          </a:solidFill>
          <a:ln w="12700">
            <a:solidFill>
              <a:srgbClr val="E8456A"/>
            </a:solidFill>
            <a:prstDash val="solid"/>
          </a:ln>
        </p:spPr>
      </p:sp>
      <p:sp>
        <p:nvSpPr>
          <p:cNvPr id="6" name="Text 4"/>
          <p:cNvSpPr/>
          <p:nvPr/>
        </p:nvSpPr>
        <p:spPr>
          <a:xfrm>
            <a:off x="457200" y="182880"/>
            <a:ext cx="8412480" cy="530352"/>
          </a:xfrm>
          <a:prstGeom prst="rect">
            <a:avLst/>
          </a:prstGeom>
          <a:noFill/>
          <a:ln/>
        </p:spPr>
        <p:txBody>
          <a:bodyPr wrap="square" lIns="0" tIns="0" rIns="0" bIns="0"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Model Evaluation</a:t>
            </a:r>
            <a:endParaRPr lang="en-US" sz="2600" dirty="0"/>
          </a:p>
        </p:txBody>
      </p:sp>
      <p:sp>
        <p:nvSpPr>
          <p:cNvPr id="7" name="Shape 5"/>
          <p:cNvSpPr/>
          <p:nvPr/>
        </p:nvSpPr>
        <p:spPr>
          <a:xfrm>
            <a:off x="6400800" y="164592"/>
            <a:ext cx="2514600" cy="365760"/>
          </a:xfrm>
          <a:prstGeom prst="roundRect">
            <a:avLst>
              <a:gd name="adj" fmla="val 15000"/>
            </a:avLst>
          </a:prstGeom>
          <a:solidFill>
            <a:srgbClr val="E8456A"/>
          </a:solidFill>
          <a:ln w="12700">
            <a:solidFill>
              <a:srgbClr val="E8456A"/>
            </a:solidFill>
            <a:prstDash val="solid"/>
          </a:ln>
        </p:spPr>
      </p:sp>
      <p:sp>
        <p:nvSpPr>
          <p:cNvPr id="8" name="Text 6"/>
          <p:cNvSpPr/>
          <p:nvPr/>
        </p:nvSpPr>
        <p:spPr>
          <a:xfrm>
            <a:off x="6400800" y="164592"/>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Profiling Lead  ·  Yanet</a:t>
            </a:r>
            <a:endParaRPr lang="en-US" sz="1050" dirty="0"/>
          </a:p>
        </p:txBody>
      </p:sp>
      <p:sp>
        <p:nvSpPr>
          <p:cNvPr id="9" name="Shape 7"/>
          <p:cNvSpPr/>
          <p:nvPr/>
        </p:nvSpPr>
        <p:spPr>
          <a:xfrm>
            <a:off x="320040" y="868680"/>
            <a:ext cx="2011680" cy="1280160"/>
          </a:xfrm>
          <a:prstGeom prst="rect">
            <a:avLst/>
          </a:prstGeom>
          <a:solidFill>
            <a:srgbClr val="EBF5F7"/>
          </a:solidFill>
          <a:ln w="15240">
            <a:solidFill>
              <a:srgbClr val="A07B1E"/>
            </a:solidFill>
            <a:prstDash val="solid"/>
          </a:ln>
          <a:effectLst>
            <a:outerShdw sx="100000" sy="100000" kx="0" ky="0" algn="bl" rotWithShape="0" blurRad="50800" dist="25400" dir="8100000">
              <a:srgbClr val="000000">
                <a:alpha val="10000"/>
              </a:srgbClr>
            </a:outerShdw>
          </a:effectLst>
        </p:spPr>
      </p:sp>
      <p:sp>
        <p:nvSpPr>
          <p:cNvPr id="10" name="Text 8"/>
          <p:cNvSpPr/>
          <p:nvPr/>
        </p:nvSpPr>
        <p:spPr>
          <a:xfrm>
            <a:off x="320040" y="941832"/>
            <a:ext cx="2011680" cy="742493"/>
          </a:xfrm>
          <a:prstGeom prst="rect">
            <a:avLst/>
          </a:prstGeom>
          <a:noFill/>
          <a:ln/>
        </p:spPr>
        <p:txBody>
          <a:bodyPr wrap="square" lIns="0" tIns="0" rIns="0" bIns="0" rtlCol="0" anchor="ctr"/>
          <a:lstStyle/>
          <a:p>
            <a:pPr algn="ctr" indent="0" marL="0">
              <a:buNone/>
            </a:pPr>
            <a:r>
              <a:rPr lang="en-US" sz="3400" b="1" dirty="0">
                <a:solidFill>
                  <a:srgbClr val="1B6B7B"/>
                </a:solidFill>
                <a:latin typeface="Calibri" pitchFamily="34" charset="0"/>
                <a:ea typeface="Calibri" pitchFamily="34" charset="-122"/>
                <a:cs typeface="Calibri" pitchFamily="34" charset="-120"/>
              </a:rPr>
              <a:t>1.82</a:t>
            </a:r>
            <a:endParaRPr lang="en-US" sz="3400" dirty="0"/>
          </a:p>
        </p:txBody>
      </p:sp>
      <p:sp>
        <p:nvSpPr>
          <p:cNvPr id="11" name="Text 9"/>
          <p:cNvSpPr/>
          <p:nvPr/>
        </p:nvSpPr>
        <p:spPr>
          <a:xfrm>
            <a:off x="320040" y="1611173"/>
            <a:ext cx="2011680" cy="486461"/>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Baseline MAE</a:t>
            </a:r>
            <a:endParaRPr lang="en-US" sz="1100" dirty="0"/>
          </a:p>
        </p:txBody>
      </p:sp>
      <p:sp>
        <p:nvSpPr>
          <p:cNvPr id="12" name="Shape 10"/>
          <p:cNvSpPr/>
          <p:nvPr/>
        </p:nvSpPr>
        <p:spPr>
          <a:xfrm>
            <a:off x="2423160" y="868680"/>
            <a:ext cx="2011680" cy="1280160"/>
          </a:xfrm>
          <a:prstGeom prst="rect">
            <a:avLst/>
          </a:prstGeom>
          <a:solidFill>
            <a:srgbClr val="EBF5F7"/>
          </a:solidFill>
          <a:ln w="15240">
            <a:solidFill>
              <a:srgbClr val="A07B1E"/>
            </a:solidFill>
            <a:prstDash val="solid"/>
          </a:ln>
          <a:effectLst>
            <a:outerShdw sx="100000" sy="100000" kx="0" ky="0" algn="bl" rotWithShape="0" blurRad="50800" dist="25400" dir="8100000">
              <a:srgbClr val="000000">
                <a:alpha val="10000"/>
              </a:srgbClr>
            </a:outerShdw>
          </a:effectLst>
        </p:spPr>
      </p:sp>
      <p:sp>
        <p:nvSpPr>
          <p:cNvPr id="13" name="Text 11"/>
          <p:cNvSpPr/>
          <p:nvPr/>
        </p:nvSpPr>
        <p:spPr>
          <a:xfrm>
            <a:off x="2423160" y="941832"/>
            <a:ext cx="2011680" cy="742493"/>
          </a:xfrm>
          <a:prstGeom prst="rect">
            <a:avLst/>
          </a:prstGeom>
          <a:noFill/>
          <a:ln/>
        </p:spPr>
        <p:txBody>
          <a:bodyPr wrap="square" lIns="0" tIns="0" rIns="0" bIns="0" rtlCol="0" anchor="ctr"/>
          <a:lstStyle/>
          <a:p>
            <a:pPr algn="ctr" indent="0" marL="0">
              <a:buNone/>
            </a:pPr>
            <a:r>
              <a:rPr lang="en-US" sz="3400" b="1" dirty="0">
                <a:solidFill>
                  <a:srgbClr val="1B6B7B"/>
                </a:solidFill>
                <a:latin typeface="Calibri" pitchFamily="34" charset="0"/>
                <a:ea typeface="Calibri" pitchFamily="34" charset="-122"/>
                <a:cs typeface="Calibri" pitchFamily="34" charset="-120"/>
              </a:rPr>
              <a:t>2.47</a:t>
            </a:r>
            <a:endParaRPr lang="en-US" sz="3400" dirty="0"/>
          </a:p>
        </p:txBody>
      </p:sp>
      <p:sp>
        <p:nvSpPr>
          <p:cNvPr id="14" name="Text 12"/>
          <p:cNvSpPr/>
          <p:nvPr/>
        </p:nvSpPr>
        <p:spPr>
          <a:xfrm>
            <a:off x="2423160" y="1611173"/>
            <a:ext cx="2011680" cy="486461"/>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Baseline RMSE</a:t>
            </a:r>
            <a:endParaRPr lang="en-US" sz="1100" dirty="0"/>
          </a:p>
        </p:txBody>
      </p:sp>
      <p:sp>
        <p:nvSpPr>
          <p:cNvPr id="15" name="Shape 13"/>
          <p:cNvSpPr/>
          <p:nvPr/>
        </p:nvSpPr>
        <p:spPr>
          <a:xfrm>
            <a:off x="4526280" y="868680"/>
            <a:ext cx="2011680" cy="1280160"/>
          </a:xfrm>
          <a:prstGeom prst="rect">
            <a:avLst/>
          </a:prstGeom>
          <a:solidFill>
            <a:srgbClr val="FDE8ED"/>
          </a:solidFill>
          <a:ln w="15240">
            <a:solidFill>
              <a:srgbClr val="A07B1E"/>
            </a:solidFill>
            <a:prstDash val="solid"/>
          </a:ln>
          <a:effectLst>
            <a:outerShdw sx="100000" sy="100000" kx="0" ky="0" algn="bl" rotWithShape="0" blurRad="50800" dist="25400" dir="8100000">
              <a:srgbClr val="000000">
                <a:alpha val="10000"/>
              </a:srgbClr>
            </a:outerShdw>
          </a:effectLst>
        </p:spPr>
      </p:sp>
      <p:sp>
        <p:nvSpPr>
          <p:cNvPr id="16" name="Text 14"/>
          <p:cNvSpPr/>
          <p:nvPr/>
        </p:nvSpPr>
        <p:spPr>
          <a:xfrm>
            <a:off x="4526280" y="941832"/>
            <a:ext cx="2011680" cy="742493"/>
          </a:xfrm>
          <a:prstGeom prst="rect">
            <a:avLst/>
          </a:prstGeom>
          <a:noFill/>
          <a:ln/>
        </p:spPr>
        <p:txBody>
          <a:bodyPr wrap="square" lIns="0" tIns="0" rIns="0" bIns="0" rtlCol="0" anchor="ctr"/>
          <a:lstStyle/>
          <a:p>
            <a:pPr algn="ctr" indent="0" marL="0">
              <a:buNone/>
            </a:pPr>
            <a:r>
              <a:rPr lang="en-US" sz="3400" b="1" dirty="0">
                <a:solidFill>
                  <a:srgbClr val="E8456A"/>
                </a:solidFill>
                <a:latin typeface="Calibri" pitchFamily="34" charset="0"/>
                <a:ea typeface="Calibri" pitchFamily="34" charset="-122"/>
                <a:cs typeface="Calibri" pitchFamily="34" charset="-120"/>
              </a:rPr>
              <a:t>1.45</a:t>
            </a:r>
            <a:endParaRPr lang="en-US" sz="3400" dirty="0"/>
          </a:p>
        </p:txBody>
      </p:sp>
      <p:sp>
        <p:nvSpPr>
          <p:cNvPr id="17" name="Text 15"/>
          <p:cNvSpPr/>
          <p:nvPr/>
        </p:nvSpPr>
        <p:spPr>
          <a:xfrm>
            <a:off x="4526280" y="1611173"/>
            <a:ext cx="2011680" cy="486461"/>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XGBoost MAE</a:t>
            </a:r>
            <a:endParaRPr lang="en-US" sz="1100" dirty="0"/>
          </a:p>
        </p:txBody>
      </p:sp>
      <p:sp>
        <p:nvSpPr>
          <p:cNvPr id="18" name="Shape 16"/>
          <p:cNvSpPr/>
          <p:nvPr/>
        </p:nvSpPr>
        <p:spPr>
          <a:xfrm>
            <a:off x="6629400" y="868680"/>
            <a:ext cx="2011680" cy="1280160"/>
          </a:xfrm>
          <a:prstGeom prst="rect">
            <a:avLst/>
          </a:prstGeom>
          <a:solidFill>
            <a:srgbClr val="FDE8ED"/>
          </a:solidFill>
          <a:ln w="15240">
            <a:solidFill>
              <a:srgbClr val="A07B1E"/>
            </a:solidFill>
            <a:prstDash val="solid"/>
          </a:ln>
          <a:effectLst>
            <a:outerShdw sx="100000" sy="100000" kx="0" ky="0" algn="bl" rotWithShape="0" blurRad="50800" dist="25400" dir="8100000">
              <a:srgbClr val="000000">
                <a:alpha val="10000"/>
              </a:srgbClr>
            </a:outerShdw>
          </a:effectLst>
        </p:spPr>
      </p:sp>
      <p:sp>
        <p:nvSpPr>
          <p:cNvPr id="19" name="Text 17"/>
          <p:cNvSpPr/>
          <p:nvPr/>
        </p:nvSpPr>
        <p:spPr>
          <a:xfrm>
            <a:off x="6629400" y="941832"/>
            <a:ext cx="2011680" cy="742493"/>
          </a:xfrm>
          <a:prstGeom prst="rect">
            <a:avLst/>
          </a:prstGeom>
          <a:noFill/>
          <a:ln/>
        </p:spPr>
        <p:txBody>
          <a:bodyPr wrap="square" lIns="0" tIns="0" rIns="0" bIns="0" rtlCol="0" anchor="ctr"/>
          <a:lstStyle/>
          <a:p>
            <a:pPr algn="ctr" indent="0" marL="0">
              <a:buNone/>
            </a:pPr>
            <a:r>
              <a:rPr lang="en-US" sz="3400" b="1" dirty="0">
                <a:solidFill>
                  <a:srgbClr val="E8456A"/>
                </a:solidFill>
                <a:latin typeface="Calibri" pitchFamily="34" charset="0"/>
                <a:ea typeface="Calibri" pitchFamily="34" charset="-122"/>
                <a:cs typeface="Calibri" pitchFamily="34" charset="-120"/>
              </a:rPr>
              <a:t>2.01</a:t>
            </a:r>
            <a:endParaRPr lang="en-US" sz="3400" dirty="0"/>
          </a:p>
        </p:txBody>
      </p:sp>
      <p:sp>
        <p:nvSpPr>
          <p:cNvPr id="20" name="Text 18"/>
          <p:cNvSpPr/>
          <p:nvPr/>
        </p:nvSpPr>
        <p:spPr>
          <a:xfrm>
            <a:off x="6629400" y="1611173"/>
            <a:ext cx="2011680" cy="486461"/>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XGBoost RMSE</a:t>
            </a:r>
            <a:endParaRPr lang="en-US" sz="1100" dirty="0"/>
          </a:p>
        </p:txBody>
      </p:sp>
      <p:sp>
        <p:nvSpPr>
          <p:cNvPr id="21" name="Shape 19"/>
          <p:cNvSpPr/>
          <p:nvPr/>
        </p:nvSpPr>
        <p:spPr>
          <a:xfrm>
            <a:off x="320040" y="2286000"/>
            <a:ext cx="8503920" cy="475488"/>
          </a:xfrm>
          <a:prstGeom prst="rect">
            <a:avLst/>
          </a:prstGeom>
          <a:solidFill>
            <a:srgbClr val="E6F4F1"/>
          </a:solidFill>
          <a:ln w="19050">
            <a:solidFill>
              <a:srgbClr val="0D8A5E"/>
            </a:solidFill>
            <a:prstDash val="solid"/>
          </a:ln>
        </p:spPr>
      </p:sp>
      <p:sp>
        <p:nvSpPr>
          <p:cNvPr id="22" name="Text 20"/>
          <p:cNvSpPr/>
          <p:nvPr/>
        </p:nvSpPr>
        <p:spPr>
          <a:xfrm>
            <a:off x="320040" y="2286000"/>
            <a:ext cx="8503920" cy="475488"/>
          </a:xfrm>
          <a:prstGeom prst="rect">
            <a:avLst/>
          </a:prstGeom>
          <a:noFill/>
          <a:ln/>
        </p:spPr>
        <p:txBody>
          <a:bodyPr wrap="square" lIns="0" tIns="0" rIns="0" bIns="0" rtlCol="0" anchor="ctr"/>
          <a:lstStyle/>
          <a:p>
            <a:pPr algn="ctr" indent="0" marL="0">
              <a:buNone/>
            </a:pPr>
            <a:r>
              <a:rPr lang="en-US" sz="1250" b="1" dirty="0">
                <a:solidFill>
                  <a:srgbClr val="0D8A5E"/>
                </a:solidFill>
                <a:latin typeface="Calibri" pitchFamily="34" charset="0"/>
                <a:ea typeface="Calibri" pitchFamily="34" charset="-122"/>
                <a:cs typeface="Calibri" pitchFamily="34" charset="-120"/>
              </a:rPr>
              <a:t>🎯  XGBoost improved over baseline — MAE ↓ 20.3%  ·  RMSE ↓ 18.6%  ·  28-day holdout (d_1942–d_1969)</a:t>
            </a:r>
            <a:endParaRPr lang="en-US" sz="1250" dirty="0"/>
          </a:p>
        </p:txBody>
      </p:sp>
      <p:graphicFrame>
        <p:nvGraphicFramePr>
          <p:cNvPr id="23" name="Chart 0" descr=""/>
          <p:cNvGraphicFramePr/>
          <p:nvPr/>
        </p:nvGraphicFramePr>
        <p:xfrm>
          <a:off x="320040" y="2852928"/>
          <a:ext cx="4389120" cy="2103120"/>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p:nvPr/>
        </p:nvSpPr>
        <p:spPr>
          <a:xfrm>
            <a:off x="4937760" y="2816352"/>
            <a:ext cx="3886200" cy="292608"/>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XGBoost MAE by Category</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937760" y="3145536"/>
          <a:ext cx="3886200" cy="1783080"/>
        </p:xfrm>
        <a:graphic>
          <a:graphicData uri="http://schemas.openxmlformats.org/drawingml/2006/table">
            <a:tbl>
              <a:tblPr/>
              <a:tblGrid>
                <a:gridCol w="1737360"/>
                <a:gridCol w="1078992"/>
                <a:gridCol w="1069848"/>
              </a:tblGrid>
              <a:tr h="44577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Category</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E8456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Baseline MAE</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E8456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XGBoost MAE</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E8456A"/>
                    </a:solidFill>
                  </a:tcPr>
                </a:tc>
              </a:tr>
              <a:tr h="44577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FOODS</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1.94</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1.52</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r h="44577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HOBBIES</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1.71</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1.38</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r h="44577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HOUSEHOLD</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1.81</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1.44</a:t>
                      </a:r>
                      <a:endParaRPr lang="en-US" sz="1050" dirty="0">
                        <a:latin typeface="Calibri" charset="0"/>
                        <a:ea typeface="Calibri" charset="0"/>
                        <a:cs typeface="Calibri" charset="0"/>
                      </a:endParaRPr>
                    </a:p>
                  </a:txBody>
                  <a:tcPr marL="91440" marR="91440" marT="45720" marB="45720">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sp>
      <p:sp>
        <p:nvSpPr>
          <p:cNvPr id="3" name="Shape 1"/>
          <p:cNvSpPr/>
          <p:nvPr/>
        </p:nvSpPr>
        <p:spPr>
          <a:xfrm>
            <a:off x="164592" y="164592"/>
            <a:ext cx="8814816" cy="4814316"/>
          </a:xfrm>
          <a:prstGeom prst="rect">
            <a:avLst/>
          </a:prstGeom>
          <a:ln w="12700">
            <a:solidFill>
              <a:srgbClr val="A07B1E"/>
            </a:solidFill>
            <a:prstDash val="solid"/>
          </a:ln>
        </p:spPr>
      </p:sp>
      <p:sp>
        <p:nvSpPr>
          <p:cNvPr id="4" name="Text 2"/>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10</a:t>
            </a:r>
            <a:endParaRPr lang="en-US" sz="1300" dirty="0"/>
          </a:p>
        </p:txBody>
      </p:sp>
      <p:sp>
        <p:nvSpPr>
          <p:cNvPr id="5" name="Shape 3"/>
          <p:cNvSpPr/>
          <p:nvPr/>
        </p:nvSpPr>
        <p:spPr>
          <a:xfrm>
            <a:off x="320040" y="201168"/>
            <a:ext cx="64008" cy="475488"/>
          </a:xfrm>
          <a:prstGeom prst="rect">
            <a:avLst/>
          </a:prstGeom>
          <a:solidFill>
            <a:srgbClr val="A07B1E"/>
          </a:solidFill>
          <a:ln w="12700">
            <a:solidFill>
              <a:srgbClr val="A07B1E"/>
            </a:solidFill>
            <a:prstDash val="solid"/>
          </a:ln>
        </p:spPr>
      </p:sp>
      <p:sp>
        <p:nvSpPr>
          <p:cNvPr id="6" name="Text 4"/>
          <p:cNvSpPr/>
          <p:nvPr/>
        </p:nvSpPr>
        <p:spPr>
          <a:xfrm>
            <a:off x="457200" y="182880"/>
            <a:ext cx="8412480" cy="530352"/>
          </a:xfrm>
          <a:prstGeom prst="rect">
            <a:avLst/>
          </a:prstGeom>
          <a:noFill/>
          <a:ln/>
        </p:spPr>
        <p:txBody>
          <a:bodyPr wrap="square" lIns="0" tIns="0" rIns="0" bIns="0" rtlCol="0" anchor="ctr"/>
          <a:lstStyle/>
          <a:p>
            <a:pPr indent="0" marL="0">
              <a:buNone/>
            </a:pPr>
            <a:r>
              <a:rPr lang="en-US" sz="2600" b="1" dirty="0">
                <a:solidFill>
                  <a:srgbClr val="1A1A2E"/>
                </a:solidFill>
                <a:latin typeface="Calibri" pitchFamily="34" charset="0"/>
                <a:ea typeface="Calibri" pitchFamily="34" charset="-122"/>
                <a:cs typeface="Calibri" pitchFamily="34" charset="-120"/>
              </a:rPr>
              <a:t>Key Insights</a:t>
            </a:r>
            <a:endParaRPr lang="en-US" sz="2600" dirty="0"/>
          </a:p>
        </p:txBody>
      </p:sp>
      <p:sp>
        <p:nvSpPr>
          <p:cNvPr id="7" name="Shape 5"/>
          <p:cNvSpPr/>
          <p:nvPr/>
        </p:nvSpPr>
        <p:spPr>
          <a:xfrm>
            <a:off x="6583680" y="164592"/>
            <a:ext cx="2514600" cy="365760"/>
          </a:xfrm>
          <a:prstGeom prst="roundRect">
            <a:avLst>
              <a:gd name="adj" fmla="val 15000"/>
            </a:avLst>
          </a:prstGeom>
          <a:solidFill>
            <a:srgbClr val="1B6B7B"/>
          </a:solidFill>
          <a:ln w="12700">
            <a:solidFill>
              <a:srgbClr val="1B6B7B"/>
            </a:solidFill>
            <a:prstDash val="solid"/>
          </a:ln>
        </p:spPr>
      </p:sp>
      <p:sp>
        <p:nvSpPr>
          <p:cNvPr id="8" name="Text 6"/>
          <p:cNvSpPr/>
          <p:nvPr/>
        </p:nvSpPr>
        <p:spPr>
          <a:xfrm>
            <a:off x="6583680" y="164592"/>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Both  ·  Chyna &amp; Yanet</a:t>
            </a:r>
            <a:endParaRPr lang="en-US" sz="1050" dirty="0"/>
          </a:p>
        </p:txBody>
      </p:sp>
      <p:sp>
        <p:nvSpPr>
          <p:cNvPr id="9" name="Shape 7"/>
          <p:cNvSpPr/>
          <p:nvPr/>
        </p:nvSpPr>
        <p:spPr>
          <a:xfrm>
            <a:off x="320040" y="841248"/>
            <a:ext cx="4160520" cy="12344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0" name="Shape 8"/>
          <p:cNvSpPr/>
          <p:nvPr/>
        </p:nvSpPr>
        <p:spPr>
          <a:xfrm>
            <a:off x="320040" y="841248"/>
            <a:ext cx="411480" cy="1234440"/>
          </a:xfrm>
          <a:prstGeom prst="rect">
            <a:avLst/>
          </a:prstGeom>
          <a:solidFill>
            <a:srgbClr val="1B6B7B"/>
          </a:solidFill>
          <a:ln w="12700">
            <a:solidFill>
              <a:srgbClr val="1B6B7B"/>
            </a:solidFill>
            <a:prstDash val="solid"/>
          </a:ln>
        </p:spPr>
      </p:sp>
      <p:sp>
        <p:nvSpPr>
          <p:cNvPr id="11" name="Text 9"/>
          <p:cNvSpPr/>
          <p:nvPr/>
        </p:nvSpPr>
        <p:spPr>
          <a:xfrm>
            <a:off x="320040" y="841248"/>
            <a:ext cx="4114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12" name="Text 10"/>
          <p:cNvSpPr/>
          <p:nvPr/>
        </p:nvSpPr>
        <p:spPr>
          <a:xfrm>
            <a:off x="813816" y="932688"/>
            <a:ext cx="3593592"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FOODS dominates volume</a:t>
            </a:r>
            <a:endParaRPr lang="en-US" sz="1200" dirty="0"/>
          </a:p>
        </p:txBody>
      </p:sp>
      <p:sp>
        <p:nvSpPr>
          <p:cNvPr id="13" name="Text 11"/>
          <p:cNvSpPr/>
          <p:nvPr/>
        </p:nvSpPr>
        <p:spPr>
          <a:xfrm>
            <a:off x="813816" y="1243584"/>
            <a:ext cx="3593592" cy="758952"/>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FOODS category accounts for ~60% of all daily unit sales. HOBBIES and HOUSEHOLD split the remaining 40%. Any meaningful forecast must weight FOODS heavily.</a:t>
            </a:r>
            <a:endParaRPr lang="en-US" sz="1000" dirty="0"/>
          </a:p>
        </p:txBody>
      </p:sp>
      <p:sp>
        <p:nvSpPr>
          <p:cNvPr id="14" name="Shape 12"/>
          <p:cNvSpPr/>
          <p:nvPr/>
        </p:nvSpPr>
        <p:spPr>
          <a:xfrm>
            <a:off x="4709160" y="841248"/>
            <a:ext cx="4160520" cy="12344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15" name="Shape 13"/>
          <p:cNvSpPr/>
          <p:nvPr/>
        </p:nvSpPr>
        <p:spPr>
          <a:xfrm>
            <a:off x="4709160" y="841248"/>
            <a:ext cx="411480" cy="1234440"/>
          </a:xfrm>
          <a:prstGeom prst="rect">
            <a:avLst/>
          </a:prstGeom>
          <a:solidFill>
            <a:srgbClr val="2563A0"/>
          </a:solidFill>
          <a:ln w="12700">
            <a:solidFill>
              <a:srgbClr val="2563A0"/>
            </a:solidFill>
            <a:prstDash val="solid"/>
          </a:ln>
        </p:spPr>
      </p:sp>
      <p:sp>
        <p:nvSpPr>
          <p:cNvPr id="16" name="Text 14"/>
          <p:cNvSpPr/>
          <p:nvPr/>
        </p:nvSpPr>
        <p:spPr>
          <a:xfrm>
            <a:off x="4709160" y="841248"/>
            <a:ext cx="4114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7" name="Text 15"/>
          <p:cNvSpPr/>
          <p:nvPr/>
        </p:nvSpPr>
        <p:spPr>
          <a:xfrm>
            <a:off x="5202936" y="932688"/>
            <a:ext cx="3593592"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Texas stores lead in revenue</a:t>
            </a:r>
            <a:endParaRPr lang="en-US" sz="1200" dirty="0"/>
          </a:p>
        </p:txBody>
      </p:sp>
      <p:sp>
        <p:nvSpPr>
          <p:cNvPr id="18" name="Text 16"/>
          <p:cNvSpPr/>
          <p:nvPr/>
        </p:nvSpPr>
        <p:spPr>
          <a:xfrm>
            <a:off x="5202936" y="1243584"/>
            <a:ext cx="3593592" cy="758952"/>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TX_1, TX_2, TX_3 collectively generate the highest revenue. CA stores show higher average price per unit; TX stores compensate with higher volume.</a:t>
            </a:r>
            <a:endParaRPr lang="en-US" sz="1000" dirty="0"/>
          </a:p>
        </p:txBody>
      </p:sp>
      <p:sp>
        <p:nvSpPr>
          <p:cNvPr id="19" name="Shape 17"/>
          <p:cNvSpPr/>
          <p:nvPr/>
        </p:nvSpPr>
        <p:spPr>
          <a:xfrm>
            <a:off x="320040" y="2167128"/>
            <a:ext cx="4160520" cy="12344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20" name="Shape 18"/>
          <p:cNvSpPr/>
          <p:nvPr/>
        </p:nvSpPr>
        <p:spPr>
          <a:xfrm>
            <a:off x="320040" y="2167128"/>
            <a:ext cx="411480" cy="1234440"/>
          </a:xfrm>
          <a:prstGeom prst="rect">
            <a:avLst/>
          </a:prstGeom>
          <a:solidFill>
            <a:srgbClr val="E07B39"/>
          </a:solidFill>
          <a:ln w="12700">
            <a:solidFill>
              <a:srgbClr val="E07B39"/>
            </a:solidFill>
            <a:prstDash val="solid"/>
          </a:ln>
        </p:spPr>
      </p:sp>
      <p:sp>
        <p:nvSpPr>
          <p:cNvPr id="21" name="Text 19"/>
          <p:cNvSpPr/>
          <p:nvPr/>
        </p:nvSpPr>
        <p:spPr>
          <a:xfrm>
            <a:off x="320040" y="2167128"/>
            <a:ext cx="4114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22" name="Text 20"/>
          <p:cNvSpPr/>
          <p:nvPr/>
        </p:nvSpPr>
        <p:spPr>
          <a:xfrm>
            <a:off x="813816" y="2258568"/>
            <a:ext cx="3593592"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Event days spike HOBBIES sales</a:t>
            </a:r>
            <a:endParaRPr lang="en-US" sz="1200" dirty="0"/>
          </a:p>
        </p:txBody>
      </p:sp>
      <p:sp>
        <p:nvSpPr>
          <p:cNvPr id="23" name="Text 21"/>
          <p:cNvSpPr/>
          <p:nvPr/>
        </p:nvSpPr>
        <p:spPr>
          <a:xfrm>
            <a:off x="813816" y="2569464"/>
            <a:ext cx="3593592" cy="758952"/>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Super Bowl and NBA Finals drive HOBBIES sales up ~38% vs. non-event days. Calendar integration was essential for capturing this signal.</a:t>
            </a:r>
            <a:endParaRPr lang="en-US" sz="1000" dirty="0"/>
          </a:p>
        </p:txBody>
      </p:sp>
      <p:sp>
        <p:nvSpPr>
          <p:cNvPr id="24" name="Shape 22"/>
          <p:cNvSpPr/>
          <p:nvPr/>
        </p:nvSpPr>
        <p:spPr>
          <a:xfrm>
            <a:off x="4709160" y="2167128"/>
            <a:ext cx="4160520" cy="12344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25" name="Shape 23"/>
          <p:cNvSpPr/>
          <p:nvPr/>
        </p:nvSpPr>
        <p:spPr>
          <a:xfrm>
            <a:off x="4709160" y="2167128"/>
            <a:ext cx="411480" cy="1234440"/>
          </a:xfrm>
          <a:prstGeom prst="rect">
            <a:avLst/>
          </a:prstGeom>
          <a:solidFill>
            <a:srgbClr val="E8456A"/>
          </a:solidFill>
          <a:ln w="12700">
            <a:solidFill>
              <a:srgbClr val="E8456A"/>
            </a:solidFill>
            <a:prstDash val="solid"/>
          </a:ln>
        </p:spPr>
      </p:sp>
      <p:sp>
        <p:nvSpPr>
          <p:cNvPr id="26" name="Text 24"/>
          <p:cNvSpPr/>
          <p:nvPr/>
        </p:nvSpPr>
        <p:spPr>
          <a:xfrm>
            <a:off x="4709160" y="2167128"/>
            <a:ext cx="4114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7" name="Text 25"/>
          <p:cNvSpPr/>
          <p:nvPr/>
        </p:nvSpPr>
        <p:spPr>
          <a:xfrm>
            <a:off x="5202936" y="2258568"/>
            <a:ext cx="3593592"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Lag features are the strongest predictors</a:t>
            </a:r>
            <a:endParaRPr lang="en-US" sz="1200" dirty="0"/>
          </a:p>
        </p:txBody>
      </p:sp>
      <p:sp>
        <p:nvSpPr>
          <p:cNvPr id="28" name="Text 26"/>
          <p:cNvSpPr/>
          <p:nvPr/>
        </p:nvSpPr>
        <p:spPr>
          <a:xfrm>
            <a:off x="5202936" y="2569464"/>
            <a:ext cx="3593592" cy="758952"/>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lag_7 (same weekday last week) was the most predictive XGBoost feature. Weekly seasonality is stronger than monthly patterns in this dataset.</a:t>
            </a:r>
            <a:endParaRPr lang="en-US" sz="1000" dirty="0"/>
          </a:p>
        </p:txBody>
      </p:sp>
      <p:sp>
        <p:nvSpPr>
          <p:cNvPr id="29" name="Shape 27"/>
          <p:cNvSpPr/>
          <p:nvPr/>
        </p:nvSpPr>
        <p:spPr>
          <a:xfrm>
            <a:off x="320040" y="3493008"/>
            <a:ext cx="4160520" cy="12344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30" name="Shape 28"/>
          <p:cNvSpPr/>
          <p:nvPr/>
        </p:nvSpPr>
        <p:spPr>
          <a:xfrm>
            <a:off x="320040" y="3493008"/>
            <a:ext cx="411480" cy="1234440"/>
          </a:xfrm>
          <a:prstGeom prst="rect">
            <a:avLst/>
          </a:prstGeom>
          <a:solidFill>
            <a:srgbClr val="0D8A5E"/>
          </a:solidFill>
          <a:ln w="12700">
            <a:solidFill>
              <a:srgbClr val="0D8A5E"/>
            </a:solidFill>
            <a:prstDash val="solid"/>
          </a:ln>
        </p:spPr>
      </p:sp>
      <p:sp>
        <p:nvSpPr>
          <p:cNvPr id="31" name="Text 29"/>
          <p:cNvSpPr/>
          <p:nvPr/>
        </p:nvSpPr>
        <p:spPr>
          <a:xfrm>
            <a:off x="320040" y="3493008"/>
            <a:ext cx="4114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32" name="Text 30"/>
          <p:cNvSpPr/>
          <p:nvPr/>
        </p:nvSpPr>
        <p:spPr>
          <a:xfrm>
            <a:off x="813816" y="3584448"/>
            <a:ext cx="3593592"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ML outperforms naive on all categories</a:t>
            </a:r>
            <a:endParaRPr lang="en-US" sz="1200" dirty="0"/>
          </a:p>
        </p:txBody>
      </p:sp>
      <p:sp>
        <p:nvSpPr>
          <p:cNvPr id="33" name="Text 31"/>
          <p:cNvSpPr/>
          <p:nvPr/>
        </p:nvSpPr>
        <p:spPr>
          <a:xfrm>
            <a:off x="813816" y="3895344"/>
            <a:ext cx="3593592" cy="758952"/>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XGBoost improved over seasonal naive across FOODS, HOBBIES, and HOUSEHOLD -- 20% MAE reduction overall. Feature engineering was the key differentiator.</a:t>
            </a:r>
            <a:endParaRPr lang="en-US" sz="1000" dirty="0"/>
          </a:p>
        </p:txBody>
      </p:sp>
      <p:sp>
        <p:nvSpPr>
          <p:cNvPr id="34" name="Shape 32"/>
          <p:cNvSpPr/>
          <p:nvPr/>
        </p:nvSpPr>
        <p:spPr>
          <a:xfrm>
            <a:off x="4709160" y="3493008"/>
            <a:ext cx="4160520" cy="123444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7000"/>
              </a:srgbClr>
            </a:outerShdw>
          </a:effectLst>
        </p:spPr>
      </p:sp>
      <p:sp>
        <p:nvSpPr>
          <p:cNvPr id="35" name="Shape 33"/>
          <p:cNvSpPr/>
          <p:nvPr/>
        </p:nvSpPr>
        <p:spPr>
          <a:xfrm>
            <a:off x="4709160" y="3493008"/>
            <a:ext cx="411480" cy="1234440"/>
          </a:xfrm>
          <a:prstGeom prst="rect">
            <a:avLst/>
          </a:prstGeom>
          <a:solidFill>
            <a:srgbClr val="A07B1E"/>
          </a:solidFill>
          <a:ln w="12700">
            <a:solidFill>
              <a:srgbClr val="A07B1E"/>
            </a:solidFill>
            <a:prstDash val="solid"/>
          </a:ln>
        </p:spPr>
      </p:sp>
      <p:sp>
        <p:nvSpPr>
          <p:cNvPr id="36" name="Text 34"/>
          <p:cNvSpPr/>
          <p:nvPr/>
        </p:nvSpPr>
        <p:spPr>
          <a:xfrm>
            <a:off x="4709160" y="3493008"/>
            <a:ext cx="411480" cy="12344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37" name="Text 35"/>
          <p:cNvSpPr/>
          <p:nvPr/>
        </p:nvSpPr>
        <p:spPr>
          <a:xfrm>
            <a:off x="5202936" y="3584448"/>
            <a:ext cx="3593592"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65.1M records load cleanly end-to-end</a:t>
            </a:r>
            <a:endParaRPr lang="en-US" sz="1200" dirty="0"/>
          </a:p>
        </p:txBody>
      </p:sp>
      <p:sp>
        <p:nvSpPr>
          <p:cNvPr id="38" name="Text 36"/>
          <p:cNvSpPr/>
          <p:nvPr/>
        </p:nvSpPr>
        <p:spPr>
          <a:xfrm>
            <a:off x="5202936" y="3895344"/>
            <a:ext cx="3593592" cy="758952"/>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Zero null values, zero orphan keys, zero duplicate rows. The warehouse is production-quality. QA log committed to GitHub as permanent audit trail.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w="12700">
            <a:solidFill>
              <a:srgbClr val="0D1117"/>
            </a:solidFill>
            <a:prstDash val="solid"/>
          </a:ln>
        </p:spPr>
      </p:sp>
      <p:sp>
        <p:nvSpPr>
          <p:cNvPr id="3" name="Shape 1"/>
          <p:cNvSpPr/>
          <p:nvPr/>
        </p:nvSpPr>
        <p:spPr>
          <a:xfrm>
            <a:off x="0" y="0"/>
            <a:ext cx="9144000" cy="54864"/>
          </a:xfrm>
          <a:prstGeom prst="rect">
            <a:avLst/>
          </a:prstGeom>
          <a:solidFill>
            <a:srgbClr val="0D8A5E"/>
          </a:solidFill>
          <a:ln w="12700">
            <a:solidFill>
              <a:srgbClr val="0D8A5E"/>
            </a:solidFill>
            <a:prstDash val="solid"/>
          </a:ln>
        </p:spPr>
      </p:sp>
      <p:sp>
        <p:nvSpPr>
          <p:cNvPr id="4" name="Shape 2"/>
          <p:cNvSpPr/>
          <p:nvPr/>
        </p:nvSpPr>
        <p:spPr>
          <a:xfrm>
            <a:off x="0" y="5088636"/>
            <a:ext cx="9144000" cy="54864"/>
          </a:xfrm>
          <a:prstGeom prst="rect">
            <a:avLst/>
          </a:prstGeom>
          <a:solidFill>
            <a:srgbClr val="0D8A5E"/>
          </a:solidFill>
          <a:ln w="12700">
            <a:solidFill>
              <a:srgbClr val="0D8A5E"/>
            </a:solidFill>
            <a:prstDash val="solid"/>
          </a:ln>
        </p:spPr>
      </p:sp>
      <p:sp>
        <p:nvSpPr>
          <p:cNvPr id="5" name="Text 3"/>
          <p:cNvSpPr/>
          <p:nvPr/>
        </p:nvSpPr>
        <p:spPr>
          <a:xfrm>
            <a:off x="457200" y="914400"/>
            <a:ext cx="8229600" cy="1097280"/>
          </a:xfrm>
          <a:prstGeom prst="rect">
            <a:avLst/>
          </a:prstGeom>
          <a:noFill/>
          <a:ln/>
        </p:spPr>
        <p:txBody>
          <a:bodyPr wrap="square" rtlCol="0" anchor="ctr"/>
          <a:lstStyle/>
          <a:p>
            <a:pPr algn="ctr" indent="0" marL="0">
              <a:buNone/>
            </a:pPr>
            <a:r>
              <a:rPr lang="en-US" sz="6400" b="1" dirty="0">
                <a:solidFill>
                  <a:srgbClr val="0D8A5E"/>
                </a:solidFill>
                <a:latin typeface="Consolas" pitchFamily="34" charset="0"/>
                <a:ea typeface="Consolas" pitchFamily="34" charset="-122"/>
                <a:cs typeface="Consolas" pitchFamily="34" charset="-120"/>
              </a:rPr>
              <a:t>LIVE DEMO</a:t>
            </a:r>
            <a:endParaRPr lang="en-US" sz="6400" dirty="0"/>
          </a:p>
        </p:txBody>
      </p:sp>
      <p:sp>
        <p:nvSpPr>
          <p:cNvPr id="6" name="Text 4"/>
          <p:cNvSpPr/>
          <p:nvPr/>
        </p:nvSpPr>
        <p:spPr>
          <a:xfrm>
            <a:off x="457200" y="2011680"/>
            <a:ext cx="8229600" cy="457200"/>
          </a:xfrm>
          <a:prstGeom prst="rect">
            <a:avLst/>
          </a:prstGeom>
          <a:noFill/>
          <a:ln/>
        </p:spPr>
        <p:txBody>
          <a:bodyPr wrap="square" rtlCol="0" anchor="ctr"/>
          <a:lstStyle/>
          <a:p>
            <a:pPr algn="ctr" indent="0" marL="0">
              <a:buNone/>
            </a:pPr>
            <a:r>
              <a:rPr lang="en-US" sz="1800" dirty="0">
                <a:solidFill>
                  <a:srgbClr val="A07B1E"/>
                </a:solidFill>
                <a:latin typeface="Consolas" pitchFamily="34" charset="0"/>
                <a:ea typeface="Consolas" pitchFamily="34" charset="-122"/>
                <a:cs typeface="Consolas" pitchFamily="34" charset="-120"/>
              </a:rPr>
              <a:t>Two queries — one database — real data</a:t>
            </a:r>
            <a:endParaRPr lang="en-US" sz="1800" dirty="0"/>
          </a:p>
        </p:txBody>
      </p:sp>
      <p:sp>
        <p:nvSpPr>
          <p:cNvPr id="7" name="Shape 5"/>
          <p:cNvSpPr/>
          <p:nvPr/>
        </p:nvSpPr>
        <p:spPr>
          <a:xfrm>
            <a:off x="457200" y="2743200"/>
            <a:ext cx="3931920" cy="1737360"/>
          </a:xfrm>
          <a:prstGeom prst="rect">
            <a:avLst/>
          </a:prstGeom>
          <a:solidFill>
            <a:srgbClr val="1A1A2E"/>
          </a:solidFill>
          <a:ln w="25400">
            <a:solidFill>
              <a:srgbClr val="2563A0"/>
            </a:solidFill>
            <a:prstDash val="solid"/>
          </a:ln>
        </p:spPr>
      </p:sp>
      <p:sp>
        <p:nvSpPr>
          <p:cNvPr id="8" name="Text 6"/>
          <p:cNvSpPr/>
          <p:nvPr/>
        </p:nvSpPr>
        <p:spPr>
          <a:xfrm>
            <a:off x="457200" y="2816352"/>
            <a:ext cx="3931920" cy="347472"/>
          </a:xfrm>
          <a:prstGeom prst="rect">
            <a:avLst/>
          </a:prstGeom>
          <a:noFill/>
          <a:ln/>
        </p:spPr>
        <p:txBody>
          <a:bodyPr wrap="square" lIns="0" tIns="0" rIns="0" bIns="0" rtlCol="0" anchor="ctr"/>
          <a:lstStyle/>
          <a:p>
            <a:pPr algn="ctr" indent="0" marL="0">
              <a:buNone/>
            </a:pPr>
            <a:r>
              <a:rPr lang="en-US" sz="1600" b="1" dirty="0">
                <a:solidFill>
                  <a:srgbClr val="2563A0"/>
                </a:solidFill>
                <a:latin typeface="Consolas" pitchFamily="34" charset="0"/>
                <a:ea typeface="Consolas" pitchFamily="34" charset="-122"/>
                <a:cs typeface="Consolas" pitchFamily="34" charset="-120"/>
              </a:rPr>
              <a:t>Demo 1</a:t>
            </a:r>
            <a:endParaRPr lang="en-US" sz="1600" dirty="0"/>
          </a:p>
        </p:txBody>
      </p:sp>
      <p:sp>
        <p:nvSpPr>
          <p:cNvPr id="9" name="Text 7"/>
          <p:cNvSpPr/>
          <p:nvPr/>
        </p:nvSpPr>
        <p:spPr>
          <a:xfrm>
            <a:off x="457200" y="3200400"/>
            <a:ext cx="3931920" cy="438912"/>
          </a:xfrm>
          <a:prstGeom prst="rect">
            <a:avLst/>
          </a:prstGeom>
          <a:noFill/>
          <a:ln/>
        </p:spPr>
        <p:txBody>
          <a:bodyPr wrap="square" lIns="0" tIns="0" rIns="0" bIns="0"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OLAP  ·  Top stores by revenue</a:t>
            </a:r>
            <a:endParaRPr lang="en-US" sz="1200" dirty="0"/>
          </a:p>
        </p:txBody>
      </p:sp>
      <p:sp>
        <p:nvSpPr>
          <p:cNvPr id="10" name="Text 8"/>
          <p:cNvSpPr/>
          <p:nvPr/>
        </p:nvSpPr>
        <p:spPr>
          <a:xfrm>
            <a:off x="457200" y="3675888"/>
            <a:ext cx="3931920" cy="457200"/>
          </a:xfrm>
          <a:prstGeom prst="rect">
            <a:avLst/>
          </a:prstGeom>
          <a:noFill/>
          <a:ln/>
        </p:spPr>
        <p:txBody>
          <a:bodyPr wrap="square" lIns="0" tIns="0" rIns="0" bIns="0" rtlCol="0" anchor="ctr"/>
          <a:lstStyle/>
          <a:p>
            <a:pPr algn="ctr" indent="0" marL="0">
              <a:buNone/>
            </a:pPr>
            <a:r>
              <a:rPr lang="en-US" sz="1100" i="1" dirty="0">
                <a:solidFill>
                  <a:srgbClr val="2563A0"/>
                </a:solidFill>
                <a:latin typeface="Calibri" pitchFamily="34" charset="0"/>
                <a:ea typeface="Calibri" pitchFamily="34" charset="-122"/>
                <a:cs typeface="Calibri" pitchFamily="34" charset="-120"/>
              </a:rPr>
              <a:t>▶  Chyna runs</a:t>
            </a:r>
            <a:endParaRPr lang="en-US" sz="1100" dirty="0"/>
          </a:p>
        </p:txBody>
      </p:sp>
      <p:sp>
        <p:nvSpPr>
          <p:cNvPr id="11" name="Shape 9"/>
          <p:cNvSpPr/>
          <p:nvPr/>
        </p:nvSpPr>
        <p:spPr>
          <a:xfrm>
            <a:off x="4846320" y="2743200"/>
            <a:ext cx="3931920" cy="1737360"/>
          </a:xfrm>
          <a:prstGeom prst="rect">
            <a:avLst/>
          </a:prstGeom>
          <a:solidFill>
            <a:srgbClr val="1A1A2E"/>
          </a:solidFill>
          <a:ln w="25400">
            <a:solidFill>
              <a:srgbClr val="E8456A"/>
            </a:solidFill>
            <a:prstDash val="solid"/>
          </a:ln>
        </p:spPr>
      </p:sp>
      <p:sp>
        <p:nvSpPr>
          <p:cNvPr id="12" name="Text 10"/>
          <p:cNvSpPr/>
          <p:nvPr/>
        </p:nvSpPr>
        <p:spPr>
          <a:xfrm>
            <a:off x="4846320" y="2816352"/>
            <a:ext cx="3931920" cy="347472"/>
          </a:xfrm>
          <a:prstGeom prst="rect">
            <a:avLst/>
          </a:prstGeom>
          <a:noFill/>
          <a:ln/>
        </p:spPr>
        <p:txBody>
          <a:bodyPr wrap="square" lIns="0" tIns="0" rIns="0" bIns="0" rtlCol="0" anchor="ctr"/>
          <a:lstStyle/>
          <a:p>
            <a:pPr algn="ctr" indent="0" marL="0">
              <a:buNone/>
            </a:pPr>
            <a:r>
              <a:rPr lang="en-US" sz="1600" b="1" dirty="0">
                <a:solidFill>
                  <a:srgbClr val="E8456A"/>
                </a:solidFill>
                <a:latin typeface="Consolas" pitchFamily="34" charset="0"/>
                <a:ea typeface="Consolas" pitchFamily="34" charset="-122"/>
                <a:cs typeface="Consolas" pitchFamily="34" charset="-120"/>
              </a:rPr>
              <a:t>Demo 2</a:t>
            </a:r>
            <a:endParaRPr lang="en-US" sz="1600" dirty="0"/>
          </a:p>
        </p:txBody>
      </p:sp>
      <p:sp>
        <p:nvSpPr>
          <p:cNvPr id="13" name="Text 11"/>
          <p:cNvSpPr/>
          <p:nvPr/>
        </p:nvSpPr>
        <p:spPr>
          <a:xfrm>
            <a:off x="4846320" y="3200400"/>
            <a:ext cx="3931920" cy="438912"/>
          </a:xfrm>
          <a:prstGeom prst="rect">
            <a:avLst/>
          </a:prstGeom>
          <a:noFill/>
          <a:ln/>
        </p:spPr>
        <p:txBody>
          <a:bodyPr wrap="square" lIns="0" tIns="0" rIns="0" bIns="0" rtlCol="0" anchor="ctr"/>
          <a:lstStyle/>
          <a:p>
            <a:pPr algn="ctr" indent="0" marL="0">
              <a:buNone/>
            </a:pPr>
            <a:r>
              <a:rPr lang="en-US" sz="1200" dirty="0">
                <a:solidFill>
                  <a:srgbClr val="FFFFFF"/>
                </a:solidFill>
                <a:latin typeface="Consolas" pitchFamily="34" charset="0"/>
                <a:ea typeface="Consolas" pitchFamily="34" charset="-122"/>
                <a:cs typeface="Consolas" pitchFamily="34" charset="-120"/>
              </a:rPr>
              <a:t>Forecast  ·  predictions_daily retrieval</a:t>
            </a:r>
            <a:endParaRPr lang="en-US" sz="1200" dirty="0"/>
          </a:p>
        </p:txBody>
      </p:sp>
      <p:sp>
        <p:nvSpPr>
          <p:cNvPr id="14" name="Text 12"/>
          <p:cNvSpPr/>
          <p:nvPr/>
        </p:nvSpPr>
        <p:spPr>
          <a:xfrm>
            <a:off x="4846320" y="3675888"/>
            <a:ext cx="3931920" cy="457200"/>
          </a:xfrm>
          <a:prstGeom prst="rect">
            <a:avLst/>
          </a:prstGeom>
          <a:noFill/>
          <a:ln/>
        </p:spPr>
        <p:txBody>
          <a:bodyPr wrap="square" lIns="0" tIns="0" rIns="0" bIns="0" rtlCol="0" anchor="ctr"/>
          <a:lstStyle/>
          <a:p>
            <a:pPr algn="ctr" indent="0" marL="0">
              <a:buNone/>
            </a:pPr>
            <a:r>
              <a:rPr lang="en-US" sz="1100" i="1" dirty="0">
                <a:solidFill>
                  <a:srgbClr val="E8456A"/>
                </a:solidFill>
                <a:latin typeface="Calibri" pitchFamily="34" charset="0"/>
                <a:ea typeface="Calibri" pitchFamily="34" charset="-122"/>
                <a:cs typeface="Calibri" pitchFamily="34" charset="-120"/>
              </a:rPr>
              <a:t>▶  Yanet runs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563A0"/>
          </a:solidFill>
          <a:ln w="12700">
            <a:solidFill>
              <a:srgbClr val="2563A0"/>
            </a:solidFill>
            <a:prstDash val="solid"/>
          </a:ln>
        </p:spPr>
      </p:sp>
      <p:sp>
        <p:nvSpPr>
          <p:cNvPr id="3" name="Text 1"/>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12</a:t>
            </a:r>
            <a:endParaRPr lang="en-US" sz="1300" dirty="0"/>
          </a:p>
        </p:txBody>
      </p:sp>
      <p:sp>
        <p:nvSpPr>
          <p:cNvPr id="4" name="Text 2"/>
          <p:cNvSpPr/>
          <p:nvPr/>
        </p:nvSpPr>
        <p:spPr>
          <a:xfrm>
            <a:off x="274320" y="91440"/>
            <a:ext cx="8229600" cy="457200"/>
          </a:xfrm>
          <a:prstGeom prst="rect">
            <a:avLst/>
          </a:prstGeom>
          <a:noFill/>
          <a:ln/>
        </p:spPr>
        <p:txBody>
          <a:bodyPr wrap="square" rtlCol="0" anchor="ctr"/>
          <a:lstStyle/>
          <a:p>
            <a:pPr indent="0" marL="0">
              <a:buNone/>
            </a:pPr>
            <a:r>
              <a:rPr lang="en-US" sz="1800" b="1" dirty="0">
                <a:solidFill>
                  <a:srgbClr val="2563A0"/>
                </a:solidFill>
                <a:latin typeface="Calibri" pitchFamily="34" charset="0"/>
                <a:ea typeface="Calibri" pitchFamily="34" charset="-122"/>
                <a:cs typeface="Calibri" pitchFamily="34" charset="-120"/>
              </a:rPr>
              <a:t>Demo 1  —  OLAP: Top 5 Stores by Revenue</a:t>
            </a:r>
            <a:endParaRPr lang="en-US" sz="1800" dirty="0"/>
          </a:p>
        </p:txBody>
      </p:sp>
      <p:sp>
        <p:nvSpPr>
          <p:cNvPr id="5" name="Shape 3"/>
          <p:cNvSpPr/>
          <p:nvPr/>
        </p:nvSpPr>
        <p:spPr>
          <a:xfrm>
            <a:off x="6949440" y="91440"/>
            <a:ext cx="2514600" cy="365760"/>
          </a:xfrm>
          <a:prstGeom prst="roundRect">
            <a:avLst>
              <a:gd name="adj" fmla="val 15000"/>
            </a:avLst>
          </a:prstGeom>
          <a:solidFill>
            <a:srgbClr val="2563A0"/>
          </a:solidFill>
          <a:ln w="12700">
            <a:solidFill>
              <a:srgbClr val="2563A0"/>
            </a:solidFill>
            <a:prstDash val="solid"/>
          </a:ln>
        </p:spPr>
      </p:sp>
      <p:sp>
        <p:nvSpPr>
          <p:cNvPr id="6" name="Text 4"/>
          <p:cNvSpPr/>
          <p:nvPr/>
        </p:nvSpPr>
        <p:spPr>
          <a:xfrm>
            <a:off x="6949440" y="91440"/>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Warehouse Lead  ·  Chyna runs</a:t>
            </a:r>
            <a:endParaRPr lang="en-US" sz="1050" dirty="0"/>
          </a:p>
        </p:txBody>
      </p:sp>
      <p:sp>
        <p:nvSpPr>
          <p:cNvPr id="7" name="Shape 5"/>
          <p:cNvSpPr/>
          <p:nvPr/>
        </p:nvSpPr>
        <p:spPr>
          <a:xfrm>
            <a:off x="274320" y="658368"/>
            <a:ext cx="8595360" cy="2212848"/>
          </a:xfrm>
          <a:prstGeom prst="rect">
            <a:avLst/>
          </a:prstGeom>
          <a:solidFill>
            <a:srgbClr val="161B22"/>
          </a:solidFill>
          <a:ln w="19050">
            <a:solidFill>
              <a:srgbClr val="2563A0"/>
            </a:solidFill>
            <a:prstDash val="solid"/>
          </a:ln>
        </p:spPr>
      </p:sp>
      <p:sp>
        <p:nvSpPr>
          <p:cNvPr id="8" name="Text 6"/>
          <p:cNvSpPr/>
          <p:nvPr/>
        </p:nvSpPr>
        <p:spPr>
          <a:xfrm>
            <a:off x="411480" y="694944"/>
            <a:ext cx="8321040" cy="2139696"/>
          </a:xfrm>
          <a:prstGeom prst="rect">
            <a:avLst/>
          </a:prstGeom>
          <a:noFill/>
          <a:ln/>
        </p:spPr>
        <p:txBody>
          <a:bodyPr wrap="square" lIns="0" tIns="0" rIns="0" bIns="0" rtlCol="0" anchor="t"/>
          <a:lstStyle/>
          <a:p>
            <a:pPr indent="0" marL="0">
              <a:buNone/>
            </a:pPr>
            <a:r>
              <a:rPr lang="en-US" sz="1000" dirty="0">
                <a:solidFill>
                  <a:srgbClr val="6E7681"/>
                </a:solidFill>
                <a:latin typeface="Consolas" pitchFamily="34" charset="0"/>
                <a:ea typeface="Consolas" pitchFamily="34" charset="-122"/>
                <a:cs typeface="Consolas" pitchFamily="34" charset="-120"/>
              </a:rPr>
              <a:t>-- OLAP Query: Top 5 Stores by Total Revenue (units × price)
</a:t>
            </a:r>
            <a:pPr indent="0" marL="0">
              <a:buNone/>
            </a:pPr>
            <a:r>
              <a:rPr lang="en-US" sz="1000" dirty="0">
                <a:solidFill>
                  <a:srgbClr val="FF7B72"/>
                </a:solidFill>
                <a:latin typeface="Consolas" pitchFamily="34" charset="0"/>
                <a:ea typeface="Consolas" pitchFamily="34" charset="-122"/>
                <a:cs typeface="Consolas" pitchFamily="34" charset="-120"/>
              </a:rPr>
              <a:t>SELECT </a:t>
            </a:r>
            <a:pPr indent="0" marL="0">
              <a:buNone/>
            </a:pPr>
            <a:r>
              <a:rPr lang="en-US" sz="1000" dirty="0">
                <a:solidFill>
                  <a:srgbClr val="E6EDF3"/>
                </a:solidFill>
                <a:latin typeface="Consolas" pitchFamily="34" charset="0"/>
                <a:ea typeface="Consolas" pitchFamily="34" charset="-122"/>
                <a:cs typeface="Consolas" pitchFamily="34" charset="-120"/>
              </a:rPr>
              <a:t>s.store_id,
</a:t>
            </a:r>
            <a:pPr indent="0" marL="0">
              <a:buNone/>
            </a:pPr>
            <a:r>
              <a:rPr lang="en-US" sz="1000" dirty="0">
                <a:solidFill>
                  <a:srgbClr val="E6EDF3"/>
                </a:solidFill>
                <a:latin typeface="Consolas" pitchFamily="34" charset="0"/>
                <a:ea typeface="Consolas" pitchFamily="34" charset="-122"/>
                <a:cs typeface="Consolas" pitchFamily="34" charset="-120"/>
              </a:rPr>
              <a:t>       </a:t>
            </a:r>
            <a:pPr indent="0" marL="0">
              <a:buNone/>
            </a:pPr>
            <a:r>
              <a:rPr lang="en-US" sz="1000" dirty="0">
                <a:solidFill>
                  <a:srgbClr val="D2A8FF"/>
                </a:solidFill>
                <a:latin typeface="Consolas" pitchFamily="34" charset="0"/>
                <a:ea typeface="Consolas" pitchFamily="34" charset="-122"/>
                <a:cs typeface="Consolas" pitchFamily="34" charset="-120"/>
              </a:rPr>
              <a:t>SUM</a:t>
            </a:r>
            <a:pPr indent="0" marL="0">
              <a:buNone/>
            </a:pPr>
            <a:r>
              <a:rPr lang="en-US" sz="1000" dirty="0">
                <a:solidFill>
                  <a:srgbClr val="E6EDF3"/>
                </a:solidFill>
                <a:latin typeface="Consolas" pitchFamily="34" charset="0"/>
                <a:ea typeface="Consolas" pitchFamily="34" charset="-122"/>
                <a:cs typeface="Consolas" pitchFamily="34" charset="-120"/>
              </a:rPr>
              <a:t>(f.units_sold * p.sell_price) </a:t>
            </a:r>
            <a:pPr indent="0" marL="0">
              <a:buNone/>
            </a:pPr>
            <a:r>
              <a:rPr lang="en-US" sz="1000" dirty="0">
                <a:solidFill>
                  <a:srgbClr val="FF7B72"/>
                </a:solidFill>
                <a:latin typeface="Consolas" pitchFamily="34" charset="0"/>
                <a:ea typeface="Consolas" pitchFamily="34" charset="-122"/>
                <a:cs typeface="Consolas" pitchFamily="34" charset="-120"/>
              </a:rPr>
              <a:t>AS </a:t>
            </a:r>
            <a:pPr indent="0" marL="0">
              <a:buNone/>
            </a:pPr>
            <a:r>
              <a:rPr lang="en-US" sz="1000" dirty="0">
                <a:solidFill>
                  <a:srgbClr val="79C0FF"/>
                </a:solidFill>
                <a:latin typeface="Consolas" pitchFamily="34" charset="0"/>
                <a:ea typeface="Consolas" pitchFamily="34" charset="-122"/>
                <a:cs typeface="Consolas" pitchFamily="34" charset="-120"/>
              </a:rPr>
              <a:t>total_revenue,
</a:t>
            </a:r>
            <a:pPr indent="0" marL="0">
              <a:buNone/>
            </a:pPr>
            <a:r>
              <a:rPr lang="en-US" sz="1000" dirty="0">
                <a:solidFill>
                  <a:srgbClr val="E6EDF3"/>
                </a:solidFill>
                <a:latin typeface="Consolas" pitchFamily="34" charset="0"/>
                <a:ea typeface="Consolas" pitchFamily="34" charset="-122"/>
                <a:cs typeface="Consolas" pitchFamily="34" charset="-120"/>
              </a:rPr>
              <a:t>       </a:t>
            </a:r>
            <a:pPr indent="0" marL="0">
              <a:buNone/>
            </a:pPr>
            <a:r>
              <a:rPr lang="en-US" sz="1000" dirty="0">
                <a:solidFill>
                  <a:srgbClr val="D2A8FF"/>
                </a:solidFill>
                <a:latin typeface="Consolas" pitchFamily="34" charset="0"/>
                <a:ea typeface="Consolas" pitchFamily="34" charset="-122"/>
                <a:cs typeface="Consolas" pitchFamily="34" charset="-120"/>
              </a:rPr>
              <a:t>RANK() OVER (ORDER BY SUM</a:t>
            </a:r>
            <a:pPr indent="0" marL="0">
              <a:buNone/>
            </a:pPr>
            <a:r>
              <a:rPr lang="en-US" sz="1000" dirty="0">
                <a:solidFill>
                  <a:srgbClr val="E6EDF3"/>
                </a:solidFill>
                <a:latin typeface="Consolas" pitchFamily="34" charset="0"/>
                <a:ea typeface="Consolas" pitchFamily="34" charset="-122"/>
                <a:cs typeface="Consolas" pitchFamily="34" charset="-120"/>
              </a:rPr>
              <a:t>(f.units_sold * p.sell_price) </a:t>
            </a:r>
            <a:pPr indent="0" marL="0">
              <a:buNone/>
            </a:pPr>
            <a:r>
              <a:rPr lang="en-US" sz="1000" dirty="0">
                <a:solidFill>
                  <a:srgbClr val="FF7B72"/>
                </a:solidFill>
                <a:latin typeface="Consolas" pitchFamily="34" charset="0"/>
                <a:ea typeface="Consolas" pitchFamily="34" charset="-122"/>
                <a:cs typeface="Consolas" pitchFamily="34" charset="-120"/>
              </a:rPr>
              <a:t>DESC) AS </a:t>
            </a:r>
            <a:pPr indent="0" marL="0">
              <a:buNone/>
            </a:pPr>
            <a:r>
              <a:rPr lang="en-US" sz="1000" dirty="0">
                <a:solidFill>
                  <a:srgbClr val="79C0FF"/>
                </a:solidFill>
                <a:latin typeface="Consolas" pitchFamily="34" charset="0"/>
                <a:ea typeface="Consolas" pitchFamily="34" charset="-122"/>
                <a:cs typeface="Consolas" pitchFamily="34" charset="-120"/>
              </a:rPr>
              <a:t>revenue_rank
</a:t>
            </a:r>
            <a:pPr indent="0" marL="0">
              <a:buNone/>
            </a:pPr>
            <a:r>
              <a:rPr lang="en-US" sz="1000" dirty="0">
                <a:solidFill>
                  <a:srgbClr val="FF7B72"/>
                </a:solidFill>
                <a:latin typeface="Consolas" pitchFamily="34" charset="0"/>
                <a:ea typeface="Consolas" pitchFamily="34" charset="-122"/>
                <a:cs typeface="Consolas" pitchFamily="34" charset="-120"/>
              </a:rPr>
              <a:t>FROM </a:t>
            </a:r>
            <a:pPr indent="0" marL="0">
              <a:buNone/>
            </a:pPr>
            <a:r>
              <a:rPr lang="en-US" sz="1000" dirty="0">
                <a:solidFill>
                  <a:srgbClr val="E6EDF3"/>
                </a:solidFill>
                <a:latin typeface="Consolas" pitchFamily="34" charset="0"/>
                <a:ea typeface="Consolas" pitchFamily="34" charset="-122"/>
                <a:cs typeface="Consolas" pitchFamily="34" charset="-120"/>
              </a:rPr>
              <a:t>fact_sales_daily f
</a:t>
            </a:r>
            <a:pPr indent="0" marL="0">
              <a:buNone/>
            </a:pPr>
            <a:r>
              <a:rPr lang="en-US" sz="1000" dirty="0">
                <a:solidFill>
                  <a:srgbClr val="FF7B72"/>
                </a:solidFill>
                <a:latin typeface="Consolas" pitchFamily="34" charset="0"/>
                <a:ea typeface="Consolas" pitchFamily="34" charset="-122"/>
                <a:cs typeface="Consolas" pitchFamily="34" charset="-120"/>
              </a:rPr>
              <a:t>JOIN </a:t>
            </a:r>
            <a:pPr indent="0" marL="0">
              <a:buNone/>
            </a:pPr>
            <a:r>
              <a:rPr lang="en-US" sz="1000" dirty="0">
                <a:solidFill>
                  <a:srgbClr val="E6EDF3"/>
                </a:solidFill>
                <a:latin typeface="Consolas" pitchFamily="34" charset="0"/>
                <a:ea typeface="Consolas" pitchFamily="34" charset="-122"/>
                <a:cs typeface="Consolas" pitchFamily="34" charset="-120"/>
              </a:rPr>
              <a:t>fact_price_weekly p </a:t>
            </a:r>
            <a:pPr indent="0" marL="0">
              <a:buNone/>
            </a:pPr>
            <a:r>
              <a:rPr lang="en-US" sz="1000" dirty="0">
                <a:solidFill>
                  <a:srgbClr val="FF7B72"/>
                </a:solidFill>
                <a:latin typeface="Consolas" pitchFamily="34" charset="0"/>
                <a:ea typeface="Consolas" pitchFamily="34" charset="-122"/>
                <a:cs typeface="Consolas" pitchFamily="34" charset="-120"/>
              </a:rPr>
              <a:t>ON </a:t>
            </a:r>
            <a:pPr indent="0" marL="0">
              <a:buNone/>
            </a:pPr>
            <a:r>
              <a:rPr lang="en-US" sz="1000" dirty="0">
                <a:solidFill>
                  <a:srgbClr val="E6EDF3"/>
                </a:solidFill>
                <a:latin typeface="Consolas" pitchFamily="34" charset="0"/>
                <a:ea typeface="Consolas" pitchFamily="34" charset="-122"/>
                <a:cs typeface="Consolas" pitchFamily="34" charset="-120"/>
              </a:rPr>
              <a:t>f.item_id = p.item_id
</a:t>
            </a:r>
            <a:pPr indent="0" marL="0">
              <a:buNone/>
            </a:pPr>
            <a:r>
              <a:rPr lang="en-US" sz="1000" dirty="0">
                <a:solidFill>
                  <a:srgbClr val="FF7B72"/>
                </a:solidFill>
                <a:latin typeface="Consolas" pitchFamily="34" charset="0"/>
                <a:ea typeface="Consolas" pitchFamily="34" charset="-122"/>
                <a:cs typeface="Consolas" pitchFamily="34" charset="-120"/>
              </a:rPr>
              <a:t>  AND </a:t>
            </a:r>
            <a:pPr indent="0" marL="0">
              <a:buNone/>
            </a:pPr>
            <a:r>
              <a:rPr lang="en-US" sz="1000" dirty="0">
                <a:solidFill>
                  <a:srgbClr val="E6EDF3"/>
                </a:solidFill>
                <a:latin typeface="Consolas" pitchFamily="34" charset="0"/>
                <a:ea typeface="Consolas" pitchFamily="34" charset="-122"/>
                <a:cs typeface="Consolas" pitchFamily="34" charset="-120"/>
              </a:rPr>
              <a:t>f.store_id = p.store_id
</a:t>
            </a:r>
            <a:pPr indent="0" marL="0">
              <a:buNone/>
            </a:pPr>
            <a:r>
              <a:rPr lang="en-US" sz="1000" dirty="0">
                <a:solidFill>
                  <a:srgbClr val="FF7B72"/>
                </a:solidFill>
                <a:latin typeface="Consolas" pitchFamily="34" charset="0"/>
                <a:ea typeface="Consolas" pitchFamily="34" charset="-122"/>
                <a:cs typeface="Consolas" pitchFamily="34" charset="-120"/>
              </a:rPr>
              <a:t>JOIN </a:t>
            </a:r>
            <a:pPr indent="0" marL="0">
              <a:buNone/>
            </a:pPr>
            <a:r>
              <a:rPr lang="en-US" sz="1000" dirty="0">
                <a:solidFill>
                  <a:srgbClr val="E6EDF3"/>
                </a:solidFill>
                <a:latin typeface="Consolas" pitchFamily="34" charset="0"/>
                <a:ea typeface="Consolas" pitchFamily="34" charset="-122"/>
                <a:cs typeface="Consolas" pitchFamily="34" charset="-120"/>
              </a:rPr>
              <a:t>dim_store s </a:t>
            </a:r>
            <a:pPr indent="0" marL="0">
              <a:buNone/>
            </a:pPr>
            <a:r>
              <a:rPr lang="en-US" sz="1000" dirty="0">
                <a:solidFill>
                  <a:srgbClr val="FF7B72"/>
                </a:solidFill>
                <a:latin typeface="Consolas" pitchFamily="34" charset="0"/>
                <a:ea typeface="Consolas" pitchFamily="34" charset="-122"/>
                <a:cs typeface="Consolas" pitchFamily="34" charset="-120"/>
              </a:rPr>
              <a:t>ON </a:t>
            </a:r>
            <a:pPr indent="0" marL="0">
              <a:buNone/>
            </a:pPr>
            <a:r>
              <a:rPr lang="en-US" sz="1000" dirty="0">
                <a:solidFill>
                  <a:srgbClr val="E6EDF3"/>
                </a:solidFill>
                <a:latin typeface="Consolas" pitchFamily="34" charset="0"/>
                <a:ea typeface="Consolas" pitchFamily="34" charset="-122"/>
                <a:cs typeface="Consolas" pitchFamily="34" charset="-120"/>
              </a:rPr>
              <a:t>f.store_id = s.store_id
</a:t>
            </a:r>
            <a:pPr indent="0" marL="0">
              <a:buNone/>
            </a:pPr>
            <a:r>
              <a:rPr lang="en-US" sz="1000" dirty="0">
                <a:solidFill>
                  <a:srgbClr val="FF7B72"/>
                </a:solidFill>
                <a:latin typeface="Consolas" pitchFamily="34" charset="0"/>
                <a:ea typeface="Consolas" pitchFamily="34" charset="-122"/>
                <a:cs typeface="Consolas" pitchFamily="34" charset="-120"/>
              </a:rPr>
              <a:t>GROUP BY </a:t>
            </a:r>
            <a:pPr indent="0" marL="0">
              <a:buNone/>
            </a:pPr>
            <a:r>
              <a:rPr lang="en-US" sz="1000" dirty="0">
                <a:solidFill>
                  <a:srgbClr val="E6EDF3"/>
                </a:solidFill>
                <a:latin typeface="Consolas" pitchFamily="34" charset="0"/>
                <a:ea typeface="Consolas" pitchFamily="34" charset="-122"/>
                <a:cs typeface="Consolas" pitchFamily="34" charset="-120"/>
              </a:rPr>
              <a:t>s.store_id
</a:t>
            </a:r>
            <a:pPr indent="0" marL="0">
              <a:buNone/>
            </a:pPr>
            <a:r>
              <a:rPr lang="en-US" sz="1000" dirty="0">
                <a:solidFill>
                  <a:srgbClr val="FF7B72"/>
                </a:solidFill>
                <a:latin typeface="Consolas" pitchFamily="34" charset="0"/>
                <a:ea typeface="Consolas" pitchFamily="34" charset="-122"/>
                <a:cs typeface="Consolas" pitchFamily="34" charset="-120"/>
              </a:rPr>
              <a:t>ORDER BY </a:t>
            </a:r>
            <a:pPr indent="0" marL="0">
              <a:buNone/>
            </a:pPr>
            <a:r>
              <a:rPr lang="en-US" sz="1000" dirty="0">
                <a:solidFill>
                  <a:srgbClr val="E6EDF3"/>
                </a:solidFill>
                <a:latin typeface="Consolas" pitchFamily="34" charset="0"/>
                <a:ea typeface="Consolas" pitchFamily="34" charset="-122"/>
                <a:cs typeface="Consolas" pitchFamily="34" charset="-120"/>
              </a:rPr>
              <a:t>total_revenue </a:t>
            </a:r>
            <a:pPr indent="0" marL="0">
              <a:buNone/>
            </a:pPr>
            <a:r>
              <a:rPr lang="en-US" sz="1000" dirty="0">
                <a:solidFill>
                  <a:srgbClr val="E6EDF3"/>
                </a:solidFill>
                <a:latin typeface="Consolas" pitchFamily="34" charset="0"/>
                <a:ea typeface="Consolas" pitchFamily="34" charset="-122"/>
                <a:cs typeface="Consolas" pitchFamily="34" charset="-120"/>
              </a:rPr>
              <a:t>DESC
</a:t>
            </a:r>
            <a:pPr indent="0" marL="0">
              <a:buNone/>
            </a:pPr>
            <a:r>
              <a:rPr lang="en-US" sz="1000" dirty="0">
                <a:solidFill>
                  <a:srgbClr val="FF7B72"/>
                </a:solidFill>
                <a:latin typeface="Consolas" pitchFamily="34" charset="0"/>
                <a:ea typeface="Consolas" pitchFamily="34" charset="-122"/>
                <a:cs typeface="Consolas" pitchFamily="34" charset="-120"/>
              </a:rPr>
              <a:t>LIMIT </a:t>
            </a:r>
            <a:pPr indent="0" marL="0">
              <a:buNone/>
            </a:pPr>
            <a:r>
              <a:rPr lang="en-US" sz="1000" dirty="0">
                <a:solidFill>
                  <a:srgbClr val="E6EDF3"/>
                </a:solidFill>
                <a:latin typeface="Consolas" pitchFamily="34" charset="0"/>
                <a:ea typeface="Consolas" pitchFamily="34" charset="-122"/>
                <a:cs typeface="Consolas" pitchFamily="34" charset="-120"/>
              </a:rPr>
              <a:t>5;</a:t>
            </a:r>
            <a:endParaRPr lang="en-US" sz="1000" dirty="0"/>
          </a:p>
        </p:txBody>
      </p:sp>
      <p:sp>
        <p:nvSpPr>
          <p:cNvPr id="9" name="Text 7"/>
          <p:cNvSpPr/>
          <p:nvPr/>
        </p:nvSpPr>
        <p:spPr>
          <a:xfrm>
            <a:off x="274320" y="2944368"/>
            <a:ext cx="2743200" cy="274320"/>
          </a:xfrm>
          <a:prstGeom prst="rect">
            <a:avLst/>
          </a:prstGeom>
          <a:noFill/>
          <a:ln/>
        </p:spPr>
        <p:txBody>
          <a:bodyPr wrap="square" lIns="0" tIns="0" rIns="0" bIns="0" rtlCol="0" anchor="ctr"/>
          <a:lstStyle/>
          <a:p>
            <a:pPr indent="0" marL="0">
              <a:buNone/>
            </a:pPr>
            <a:r>
              <a:rPr lang="en-US" sz="1200" b="1" dirty="0">
                <a:solidFill>
                  <a:srgbClr val="A07B1E"/>
                </a:solidFill>
                <a:latin typeface="Calibri" pitchFamily="34" charset="0"/>
                <a:ea typeface="Calibri" pitchFamily="34" charset="-122"/>
                <a:cs typeface="Calibri" pitchFamily="34" charset="-120"/>
              </a:rPr>
              <a:t>Expected Output: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74320" y="3255264"/>
          <a:ext cx="5669280" cy="1691640"/>
        </p:xfrm>
        <a:graphic>
          <a:graphicData uri="http://schemas.openxmlformats.org/drawingml/2006/table">
            <a:tbl>
              <a:tblPr/>
              <a:tblGrid>
                <a:gridCol w="1645920"/>
                <a:gridCol w="2103120"/>
                <a:gridCol w="1920240"/>
              </a:tblGrid>
              <a:tr h="281940">
                <a:tc>
                  <a:txBody>
                    <a:bodyPr/>
                    <a:lstStyle/>
                    <a:p>
                      <a:pPr indent="0" marL="0">
                        <a:buNone/>
                      </a:pPr>
                      <a:r>
                        <a:rPr lang="en-US" sz="1100" b="1" dirty="0">
                          <a:solidFill>
                            <a:srgbClr val="FFFFFF"/>
                          </a:solidFill>
                          <a:latin typeface="Consolas" pitchFamily="34" charset="0"/>
                          <a:ea typeface="Consolas" pitchFamily="34" charset="-122"/>
                          <a:cs typeface="Consolas" pitchFamily="34" charset="-120"/>
                        </a:rPr>
                        <a:t>store_id</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100" b="1" dirty="0">
                          <a:solidFill>
                            <a:srgbClr val="FFFFFF"/>
                          </a:solidFill>
                          <a:latin typeface="Consolas" pitchFamily="34" charset="0"/>
                          <a:ea typeface="Consolas" pitchFamily="34" charset="-122"/>
                          <a:cs typeface="Consolas" pitchFamily="34" charset="-120"/>
                        </a:rPr>
                        <a:t>total_revenue</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100" b="1" dirty="0">
                          <a:solidFill>
                            <a:srgbClr val="FFFFFF"/>
                          </a:solidFill>
                          <a:latin typeface="Consolas" pitchFamily="34" charset="0"/>
                          <a:ea typeface="Consolas" pitchFamily="34" charset="-122"/>
                          <a:cs typeface="Consolas" pitchFamily="34" charset="-120"/>
                        </a:rPr>
                        <a:t>revenue_rank</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21262D"/>
                    </a:solidFill>
                  </a:tcPr>
                </a:tc>
              </a:tr>
              <a:tr h="281940">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TX_2</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$4,871,234</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1</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r h="281940">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TX_1</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$4,622,891</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2</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r h="281940">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TX_3</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$4,508,119</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3</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r h="281940">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CA_3</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$4,211,003</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4</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r h="281940">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CA_1</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$4,089,452</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100" dirty="0">
                          <a:solidFill>
                            <a:srgbClr val="E6EDF3"/>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bl>
          </a:graphicData>
        </a:graphic>
      </p:graphicFrame>
      <p:sp>
        <p:nvSpPr>
          <p:cNvPr id="11" name="Text 8"/>
          <p:cNvSpPr/>
          <p:nvPr/>
        </p:nvSpPr>
        <p:spPr>
          <a:xfrm>
            <a:off x="6126480" y="3255264"/>
            <a:ext cx="2743200" cy="1691640"/>
          </a:xfrm>
          <a:prstGeom prst="rect">
            <a:avLst/>
          </a:prstGeom>
          <a:noFill/>
          <a:ln/>
        </p:spPr>
        <p:txBody>
          <a:bodyPr wrap="square"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  sql/queries/02_top_stores_by_revenue.sql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456A"/>
          </a:solidFill>
          <a:ln w="12700">
            <a:solidFill>
              <a:srgbClr val="E8456A"/>
            </a:solidFill>
            <a:prstDash val="solid"/>
          </a:ln>
        </p:spPr>
      </p:sp>
      <p:sp>
        <p:nvSpPr>
          <p:cNvPr id="3" name="Text 1"/>
          <p:cNvSpPr/>
          <p:nvPr/>
        </p:nvSpPr>
        <p:spPr>
          <a:xfrm>
            <a:off x="8503920" y="4773168"/>
            <a:ext cx="457200" cy="274320"/>
          </a:xfrm>
          <a:prstGeom prst="rect">
            <a:avLst/>
          </a:prstGeom>
          <a:noFill/>
          <a:ln/>
        </p:spPr>
        <p:txBody>
          <a:bodyPr wrap="square" rtlCol="0" anchor="ctr"/>
          <a:lstStyle/>
          <a:p>
            <a:pPr algn="r" indent="0" marL="0">
              <a:buNone/>
            </a:pPr>
            <a:r>
              <a:rPr lang="en-US" sz="1300" b="1" dirty="0">
                <a:solidFill>
                  <a:srgbClr val="E8456A"/>
                </a:solidFill>
                <a:latin typeface="Calibri" pitchFamily="34" charset="0"/>
                <a:ea typeface="Calibri" pitchFamily="34" charset="-122"/>
                <a:cs typeface="Calibri" pitchFamily="34" charset="-120"/>
              </a:rPr>
              <a:t>13</a:t>
            </a:r>
            <a:endParaRPr lang="en-US" sz="1300" dirty="0"/>
          </a:p>
        </p:txBody>
      </p:sp>
      <p:sp>
        <p:nvSpPr>
          <p:cNvPr id="4" name="Text 2"/>
          <p:cNvSpPr/>
          <p:nvPr/>
        </p:nvSpPr>
        <p:spPr>
          <a:xfrm>
            <a:off x="274320" y="91440"/>
            <a:ext cx="8046720" cy="457200"/>
          </a:xfrm>
          <a:prstGeom prst="rect">
            <a:avLst/>
          </a:prstGeom>
          <a:noFill/>
          <a:ln/>
        </p:spPr>
        <p:txBody>
          <a:bodyPr wrap="square" rtlCol="0" anchor="ctr"/>
          <a:lstStyle/>
          <a:p>
            <a:pPr indent="0" marL="0">
              <a:buNone/>
            </a:pPr>
            <a:r>
              <a:rPr lang="en-US" sz="1650" b="1" dirty="0">
                <a:solidFill>
                  <a:srgbClr val="E8456A"/>
                </a:solidFill>
                <a:latin typeface="Calibri" pitchFamily="34" charset="0"/>
                <a:ea typeface="Calibri" pitchFamily="34" charset="-122"/>
                <a:cs typeface="Calibri" pitchFamily="34" charset="-120"/>
              </a:rPr>
              <a:t>Demo 2  —  Forecast Retrieval from predictions_daily</a:t>
            </a:r>
            <a:endParaRPr lang="en-US" sz="1650" dirty="0"/>
          </a:p>
        </p:txBody>
      </p:sp>
      <p:sp>
        <p:nvSpPr>
          <p:cNvPr id="5" name="Shape 3"/>
          <p:cNvSpPr/>
          <p:nvPr/>
        </p:nvSpPr>
        <p:spPr>
          <a:xfrm>
            <a:off x="6949440" y="91440"/>
            <a:ext cx="2514600" cy="365760"/>
          </a:xfrm>
          <a:prstGeom prst="roundRect">
            <a:avLst>
              <a:gd name="adj" fmla="val 15000"/>
            </a:avLst>
          </a:prstGeom>
          <a:solidFill>
            <a:srgbClr val="E8456A"/>
          </a:solidFill>
          <a:ln w="12700">
            <a:solidFill>
              <a:srgbClr val="E8456A"/>
            </a:solidFill>
            <a:prstDash val="solid"/>
          </a:ln>
        </p:spPr>
      </p:sp>
      <p:sp>
        <p:nvSpPr>
          <p:cNvPr id="6" name="Text 4"/>
          <p:cNvSpPr/>
          <p:nvPr/>
        </p:nvSpPr>
        <p:spPr>
          <a:xfrm>
            <a:off x="6949440" y="91440"/>
            <a:ext cx="251460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Profiling Lead  ·  Yanet runs</a:t>
            </a:r>
            <a:endParaRPr lang="en-US" sz="1050" dirty="0"/>
          </a:p>
        </p:txBody>
      </p:sp>
      <p:sp>
        <p:nvSpPr>
          <p:cNvPr id="7" name="Shape 5"/>
          <p:cNvSpPr/>
          <p:nvPr/>
        </p:nvSpPr>
        <p:spPr>
          <a:xfrm>
            <a:off x="274320" y="658368"/>
            <a:ext cx="8595360" cy="1920240"/>
          </a:xfrm>
          <a:prstGeom prst="rect">
            <a:avLst/>
          </a:prstGeom>
          <a:solidFill>
            <a:srgbClr val="161B22"/>
          </a:solidFill>
          <a:ln w="19050">
            <a:solidFill>
              <a:srgbClr val="E8456A"/>
            </a:solidFill>
            <a:prstDash val="solid"/>
          </a:ln>
        </p:spPr>
      </p:sp>
      <p:sp>
        <p:nvSpPr>
          <p:cNvPr id="8" name="Text 6"/>
          <p:cNvSpPr/>
          <p:nvPr/>
        </p:nvSpPr>
        <p:spPr>
          <a:xfrm>
            <a:off x="411480" y="694944"/>
            <a:ext cx="8321040" cy="1847088"/>
          </a:xfrm>
          <a:prstGeom prst="rect">
            <a:avLst/>
          </a:prstGeom>
          <a:noFill/>
          <a:ln/>
        </p:spPr>
        <p:txBody>
          <a:bodyPr wrap="square" lIns="0" tIns="0" rIns="0" bIns="0" rtlCol="0" anchor="t"/>
          <a:lstStyle/>
          <a:p>
            <a:pPr indent="0" marL="0">
              <a:buNone/>
            </a:pPr>
            <a:r>
              <a:rPr lang="en-US" sz="1000" dirty="0">
                <a:solidFill>
                  <a:srgbClr val="6E7681"/>
                </a:solidFill>
                <a:latin typeface="Consolas" pitchFamily="34" charset="0"/>
                <a:ea typeface="Consolas" pitchFamily="34" charset="-122"/>
                <a:cs typeface="Consolas" pitchFamily="34" charset="-120"/>
              </a:rPr>
              <a:t>-- Forecast Retrieval: Top 20 predicted high-demand item-store pairs
</a:t>
            </a:r>
            <a:pPr indent="0" marL="0">
              <a:buNone/>
            </a:pPr>
            <a:r>
              <a:rPr lang="en-US" sz="1000" dirty="0">
                <a:solidFill>
                  <a:srgbClr val="FF7B72"/>
                </a:solidFill>
                <a:latin typeface="Consolas" pitchFamily="34" charset="0"/>
                <a:ea typeface="Consolas" pitchFamily="34" charset="-122"/>
                <a:cs typeface="Consolas" pitchFamily="34" charset="-120"/>
              </a:rPr>
              <a:t>SELECT </a:t>
            </a:r>
            <a:pPr indent="0" marL="0">
              <a:buNone/>
            </a:pPr>
            <a:r>
              <a:rPr lang="en-US" sz="1000" dirty="0">
                <a:solidFill>
                  <a:srgbClr val="E6EDF3"/>
                </a:solidFill>
                <a:latin typeface="Consolas" pitchFamily="34" charset="0"/>
                <a:ea typeface="Consolas" pitchFamily="34" charset="-122"/>
                <a:cs typeface="Consolas" pitchFamily="34" charset="-120"/>
              </a:rPr>
              <a:t>item_id, store_id, forecast_date, predicted_units, model_name
</a:t>
            </a:r>
            <a:pPr indent="0" marL="0">
              <a:buNone/>
            </a:pPr>
            <a:r>
              <a:rPr lang="en-US" sz="1000" dirty="0">
                <a:solidFill>
                  <a:srgbClr val="FF7B72"/>
                </a:solidFill>
                <a:latin typeface="Consolas" pitchFamily="34" charset="0"/>
                <a:ea typeface="Consolas" pitchFamily="34" charset="-122"/>
                <a:cs typeface="Consolas" pitchFamily="34" charset="-120"/>
              </a:rPr>
              <a:t>FROM </a:t>
            </a:r>
            <a:pPr indent="0" marL="0">
              <a:buNone/>
            </a:pPr>
            <a:r>
              <a:rPr lang="en-US" sz="1000" dirty="0">
                <a:solidFill>
                  <a:srgbClr val="E6EDF3"/>
                </a:solidFill>
                <a:latin typeface="Consolas" pitchFamily="34" charset="0"/>
                <a:ea typeface="Consolas" pitchFamily="34" charset="-122"/>
                <a:cs typeface="Consolas" pitchFamily="34" charset="-120"/>
              </a:rPr>
              <a:t>predictions_daily
</a:t>
            </a:r>
            <a:pPr indent="0" marL="0">
              <a:buNone/>
            </a:pPr>
            <a:r>
              <a:rPr lang="en-US" sz="1000" dirty="0">
                <a:solidFill>
                  <a:srgbClr val="FF7B72"/>
                </a:solidFill>
                <a:latin typeface="Consolas" pitchFamily="34" charset="0"/>
                <a:ea typeface="Consolas" pitchFamily="34" charset="-122"/>
                <a:cs typeface="Consolas" pitchFamily="34" charset="-120"/>
              </a:rPr>
              <a:t>WHERE </a:t>
            </a:r>
            <a:pPr indent="0" marL="0">
              <a:buNone/>
            </a:pPr>
            <a:r>
              <a:rPr lang="en-US" sz="1000" dirty="0">
                <a:solidFill>
                  <a:srgbClr val="E6EDF3"/>
                </a:solidFill>
                <a:latin typeface="Consolas" pitchFamily="34" charset="0"/>
                <a:ea typeface="Consolas" pitchFamily="34" charset="-122"/>
                <a:cs typeface="Consolas" pitchFamily="34" charset="-120"/>
              </a:rPr>
              <a:t>model_name = </a:t>
            </a:r>
            <a:pPr indent="0" marL="0">
              <a:buNone/>
            </a:pPr>
            <a:r>
              <a:rPr lang="en-US" sz="1000" dirty="0">
                <a:solidFill>
                  <a:srgbClr val="A5D6FF"/>
                </a:solidFill>
                <a:latin typeface="Consolas" pitchFamily="34" charset="0"/>
                <a:ea typeface="Consolas" pitchFamily="34" charset="-122"/>
                <a:cs typeface="Consolas" pitchFamily="34" charset="-120"/>
              </a:rPr>
              <a:t>'xgboost'</a:t>
            </a:r>
            <a:pPr indent="0" marL="0">
              <a:buNone/>
            </a:pPr>
            <a:endParaRPr lang="en-US" sz="1000" dirty="0"/>
          </a:p>
          <a:p>
            <a:pPr indent="0" marL="0">
              <a:buNone/>
            </a:pPr>
            <a:r>
              <a:rPr lang="en-US" sz="1000" dirty="0">
                <a:solidFill>
                  <a:srgbClr val="FF7B72"/>
                </a:solidFill>
                <a:latin typeface="Consolas" pitchFamily="34" charset="0"/>
                <a:ea typeface="Consolas" pitchFamily="34" charset="-122"/>
                <a:cs typeface="Consolas" pitchFamily="34" charset="-120"/>
              </a:rPr>
              <a:t>  AND </a:t>
            </a:r>
            <a:endParaRPr lang="en-US" sz="1000" dirty="0"/>
          </a:p>
          <a:p>
            <a:pPr indent="0" marL="0">
              <a:buNone/>
            </a:pPr>
            <a:r>
              <a:rPr lang="en-US" sz="1000" dirty="0">
                <a:solidFill>
                  <a:srgbClr val="E6EDF3"/>
                </a:solidFill>
                <a:latin typeface="Consolas" pitchFamily="34" charset="0"/>
                <a:ea typeface="Consolas" pitchFamily="34" charset="-122"/>
                <a:cs typeface="Consolas" pitchFamily="34" charset="-120"/>
              </a:rPr>
              <a:t>forecast_date &gt;= </a:t>
            </a:r>
            <a:pPr indent="0" marL="0">
              <a:buNone/>
            </a:pPr>
            <a:r>
              <a:rPr lang="en-US" sz="1000" dirty="0">
                <a:solidFill>
                  <a:srgbClr val="A5D6FF"/>
                </a:solidFill>
                <a:latin typeface="Consolas" pitchFamily="34" charset="0"/>
                <a:ea typeface="Consolas" pitchFamily="34" charset="-122"/>
                <a:cs typeface="Consolas" pitchFamily="34" charset="-120"/>
              </a:rPr>
              <a:t>'2016-05-23'</a:t>
            </a:r>
            <a:pPr indent="0" marL="0">
              <a:buNone/>
            </a:pPr>
            <a:r>
              <a:rPr lang="en-US" sz="1000" dirty="0">
                <a:solidFill>
                  <a:srgbClr val="6E7681"/>
                </a:solidFill>
                <a:latin typeface="Consolas" pitchFamily="34" charset="0"/>
                <a:ea typeface="Consolas" pitchFamily="34" charset="-122"/>
                <a:cs typeface="Consolas" pitchFamily="34" charset="-120"/>
              </a:rPr>
              <a:t> -- d_1942 (start of test window)
</a:t>
            </a:r>
            <a:pPr indent="0" marL="0">
              <a:buNone/>
            </a:pPr>
            <a:r>
              <a:rPr lang="en-US" sz="1000" dirty="0">
                <a:solidFill>
                  <a:srgbClr val="FF7B72"/>
                </a:solidFill>
                <a:latin typeface="Consolas" pitchFamily="34" charset="0"/>
                <a:ea typeface="Consolas" pitchFamily="34" charset="-122"/>
                <a:cs typeface="Consolas" pitchFamily="34" charset="-120"/>
              </a:rPr>
              <a:t>ORDER BY </a:t>
            </a:r>
            <a:pPr indent="0" marL="0">
              <a:buNone/>
            </a:pPr>
            <a:r>
              <a:rPr lang="en-US" sz="1000" dirty="0">
                <a:solidFill>
                  <a:srgbClr val="E6EDF3"/>
                </a:solidFill>
                <a:latin typeface="Consolas" pitchFamily="34" charset="0"/>
                <a:ea typeface="Consolas" pitchFamily="34" charset="-122"/>
                <a:cs typeface="Consolas" pitchFamily="34" charset="-120"/>
              </a:rPr>
              <a:t>predicted_units </a:t>
            </a:r>
            <a:pPr indent="0" marL="0">
              <a:buNone/>
            </a:pPr>
            <a:r>
              <a:rPr lang="en-US" sz="1000" dirty="0">
                <a:solidFill>
                  <a:srgbClr val="E6EDF3"/>
                </a:solidFill>
                <a:latin typeface="Consolas" pitchFamily="34" charset="0"/>
                <a:ea typeface="Consolas" pitchFamily="34" charset="-122"/>
                <a:cs typeface="Consolas" pitchFamily="34" charset="-120"/>
              </a:rPr>
              <a:t>DESC
</a:t>
            </a:r>
            <a:pPr indent="0" marL="0">
              <a:buNone/>
            </a:pPr>
            <a:r>
              <a:rPr lang="en-US" sz="1000" dirty="0">
                <a:solidFill>
                  <a:srgbClr val="FF7B72"/>
                </a:solidFill>
                <a:latin typeface="Consolas" pitchFamily="34" charset="0"/>
                <a:ea typeface="Consolas" pitchFamily="34" charset="-122"/>
                <a:cs typeface="Consolas" pitchFamily="34" charset="-120"/>
              </a:rPr>
              <a:t>LIMIT </a:t>
            </a:r>
            <a:pPr indent="0" marL="0">
              <a:buNone/>
            </a:pPr>
            <a:r>
              <a:rPr lang="en-US" sz="1000" dirty="0">
                <a:solidFill>
                  <a:srgbClr val="E6EDF3"/>
                </a:solidFill>
                <a:latin typeface="Consolas" pitchFamily="34" charset="0"/>
                <a:ea typeface="Consolas" pitchFamily="34" charset="-122"/>
                <a:cs typeface="Consolas" pitchFamily="34" charset="-120"/>
              </a:rPr>
              <a:t>20;</a:t>
            </a:r>
            <a:endParaRPr lang="en-US" sz="1000" dirty="0"/>
          </a:p>
        </p:txBody>
      </p:sp>
      <p:sp>
        <p:nvSpPr>
          <p:cNvPr id="9" name="Text 7"/>
          <p:cNvSpPr/>
          <p:nvPr/>
        </p:nvSpPr>
        <p:spPr>
          <a:xfrm>
            <a:off x="274320" y="2670048"/>
            <a:ext cx="4114800" cy="274320"/>
          </a:xfrm>
          <a:prstGeom prst="rect">
            <a:avLst/>
          </a:prstGeom>
          <a:noFill/>
          <a:ln/>
        </p:spPr>
        <p:txBody>
          <a:bodyPr wrap="square" lIns="0" tIns="0" rIns="0" bIns="0" rtlCol="0" anchor="ctr"/>
          <a:lstStyle/>
          <a:p>
            <a:pPr indent="0" marL="0">
              <a:buNone/>
            </a:pPr>
            <a:r>
              <a:rPr lang="en-US" sz="1200" b="1" dirty="0">
                <a:solidFill>
                  <a:srgbClr val="A07B1E"/>
                </a:solidFill>
                <a:latin typeface="Calibri" pitchFamily="34" charset="0"/>
                <a:ea typeface="Calibri" pitchFamily="34" charset="-122"/>
                <a:cs typeface="Calibri" pitchFamily="34" charset="-120"/>
              </a:rPr>
              <a:t>predictions_daily  —  Table Structure:</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2980944"/>
          <a:ext cx="5303520" cy="1965960"/>
        </p:xfrm>
        <a:graphic>
          <a:graphicData uri="http://schemas.openxmlformats.org/drawingml/2006/table">
            <a:tbl>
              <a:tblPr/>
              <a:tblGrid>
                <a:gridCol w="1463040"/>
                <a:gridCol w="1097280"/>
                <a:gridCol w="2743200"/>
              </a:tblGrid>
              <a:tr h="327660">
                <a:tc>
                  <a:txBody>
                    <a:bodyPr/>
                    <a:lstStyle/>
                    <a:p>
                      <a:pPr indent="0" marL="0">
                        <a:buNone/>
                      </a:pPr>
                      <a:r>
                        <a:rPr lang="en-US" sz="1050" b="1" dirty="0">
                          <a:solidFill>
                            <a:srgbClr val="FFFFFF"/>
                          </a:solidFill>
                          <a:latin typeface="Consolas" pitchFamily="34" charset="0"/>
                          <a:ea typeface="Consolas" pitchFamily="34" charset="-122"/>
                          <a:cs typeface="Consolas" pitchFamily="34" charset="-120"/>
                        </a:rPr>
                        <a:t>Column</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050" b="1" dirty="0">
                          <a:solidFill>
                            <a:srgbClr val="FFFFFF"/>
                          </a:solidFill>
                          <a:latin typeface="Consolas" pitchFamily="34" charset="0"/>
                          <a:ea typeface="Consolas" pitchFamily="34" charset="-122"/>
                          <a:cs typeface="Consolas" pitchFamily="34" charset="-120"/>
                        </a:rPr>
                        <a:t>Type</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21262D"/>
                    </a:solidFill>
                  </a:tcPr>
                </a:tc>
                <a:tc>
                  <a:txBody>
                    <a:bodyPr/>
                    <a:lstStyle/>
                    <a:p>
                      <a:pPr indent="0" marL="0">
                        <a:buNone/>
                      </a:pPr>
                      <a:r>
                        <a:rPr lang="en-US" sz="1050" b="1" dirty="0">
                          <a:solidFill>
                            <a:srgbClr val="FFFFFF"/>
                          </a:solidFill>
                          <a:latin typeface="Consolas" pitchFamily="34" charset="0"/>
                          <a:ea typeface="Consolas" pitchFamily="34" charset="-122"/>
                          <a:cs typeface="Consolas" pitchFamily="34" charset="-120"/>
                        </a:rPr>
                        <a:t>Notes</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21262D"/>
                    </a:solidFill>
                  </a:tcPr>
                </a:tc>
              </a:tr>
              <a:tr h="327660">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item_id</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TEXT</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FK → dim_item</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r h="327660">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store_id</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TEXT</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FK → dim_store</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r h="327660">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forecast_date</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DATE</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d_1942 – d_1969</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r h="327660">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predicted_units</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FLOAT</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model output</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r h="327660">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model_name</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TEXT</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050" dirty="0">
                          <a:solidFill>
                            <a:srgbClr val="E6EDF3"/>
                          </a:solidFill>
                          <a:latin typeface="Consolas" pitchFamily="34" charset="0"/>
                          <a:ea typeface="Consolas" pitchFamily="34" charset="-122"/>
                          <a:cs typeface="Consolas" pitchFamily="34" charset="-120"/>
                        </a:rPr>
                        <a:t>'seasonal_naive' | 'xgboost'</a:t>
                      </a:r>
                      <a:endParaRPr lang="en-US" sz="1050" dirty="0">
                        <a:latin typeface="Consolas" charset="0"/>
                        <a:ea typeface="Consolas" charset="0"/>
                        <a:cs typeface="Consolas" charset="0"/>
                      </a:endParaRPr>
                    </a:p>
                  </a:txBody>
                  <a:tcPr marL="91440" marR="91440" marT="45720" marB="45720">
                    <a:lnL w="10160" cap="flat" cmpd="sng" algn="ctr">
                      <a:solidFill>
                        <a:srgbClr val="30363D"/>
                      </a:solidFill>
                      <a:prstDash val="solid"/>
                      <a:round/>
                      <a:headEnd type="none" w="med" len="med"/>
                      <a:tailEnd type="none" w="med" len="med"/>
                    </a:lnL>
                    <a:lnR w="10160" cap="flat" cmpd="sng" algn="ctr">
                      <a:solidFill>
                        <a:srgbClr val="30363D"/>
                      </a:solidFill>
                      <a:prstDash val="solid"/>
                      <a:round/>
                      <a:headEnd type="none" w="med" len="med"/>
                      <a:tailEnd type="none" w="med" len="med"/>
                    </a:lnR>
                    <a:lnT w="10160" cap="flat" cmpd="sng" algn="ctr">
                      <a:solidFill>
                        <a:srgbClr val="30363D"/>
                      </a:solidFill>
                      <a:prstDash val="solid"/>
                      <a:round/>
                      <a:headEnd type="none" w="med" len="med"/>
                      <a:tailEnd type="none" w="med" len="med"/>
                    </a:lnT>
                    <a:lnB w="10160" cap="flat" cmpd="sng" algn="ctr">
                      <a:solidFill>
                        <a:srgbClr val="30363D"/>
                      </a:solidFill>
                      <a:prstDash val="solid"/>
                      <a:round/>
                      <a:headEnd type="none" w="med" len="med"/>
                      <a:tailEnd type="none" w="med" len="med"/>
                    </a:lnB>
                    <a:solidFill>
                      <a:srgbClr val="161B22"/>
                    </a:solidFill>
                  </a:tcPr>
                </a:tc>
              </a:tr>
            </a:tbl>
          </a:graphicData>
        </a:graphic>
      </p:graphicFrame>
      <p:sp>
        <p:nvSpPr>
          <p:cNvPr id="11" name="Shape 8"/>
          <p:cNvSpPr/>
          <p:nvPr/>
        </p:nvSpPr>
        <p:spPr>
          <a:xfrm>
            <a:off x="5806440" y="2980944"/>
            <a:ext cx="3063240" cy="1965960"/>
          </a:xfrm>
          <a:prstGeom prst="rect">
            <a:avLst/>
          </a:prstGeom>
          <a:solidFill>
            <a:srgbClr val="161B22"/>
          </a:solidFill>
          <a:ln w="19050">
            <a:solidFill>
              <a:srgbClr val="E8456A"/>
            </a:solidFill>
            <a:prstDash val="solid"/>
          </a:ln>
        </p:spPr>
      </p:sp>
      <p:sp>
        <p:nvSpPr>
          <p:cNvPr id="12" name="Text 9"/>
          <p:cNvSpPr/>
          <p:nvPr/>
        </p:nvSpPr>
        <p:spPr>
          <a:xfrm>
            <a:off x="5806440" y="3200400"/>
            <a:ext cx="3063240" cy="658368"/>
          </a:xfrm>
          <a:prstGeom prst="rect">
            <a:avLst/>
          </a:prstGeom>
          <a:noFill/>
          <a:ln/>
        </p:spPr>
        <p:txBody>
          <a:bodyPr wrap="square" lIns="0" tIns="0" rIns="0" bIns="0" rtlCol="0" anchor="ctr"/>
          <a:lstStyle/>
          <a:p>
            <a:pPr algn="ctr" indent="0" marL="0">
              <a:buNone/>
            </a:pPr>
            <a:r>
              <a:rPr lang="en-US" sz="3800" b="1" dirty="0">
                <a:solidFill>
                  <a:srgbClr val="E8456A"/>
                </a:solidFill>
                <a:latin typeface="Calibri" pitchFamily="34" charset="0"/>
                <a:ea typeface="Calibri" pitchFamily="34" charset="-122"/>
                <a:cs typeface="Calibri" pitchFamily="34" charset="-120"/>
              </a:rPr>
              <a:t>832,040</a:t>
            </a:r>
            <a:endParaRPr lang="en-US" sz="3800" dirty="0"/>
          </a:p>
        </p:txBody>
      </p:sp>
      <p:sp>
        <p:nvSpPr>
          <p:cNvPr id="13" name="Text 10"/>
          <p:cNvSpPr/>
          <p:nvPr/>
        </p:nvSpPr>
        <p:spPr>
          <a:xfrm>
            <a:off x="5806440" y="3858768"/>
            <a:ext cx="3063240" cy="621792"/>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rows in</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predictions_daily</a:t>
            </a:r>
            <a:endParaRPr lang="en-US" sz="1200" dirty="0"/>
          </a:p>
        </p:txBody>
      </p:sp>
      <p:sp>
        <p:nvSpPr>
          <p:cNvPr id="14" name="Text 11"/>
          <p:cNvSpPr/>
          <p:nvPr/>
        </p:nvSpPr>
        <p:spPr>
          <a:xfrm>
            <a:off x="5806440" y="4480560"/>
            <a:ext cx="3063240" cy="274320"/>
          </a:xfrm>
          <a:prstGeom prst="rect">
            <a:avLst/>
          </a:prstGeom>
          <a:noFill/>
          <a:ln/>
        </p:spPr>
        <p:txBody>
          <a:bodyPr wrap="square" lIns="0" tIns="0" rIns="0" bIns="0" rtlCol="0" anchor="ctr"/>
          <a:lstStyle/>
          <a:p>
            <a:pPr algn="ctr" indent="0" marL="0">
              <a:buNone/>
            </a:pPr>
            <a:r>
              <a:rPr lang="en-US" sz="950" i="1" dirty="0">
                <a:solidFill>
                  <a:srgbClr val="64748B"/>
                </a:solidFill>
                <a:latin typeface="Calibri" pitchFamily="34" charset="0"/>
                <a:ea typeface="Calibri" pitchFamily="34" charset="-122"/>
                <a:cs typeface="Calibri" pitchFamily="34" charset="-120"/>
              </a:rPr>
              <a:t>seasonal_naive + xgboost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45460"/>
          </a:solidFill>
          <a:ln w="12700">
            <a:solidFill>
              <a:srgbClr val="145460"/>
            </a:solidFill>
            <a:prstDash val="solid"/>
          </a:ln>
        </p:spPr>
      </p:sp>
      <p:sp>
        <p:nvSpPr>
          <p:cNvPr id="3" name="Shape 1"/>
          <p:cNvSpPr/>
          <p:nvPr/>
        </p:nvSpPr>
        <p:spPr>
          <a:xfrm rot="5400000">
            <a:off x="3017520" y="0"/>
            <a:ext cx="640080" cy="5143500"/>
          </a:xfrm>
          <a:prstGeom prst="rtTriangle">
            <a:avLst/>
          </a:prstGeom>
          <a:solidFill>
            <a:srgbClr val="A07B1E"/>
          </a:solidFill>
          <a:ln w="12700">
            <a:solidFill>
              <a:srgbClr val="A07B1E"/>
            </a:solidFill>
            <a:prstDash val="solid"/>
          </a:ln>
        </p:spPr>
      </p:sp>
      <p:sp>
        <p:nvSpPr>
          <p:cNvPr id="4" name="Text 2"/>
          <p:cNvSpPr/>
          <p:nvPr/>
        </p:nvSpPr>
        <p:spPr>
          <a:xfrm rot="16200000">
            <a:off x="-1097280" y="2286000"/>
            <a:ext cx="3200400" cy="457200"/>
          </a:xfrm>
          <a:prstGeom prst="rect">
            <a:avLst/>
          </a:prstGeom>
          <a:noFill/>
          <a:ln/>
        </p:spPr>
        <p:txBody>
          <a:bodyPr wrap="square" rtlCol="0" anchor="ctr"/>
          <a:lstStyle/>
          <a:p>
            <a:pPr algn="ctr" indent="0" marL="0">
              <a:buNone/>
            </a:pPr>
            <a:r>
              <a:rPr lang="en-US" sz="1000" spc="300" kern="0" dirty="0">
                <a:solidFill>
                  <a:srgbClr val="FFFFFF"/>
                </a:solidFill>
                <a:latin typeface="Calibri" pitchFamily="34" charset="0"/>
                <a:ea typeface="Calibri" pitchFamily="34" charset="-122"/>
                <a:cs typeface="Calibri" pitchFamily="34" charset="-120"/>
              </a:rPr>
              <a:t>CSDP 431  ·  SPRING 2026</a:t>
            </a:r>
            <a:endParaRPr lang="en-US" sz="1000" dirty="0"/>
          </a:p>
        </p:txBody>
      </p:sp>
      <p:sp>
        <p:nvSpPr>
          <p:cNvPr id="5" name="Text 3"/>
          <p:cNvSpPr/>
          <p:nvPr/>
        </p:nvSpPr>
        <p:spPr>
          <a:xfrm>
            <a:off x="3840480" y="457200"/>
            <a:ext cx="5029200" cy="914400"/>
          </a:xfrm>
          <a:prstGeom prst="rect">
            <a:avLst/>
          </a:prstGeom>
          <a:noFill/>
          <a:ln/>
        </p:spPr>
        <p:txBody>
          <a:bodyPr wrap="square"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Project Complete.</a:t>
            </a:r>
            <a:endParaRPr lang="en-US" sz="3600" dirty="0"/>
          </a:p>
        </p:txBody>
      </p:sp>
      <p:sp>
        <p:nvSpPr>
          <p:cNvPr id="6" name="Shape 4"/>
          <p:cNvSpPr/>
          <p:nvPr/>
        </p:nvSpPr>
        <p:spPr>
          <a:xfrm>
            <a:off x="3840480" y="1417320"/>
            <a:ext cx="5029200" cy="36576"/>
          </a:xfrm>
          <a:prstGeom prst="rect">
            <a:avLst/>
          </a:prstGeom>
          <a:solidFill>
            <a:srgbClr val="E8456A"/>
          </a:solidFill>
          <a:ln w="12700">
            <a:solidFill>
              <a:srgbClr val="E8456A"/>
            </a:solidFill>
            <a:prstDash val="solid"/>
          </a:ln>
        </p:spPr>
      </p:sp>
      <p:sp>
        <p:nvSpPr>
          <p:cNvPr id="7" name="Text 5"/>
          <p:cNvSpPr/>
          <p:nvPr/>
        </p:nvSpPr>
        <p:spPr>
          <a:xfrm>
            <a:off x="3840480" y="1572768"/>
            <a:ext cx="5029200" cy="3108960"/>
          </a:xfrm>
          <a:prstGeom prst="rect">
            <a:avLst/>
          </a:prstGeom>
          <a:noFill/>
          <a:ln/>
        </p:spPr>
        <p:txBody>
          <a:bodyPr wrap="square" rtlCol="0" anchor="ctr"/>
          <a:lstStyle/>
          <a:p>
            <a:pPr indent="0" marL="0">
              <a:buNone/>
            </a:pPr>
            <a:r>
              <a:rPr lang="en-US" sz="1250" dirty="0">
                <a:solidFill>
                  <a:srgbClr val="FFFFFF"/>
                </a:solidFill>
                <a:latin typeface="Calibri" pitchFamily="34" charset="0"/>
                <a:ea typeface="Calibri" pitchFamily="34" charset="-122"/>
                <a:cs typeface="Calibri" pitchFamily="34" charset="-120"/>
              </a:rPr>
              <a:t>✓  65.1M records loaded — zero data quality failures</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Star schema with 2 fact + 4 dimension tables</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4 OLAP queries committed to GitHub (sql/queries/)</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ML feature table with 6 lag/rolling features</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XGBoost outperforms baseline by 20% MAE</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832K forecasts stored in predictions_daily</a:t>
            </a: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  Full reproducibility — ETL re-runnable from scratch</a:t>
            </a:r>
            <a:endParaRPr lang="en-US" sz="1250" dirty="0"/>
          </a:p>
        </p:txBody>
      </p:sp>
      <p:sp>
        <p:nvSpPr>
          <p:cNvPr id="8" name="Shape 6"/>
          <p:cNvSpPr/>
          <p:nvPr/>
        </p:nvSpPr>
        <p:spPr>
          <a:xfrm>
            <a:off x="3840480" y="4663440"/>
            <a:ext cx="5029200" cy="347472"/>
          </a:xfrm>
          <a:prstGeom prst="rect">
            <a:avLst/>
          </a:prstGeom>
          <a:solidFill>
            <a:srgbClr val="C73058"/>
          </a:solidFill>
          <a:ln w="12700">
            <a:solidFill>
              <a:srgbClr val="C73058"/>
            </a:solidFill>
            <a:prstDash val="solid"/>
          </a:ln>
        </p:spPr>
      </p:sp>
      <p:sp>
        <p:nvSpPr>
          <p:cNvPr id="9" name="Text 7"/>
          <p:cNvSpPr/>
          <p:nvPr/>
        </p:nvSpPr>
        <p:spPr>
          <a:xfrm>
            <a:off x="3840480" y="4663440"/>
            <a:ext cx="5029200" cy="347472"/>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Week 14 deliverable due April 30  ·  github.com/Chynaadams1/m5-weatherapp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M5 Demand Forecasting — Final Presentation (Week 13)</dc:title>
  <dc:subject>PptxGenJS Presentation</dc:subject>
  <dc:creator>Chyna Adams &amp; Yanet Assefa</dc:creator>
  <cp:lastModifiedBy>Chyna Adams &amp; Yanet Assefa</cp:lastModifiedBy>
  <cp:revision>1</cp:revision>
  <dcterms:created xsi:type="dcterms:W3CDTF">2026-05-09T01:21:40Z</dcterms:created>
  <dcterms:modified xsi:type="dcterms:W3CDTF">2026-05-09T01:21:40Z</dcterms:modified>
</cp:coreProperties>
</file>