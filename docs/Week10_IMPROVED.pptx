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We are Chyna Adams and Yanet Assefa. This week we completed the full star schema, loaded all remaining data, ran quality checks, and built four OLAP analytics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roles remained the same throughout the project. Chyna handled the database implementation, query writing, and GitHub management. Yanet handled data validation, documentation, and calendar mapping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focused on completing data loading, validation, and analytics queries. We set six goals and accomplished all of them. The warehouse is now fully complete with both fact tables loaded and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Pink rows are Chyna's warehouse and analytics work. Teal rows are Yanet's validation and documentation work. Together we completed all goals this week with clear evidence committed to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warehouse is now 100% complete. All five tables are loaded — two fact tables with over 65 million rows combined, and three dimension tables. All five quality assurance checks passed successfully. This completes the data loading phase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quality assurance checks were performed to ensure data accuracy and integrity. Every check came back clean — correct row count, no nulls, no negatives, and no orphaned foreign keys. The results were saved to a log file and committed to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benchmark shows query performance and average pricing trends across all 10 Walmart stores. The query ran across the full 6.8 million price records grouped by store. Wisconsin store WI_1 has the highest average price at $4.46. Texas stores tend to have slightly lower average prices. This kind of insight is exactly what the warehouse was built to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role focused on validating and preparing the data. I ensured all 58.3 million records were clean, verified the date mappings, and documented the final data preparation to support the data warehouse and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Chyna wrote four OLAP analytics queries this week. These queries demonstrate the warehouse can answer real business questions — which categories sell best by region, how sales trend over time, how price relates to sales during events, and which items are top performers. All four are committed to sql/queries/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most important evidence slide. The end-to-end join proves the entire star schema is working correctly. By filtering on event days we can see exactly what items sold during events like the SuperBowl alongside their prices. This is the kind of insight that supports real business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resolved two blockers this week. The duplicate key error was fixed with ON CONFLICT DO NOTHING, and the gitignore issue was fixed with git add -f. For Week 11 we need to build the feature engineering table and implement a baseline forecast model with error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11 moves us into machine learning. Chyna will build the feature engineering table with lag features — looking back 1, 7, 14, and 28 days — and rolling window averages. Yanet will implement the baseline forecast model and store predictions. We need MAE and RMSE computed on a proper 28-day validation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are happy to answer any questions about our OLAP queries, the complete star schema, Yanet's data validation work, or our plans for the machine learning phase in Week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0"/>
        </a:solidFill>
      </p:bgPr>
    </p:bg>
    <p:spTree>
      <p:nvGrpSpPr>
        <p:cNvPr id="1" name=""/>
        <p:cNvGrpSpPr/>
        <p:nvPr/>
      </p:nvGrpSpPr>
      <p:grpSpPr>
        <a:xfrm>
          <a:off x="0" y="0"/>
          <a:ext cx="0" cy="0"/>
          <a:chOff x="0" y="0"/>
          <a:chExt cx="0" cy="0"/>
        </a:xfrm>
      </p:grpSpPr>
      <p:sp>
        <p:nvSpPr>
          <p:cNvPr id="2" name="Shape 0"/>
          <p:cNvSpPr/>
          <p:nvPr/>
        </p:nvSpPr>
        <p:spPr>
          <a:xfrm rot="10800000">
            <a:off x="-91440" y="1645920"/>
            <a:ext cx="3657600" cy="3566160"/>
          </a:xfrm>
          <a:prstGeom prst="rtTriangle">
            <a:avLst/>
          </a:prstGeom>
          <a:solidFill>
            <a:srgbClr val="1B6B7B"/>
          </a:solidFill>
          <a:ln w="12700">
            <a:solidFill>
              <a:srgbClr val="1B6B7B"/>
            </a:solidFill>
            <a:prstDash val="solid"/>
          </a:ln>
        </p:spPr>
      </p:sp>
      <p:sp>
        <p:nvSpPr>
          <p:cNvPr id="3" name="Shape 1"/>
          <p:cNvSpPr/>
          <p:nvPr/>
        </p:nvSpPr>
        <p:spPr>
          <a:xfrm>
            <a:off x="2560320" y="201168"/>
            <a:ext cx="6309360" cy="4754880"/>
          </a:xfrm>
          <a:prstGeom prst="rect">
            <a:avLst/>
          </a:prstGeom>
          <a:ln w="38100">
            <a:solidFill>
              <a:srgbClr val="A07B1E"/>
            </a:solidFill>
            <a:prstDash val="solid"/>
          </a:ln>
        </p:spPr>
      </p:sp>
      <p:sp>
        <p:nvSpPr>
          <p:cNvPr id="4" name="Shape 2"/>
          <p:cNvSpPr/>
          <p:nvPr/>
        </p:nvSpPr>
        <p:spPr>
          <a:xfrm>
            <a:off x="2697480" y="338328"/>
            <a:ext cx="6035040" cy="4480560"/>
          </a:xfrm>
          <a:prstGeom prst="rect">
            <a:avLst/>
          </a:prstGeom>
          <a:ln w="12700">
            <a:solidFill>
              <a:srgbClr val="A07B1E"/>
            </a:solidFill>
            <a:prstDash val="solid"/>
          </a:ln>
        </p:spPr>
      </p:sp>
      <p:sp>
        <p:nvSpPr>
          <p:cNvPr id="5" name="Shape 3"/>
          <p:cNvSpPr/>
          <p:nvPr/>
        </p:nvSpPr>
        <p:spPr>
          <a:xfrm>
            <a:off x="2834640" y="457200"/>
            <a:ext cx="5760720" cy="4251960"/>
          </a:xfrm>
          <a:prstGeom prst="rect">
            <a:avLst/>
          </a:prstGeom>
          <a:solidFill>
            <a:srgbClr val="E8456A"/>
          </a:solidFill>
          <a:ln w="12700">
            <a:solidFill>
              <a:srgbClr val="E8456A"/>
            </a:solidFill>
            <a:prstDash val="solid"/>
          </a:ln>
        </p:spPr>
      </p:sp>
      <p:sp>
        <p:nvSpPr>
          <p:cNvPr id="6" name="Text 4"/>
          <p:cNvSpPr/>
          <p:nvPr/>
        </p:nvSpPr>
        <p:spPr>
          <a:xfrm>
            <a:off x="2834640" y="502920"/>
            <a:ext cx="5760720" cy="1920240"/>
          </a:xfrm>
          <a:prstGeom prst="rect">
            <a:avLst/>
          </a:prstGeom>
          <a:noFill/>
          <a:ln/>
        </p:spPr>
        <p:txBody>
          <a:bodyPr wrap="square" rtlCol="0" anchor="ctr"/>
          <a:lstStyle/>
          <a:p>
            <a:pPr algn="ctr" indent="0" marL="0">
              <a:buNone/>
            </a:pPr>
            <a:r>
              <a:rPr lang="en-US" sz="5200" dirty="0">
                <a:solidFill>
                  <a:srgbClr val="FFFFFF"/>
                </a:solidFill>
                <a:latin typeface="Calibri" pitchFamily="34" charset="0"/>
                <a:ea typeface="Calibri" pitchFamily="34" charset="-122"/>
                <a:cs typeface="Calibri" pitchFamily="34" charset="-120"/>
              </a:rPr>
              <a:t>M5 Demand</a:t>
            </a:r>
            <a:endParaRPr lang="en-US" sz="5200" dirty="0"/>
          </a:p>
          <a:p>
            <a:pPr algn="ctr" indent="0" marL="0">
              <a:buNone/>
            </a:pPr>
            <a:r>
              <a:rPr lang="en-US" sz="5200" dirty="0">
                <a:solidFill>
                  <a:srgbClr val="FFFFFF"/>
                </a:solidFill>
                <a:latin typeface="Calibri" pitchFamily="34" charset="0"/>
                <a:ea typeface="Calibri" pitchFamily="34" charset="-122"/>
                <a:cs typeface="Calibri" pitchFamily="34" charset="-120"/>
              </a:rPr>
              <a:t>Forecasting</a:t>
            </a:r>
            <a:endParaRPr lang="en-US" sz="5200" dirty="0"/>
          </a:p>
        </p:txBody>
      </p:sp>
      <p:sp>
        <p:nvSpPr>
          <p:cNvPr id="7" name="Text 5"/>
          <p:cNvSpPr/>
          <p:nvPr/>
        </p:nvSpPr>
        <p:spPr>
          <a:xfrm>
            <a:off x="2834640" y="2468880"/>
            <a:ext cx="5760720" cy="1005840"/>
          </a:xfrm>
          <a:prstGeom prst="rect">
            <a:avLst/>
          </a:prstGeom>
          <a:noFill/>
          <a:ln/>
        </p:spPr>
        <p:txBody>
          <a:bodyPr wrap="square"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Week 10  —  Complete Star Schema</a:t>
            </a:r>
            <a:endParaRPr lang="en-US" sz="1900" dirty="0"/>
          </a:p>
          <a:p>
            <a:pPr algn="ctr" indent="0" marL="0">
              <a:buNone/>
            </a:pPr>
            <a:r>
              <a:rPr lang="en-US" sz="1900" dirty="0">
                <a:solidFill>
                  <a:srgbClr val="FFFFFF"/>
                </a:solidFill>
                <a:latin typeface="Calibri" pitchFamily="34" charset="0"/>
                <a:ea typeface="Calibri" pitchFamily="34" charset="-122"/>
                <a:cs typeface="Calibri" pitchFamily="34" charset="-120"/>
              </a:rPr>
              <a:t>&amp; OLAP Analytics</a:t>
            </a:r>
            <a:endParaRPr lang="en-US" sz="1900" dirty="0"/>
          </a:p>
        </p:txBody>
      </p:sp>
      <p:sp>
        <p:nvSpPr>
          <p:cNvPr id="8" name="Text 6"/>
          <p:cNvSpPr/>
          <p:nvPr/>
        </p:nvSpPr>
        <p:spPr>
          <a:xfrm>
            <a:off x="2834640" y="3611880"/>
            <a:ext cx="5760720" cy="411480"/>
          </a:xfrm>
          <a:prstGeom prst="rect">
            <a:avLst/>
          </a:prstGeom>
          <a:noFill/>
          <a:ln/>
        </p:spPr>
        <p:txBody>
          <a:bodyPr wrap="square"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Chyna Adams  •  Yanet Assefa</a:t>
            </a:r>
            <a:endParaRPr lang="en-US" sz="1700" dirty="0"/>
          </a:p>
        </p:txBody>
      </p:sp>
      <p:sp>
        <p:nvSpPr>
          <p:cNvPr id="9" name="Shape 7"/>
          <p:cNvSpPr/>
          <p:nvPr/>
        </p:nvSpPr>
        <p:spPr>
          <a:xfrm>
            <a:off x="2834640" y="4114800"/>
            <a:ext cx="5760720" cy="365760"/>
          </a:xfrm>
          <a:prstGeom prst="rect">
            <a:avLst/>
          </a:prstGeom>
          <a:solidFill>
            <a:srgbClr val="C73058"/>
          </a:solidFill>
          <a:ln w="12700">
            <a:solidFill>
              <a:srgbClr val="C73058"/>
            </a:solidFill>
            <a:prstDash val="solid"/>
          </a:ln>
        </p:spPr>
      </p:sp>
      <p:sp>
        <p:nvSpPr>
          <p:cNvPr id="10" name="Text 8"/>
          <p:cNvSpPr/>
          <p:nvPr/>
        </p:nvSpPr>
        <p:spPr>
          <a:xfrm>
            <a:off x="2834640" y="4114800"/>
            <a:ext cx="5760720" cy="36576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CSDP 431  —  Spring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320040" y="91440"/>
            <a:ext cx="4114800" cy="1828800"/>
          </a:xfrm>
          <a:prstGeom prst="rect">
            <a:avLst/>
          </a:prstGeom>
          <a:noFill/>
          <a:ln/>
        </p:spPr>
        <p:txBody>
          <a:bodyPr wrap="square" rtlCol="0" anchor="ctr"/>
          <a:lstStyle/>
          <a:p>
            <a:pPr indent="0" marL="0">
              <a:buNone/>
            </a:pPr>
            <a:r>
              <a:rPr lang="en-US" sz="9000" dirty="0">
                <a:solidFill>
                  <a:srgbClr val="E8456A"/>
                </a:solidFill>
                <a:latin typeface="Calibri" pitchFamily="34" charset="0"/>
                <a:ea typeface="Calibri" pitchFamily="34" charset="-122"/>
                <a:cs typeface="Calibri" pitchFamily="34" charset="-120"/>
              </a:rPr>
              <a:t>Roles</a:t>
            </a:r>
            <a:endParaRPr lang="en-US" sz="9000" dirty="0"/>
          </a:p>
        </p:txBody>
      </p:sp>
      <p:sp>
        <p:nvSpPr>
          <p:cNvPr id="5" name="Text 3"/>
          <p:cNvSpPr/>
          <p:nvPr/>
        </p:nvSpPr>
        <p:spPr>
          <a:xfrm>
            <a:off x="320040" y="2011680"/>
            <a:ext cx="4114800" cy="1234440"/>
          </a:xfrm>
          <a:prstGeom prst="rect">
            <a:avLst/>
          </a:prstGeom>
          <a:noFill/>
          <a:ln/>
        </p:spPr>
        <p:txBody>
          <a:bodyPr wrap="square"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Warehouse</a:t>
            </a:r>
            <a:endParaRPr lang="en-US" sz="2800" dirty="0"/>
          </a:p>
          <a:p>
            <a:pPr indent="0" marL="0">
              <a:buNone/>
            </a:pPr>
            <a:r>
              <a:rPr lang="en-US" sz="2800" b="1" dirty="0">
                <a:solidFill>
                  <a:srgbClr val="1A1A2E"/>
                </a:solidFill>
                <a:latin typeface="Calibri" pitchFamily="34" charset="0"/>
                <a:ea typeface="Calibri" pitchFamily="34" charset="-122"/>
                <a:cs typeface="Calibri" pitchFamily="34" charset="-120"/>
              </a:rPr>
              <a:t>Design Lead</a:t>
            </a:r>
            <a:endParaRPr lang="en-US" sz="2800" dirty="0"/>
          </a:p>
        </p:txBody>
      </p:sp>
      <p:sp>
        <p:nvSpPr>
          <p:cNvPr id="6" name="Text 4"/>
          <p:cNvSpPr/>
          <p:nvPr/>
        </p:nvSpPr>
        <p:spPr>
          <a:xfrm>
            <a:off x="320040" y="3337560"/>
            <a:ext cx="4114800" cy="548640"/>
          </a:xfrm>
          <a:prstGeom prst="rect">
            <a:avLst/>
          </a:prstGeom>
          <a:noFill/>
          <a:ln/>
        </p:spPr>
        <p:txBody>
          <a:bodyPr wrap="square" rtlCol="0" anchor="ctr"/>
          <a:lstStyle/>
          <a:p>
            <a:pPr indent="0" marL="0">
              <a:buNone/>
            </a:pPr>
            <a:r>
              <a:rPr lang="en-US" sz="2400" dirty="0">
                <a:solidFill>
                  <a:srgbClr val="1B6B7B"/>
                </a:solidFill>
                <a:latin typeface="Calibri" pitchFamily="34" charset="0"/>
                <a:ea typeface="Calibri" pitchFamily="34" charset="-122"/>
                <a:cs typeface="Calibri" pitchFamily="34" charset="-120"/>
              </a:rPr>
              <a:t>Chyna Adams</a:t>
            </a:r>
            <a:endParaRPr lang="en-US" sz="2400" dirty="0"/>
          </a:p>
        </p:txBody>
      </p:sp>
      <p:sp>
        <p:nvSpPr>
          <p:cNvPr id="7" name="Shape 5"/>
          <p:cNvSpPr/>
          <p:nvPr/>
        </p:nvSpPr>
        <p:spPr>
          <a:xfrm>
            <a:off x="4572000" y="365760"/>
            <a:ext cx="0" cy="4572000"/>
          </a:xfrm>
          <a:prstGeom prst="line">
            <a:avLst/>
          </a:prstGeom>
          <a:noFill/>
          <a:ln w="19050">
            <a:solidFill>
              <a:srgbClr val="F8D7DE"/>
            </a:solidFill>
            <a:prstDash val="solid"/>
          </a:ln>
        </p:spPr>
      </p:sp>
      <p:sp>
        <p:nvSpPr>
          <p:cNvPr id="8" name="Text 6"/>
          <p:cNvSpPr/>
          <p:nvPr/>
        </p:nvSpPr>
        <p:spPr>
          <a:xfrm>
            <a:off x="4846320" y="914400"/>
            <a:ext cx="4023360" cy="1828800"/>
          </a:xfrm>
          <a:prstGeom prst="rect">
            <a:avLst/>
          </a:prstGeom>
          <a:noFill/>
          <a:ln/>
        </p:spPr>
        <p:txBody>
          <a:bodyPr wrap="square"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Data Acquisition</a:t>
            </a:r>
            <a:endParaRPr lang="en-US" sz="2800" dirty="0"/>
          </a:p>
          <a:p>
            <a:pPr indent="0" marL="0">
              <a:buNone/>
            </a:pPr>
            <a:r>
              <a:rPr lang="en-US" sz="2800" b="1" dirty="0">
                <a:solidFill>
                  <a:srgbClr val="1A1A2E"/>
                </a:solidFill>
                <a:latin typeface="Calibri" pitchFamily="34" charset="0"/>
                <a:ea typeface="Calibri" pitchFamily="34" charset="-122"/>
                <a:cs typeface="Calibri" pitchFamily="34" charset="-120"/>
              </a:rPr>
              <a:t>&amp; Profiling Lead</a:t>
            </a:r>
            <a:endParaRPr lang="en-US" sz="2800" dirty="0"/>
          </a:p>
        </p:txBody>
      </p:sp>
      <p:sp>
        <p:nvSpPr>
          <p:cNvPr id="9" name="Text 7"/>
          <p:cNvSpPr/>
          <p:nvPr/>
        </p:nvSpPr>
        <p:spPr>
          <a:xfrm>
            <a:off x="4846320" y="3337560"/>
            <a:ext cx="4023360" cy="548640"/>
          </a:xfrm>
          <a:prstGeom prst="rect">
            <a:avLst/>
          </a:prstGeom>
          <a:noFill/>
          <a:ln/>
        </p:spPr>
        <p:txBody>
          <a:bodyPr wrap="square" rtlCol="0" anchor="ctr"/>
          <a:lstStyle/>
          <a:p>
            <a:pPr indent="0" marL="0">
              <a:buNone/>
            </a:pPr>
            <a:r>
              <a:rPr lang="en-US" sz="2400" dirty="0">
                <a:solidFill>
                  <a:srgbClr val="1B6B7B"/>
                </a:solidFill>
                <a:latin typeface="Calibri" pitchFamily="34" charset="0"/>
                <a:ea typeface="Calibri" pitchFamily="34" charset="-122"/>
                <a:cs typeface="Calibri" pitchFamily="34" charset="-120"/>
              </a:rPr>
              <a:t>Yanet Assefa</a:t>
            </a:r>
            <a:endParaRPr lang="en-US" sz="2400" dirty="0"/>
          </a:p>
        </p:txBody>
      </p:sp>
      <p:sp>
        <p:nvSpPr>
          <p:cNvPr id="10" name="Text 8"/>
          <p:cNvSpPr/>
          <p:nvPr/>
        </p:nvSpPr>
        <p:spPr>
          <a:xfrm>
            <a:off x="8503920" y="4800600"/>
            <a:ext cx="457200" cy="274320"/>
          </a:xfrm>
          <a:prstGeom prst="rect">
            <a:avLst/>
          </a:prstGeom>
          <a:noFill/>
          <a:ln/>
        </p:spPr>
        <p:txBody>
          <a:bodyPr wrap="square" rtlCol="0" anchor="ctr"/>
          <a:lstStyle/>
          <a:p>
            <a:pPr algn="r" indent="0" marL="0">
              <a:buNone/>
            </a:pPr>
            <a:r>
              <a:rPr lang="en-US" sz="1400" b="1" dirty="0">
                <a:solidFill>
                  <a:srgbClr val="E8456A"/>
                </a:solidFill>
                <a:latin typeface="Calibri" pitchFamily="34" charset="0"/>
                <a:ea typeface="Calibri" pitchFamily="34" charset="-122"/>
                <a:cs typeface="Calibri"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5029200" cy="5143500"/>
          </a:xfrm>
          <a:prstGeom prst="rect">
            <a:avLst/>
          </a:prstGeom>
          <a:solidFill>
            <a:srgbClr val="E8456A"/>
          </a:solidFill>
          <a:ln w="12700">
            <a:solidFill>
              <a:srgbClr val="E8456A"/>
            </a:solidFill>
            <a:prstDash val="solid"/>
          </a:ln>
        </p:spPr>
      </p:sp>
      <p:sp>
        <p:nvSpPr>
          <p:cNvPr id="3" name="Shape 1"/>
          <p:cNvSpPr/>
          <p:nvPr/>
        </p:nvSpPr>
        <p:spPr>
          <a:xfrm>
            <a:off x="137160" y="137160"/>
            <a:ext cx="4754880" cy="4846320"/>
          </a:xfrm>
          <a:prstGeom prst="rect">
            <a:avLst/>
          </a:prstGeom>
          <a:ln w="19050">
            <a:solidFill>
              <a:srgbClr val="C73058"/>
            </a:solidFill>
            <a:prstDash val="solid"/>
          </a:ln>
        </p:spPr>
      </p:sp>
      <p:sp>
        <p:nvSpPr>
          <p:cNvPr id="4" name="Text 2"/>
          <p:cNvSpPr/>
          <p:nvPr/>
        </p:nvSpPr>
        <p:spPr>
          <a:xfrm>
            <a:off x="274320" y="182880"/>
            <a:ext cx="4572000" cy="1463040"/>
          </a:xfrm>
          <a:prstGeom prst="rect">
            <a:avLst/>
          </a:prstGeom>
          <a:noFill/>
          <a:ln/>
        </p:spPr>
        <p:txBody>
          <a:bodyPr wrap="square" rtlCol="0" anchor="ctr"/>
          <a:lstStyle/>
          <a:p>
            <a:pPr indent="0" marL="0">
              <a:buNone/>
            </a:pPr>
            <a:r>
              <a:rPr lang="en-US" sz="5400" dirty="0">
                <a:solidFill>
                  <a:srgbClr val="FFFFFF"/>
                </a:solidFill>
                <a:latin typeface="Calibri" pitchFamily="34" charset="0"/>
                <a:ea typeface="Calibri" pitchFamily="34" charset="-122"/>
                <a:cs typeface="Calibri" pitchFamily="34" charset="-120"/>
              </a:rPr>
              <a:t>Sprint</a:t>
            </a:r>
            <a:endParaRPr lang="en-US" sz="5400" dirty="0"/>
          </a:p>
          <a:p>
            <a:pPr indent="0" marL="0">
              <a:buNone/>
            </a:pPr>
            <a:r>
              <a:rPr lang="en-US" sz="5400" dirty="0">
                <a:solidFill>
                  <a:srgbClr val="FFFFFF"/>
                </a:solidFill>
                <a:latin typeface="Calibri" pitchFamily="34" charset="0"/>
                <a:ea typeface="Calibri" pitchFamily="34" charset="-122"/>
                <a:cs typeface="Calibri" pitchFamily="34" charset="-120"/>
              </a:rPr>
              <a:t>goals</a:t>
            </a:r>
            <a:endParaRPr lang="en-US" sz="5400" dirty="0"/>
          </a:p>
        </p:txBody>
      </p:sp>
      <p:sp>
        <p:nvSpPr>
          <p:cNvPr id="5" name="Text 3"/>
          <p:cNvSpPr/>
          <p:nvPr/>
        </p:nvSpPr>
        <p:spPr>
          <a:xfrm>
            <a:off x="274320" y="1691640"/>
            <a:ext cx="4572000" cy="457200"/>
          </a:xfrm>
          <a:prstGeom prst="rect">
            <a:avLst/>
          </a:prstGeom>
          <a:noFill/>
          <a:ln/>
        </p:spPr>
        <p:txBody>
          <a:bodyPr wrap="square" rtlCol="0" anchor="ctr"/>
          <a:lstStyle/>
          <a:p>
            <a:pPr indent="0" marL="0">
              <a:buNone/>
            </a:pPr>
            <a:r>
              <a:rPr lang="en-US" sz="1300" i="1" dirty="0">
                <a:solidFill>
                  <a:srgbClr val="FFD0DA"/>
                </a:solidFill>
                <a:latin typeface="Calibri" pitchFamily="34" charset="0"/>
                <a:ea typeface="Calibri" pitchFamily="34" charset="-122"/>
                <a:cs typeface="Calibri" pitchFamily="34" charset="-120"/>
              </a:rPr>
              <a:t>This week focused on completing data loading, validation, and analytics queries.</a:t>
            </a:r>
            <a:endParaRPr lang="en-US" sz="1300" dirty="0"/>
          </a:p>
        </p:txBody>
      </p:sp>
      <p:sp>
        <p:nvSpPr>
          <p:cNvPr id="6" name="Text 4"/>
          <p:cNvSpPr/>
          <p:nvPr/>
        </p:nvSpPr>
        <p:spPr>
          <a:xfrm>
            <a:off x="274320" y="2212848"/>
            <a:ext cx="4572000" cy="402336"/>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Load fact_price_weekly (6.8M rows)</a:t>
            </a:r>
            <a:endParaRPr lang="en-US" sz="1500" dirty="0"/>
          </a:p>
        </p:txBody>
      </p:sp>
      <p:sp>
        <p:nvSpPr>
          <p:cNvPr id="7" name="Text 5"/>
          <p:cNvSpPr/>
          <p:nvPr/>
        </p:nvSpPr>
        <p:spPr>
          <a:xfrm>
            <a:off x="274320" y="2670048"/>
            <a:ext cx="4572000" cy="402336"/>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Run performance benchmark queries</a:t>
            </a:r>
            <a:endParaRPr lang="en-US" sz="1500" dirty="0"/>
          </a:p>
        </p:txBody>
      </p:sp>
      <p:sp>
        <p:nvSpPr>
          <p:cNvPr id="8" name="Text 6"/>
          <p:cNvSpPr/>
          <p:nvPr/>
        </p:nvSpPr>
        <p:spPr>
          <a:xfrm>
            <a:off x="274320" y="3127248"/>
            <a:ext cx="4572000" cy="402336"/>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Formal QA script → outputs/</a:t>
            </a:r>
            <a:endParaRPr lang="en-US" sz="1500" dirty="0"/>
          </a:p>
        </p:txBody>
      </p:sp>
      <p:sp>
        <p:nvSpPr>
          <p:cNvPr id="9" name="Text 7"/>
          <p:cNvSpPr/>
          <p:nvPr/>
        </p:nvSpPr>
        <p:spPr>
          <a:xfrm>
            <a:off x="274320" y="3584448"/>
            <a:ext cx="4572000" cy="402336"/>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Write 4 OLAP analytics queries</a:t>
            </a:r>
            <a:endParaRPr lang="en-US" sz="1500" dirty="0"/>
          </a:p>
        </p:txBody>
      </p:sp>
      <p:sp>
        <p:nvSpPr>
          <p:cNvPr id="10" name="Text 8"/>
          <p:cNvSpPr/>
          <p:nvPr/>
        </p:nvSpPr>
        <p:spPr>
          <a:xfrm>
            <a:off x="274320" y="4041648"/>
            <a:ext cx="4572000" cy="402336"/>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End-to-end join: sales + calendar + prices</a:t>
            </a:r>
            <a:endParaRPr lang="en-US" sz="1500" dirty="0"/>
          </a:p>
        </p:txBody>
      </p:sp>
      <p:sp>
        <p:nvSpPr>
          <p:cNvPr id="11" name="Text 9"/>
          <p:cNvSpPr/>
          <p:nvPr/>
        </p:nvSpPr>
        <p:spPr>
          <a:xfrm>
            <a:off x="274320" y="4498848"/>
            <a:ext cx="4572000" cy="402336"/>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Finalize data preparation documentation</a:t>
            </a:r>
            <a:endParaRPr lang="en-US" sz="1500" dirty="0"/>
          </a:p>
        </p:txBody>
      </p:sp>
      <p:sp>
        <p:nvSpPr>
          <p:cNvPr id="12" name="Shape 10"/>
          <p:cNvSpPr/>
          <p:nvPr/>
        </p:nvSpPr>
        <p:spPr>
          <a:xfrm>
            <a:off x="5029200" y="0"/>
            <a:ext cx="4114800" cy="5143500"/>
          </a:xfrm>
          <a:prstGeom prst="rect">
            <a:avLst/>
          </a:prstGeom>
          <a:solidFill>
            <a:srgbClr val="EBF5F7"/>
          </a:solidFill>
          <a:ln w="12700">
            <a:solidFill>
              <a:srgbClr val="EBF5F7"/>
            </a:solidFill>
            <a:prstDash val="solid"/>
          </a:ln>
        </p:spPr>
      </p:sp>
      <p:sp>
        <p:nvSpPr>
          <p:cNvPr id="13" name="Shape 11"/>
          <p:cNvSpPr/>
          <p:nvPr/>
        </p:nvSpPr>
        <p:spPr>
          <a:xfrm>
            <a:off x="5212080" y="274320"/>
            <a:ext cx="457200" cy="320040"/>
          </a:xfrm>
          <a:prstGeom prst="rect">
            <a:avLst/>
          </a:prstGeom>
          <a:solidFill>
            <a:srgbClr val="1B6B7B"/>
          </a:solidFill>
          <a:ln w="3810">
            <a:solidFill>
              <a:srgbClr val="AAAAAA"/>
            </a:solidFill>
            <a:prstDash val="solid"/>
          </a:ln>
        </p:spPr>
      </p:sp>
      <p:sp>
        <p:nvSpPr>
          <p:cNvPr id="14" name="Shape 12"/>
          <p:cNvSpPr/>
          <p:nvPr/>
        </p:nvSpPr>
        <p:spPr>
          <a:xfrm>
            <a:off x="5760720" y="274320"/>
            <a:ext cx="457200" cy="320040"/>
          </a:xfrm>
          <a:prstGeom prst="rect">
            <a:avLst/>
          </a:prstGeom>
          <a:solidFill>
            <a:srgbClr val="1B6B7B">
              <a:alpha val="50000"/>
            </a:srgbClr>
          </a:solidFill>
          <a:ln w="3810">
            <a:solidFill>
              <a:srgbClr val="AAAAAA"/>
            </a:solidFill>
            <a:prstDash val="solid"/>
          </a:ln>
        </p:spPr>
      </p:sp>
      <p:sp>
        <p:nvSpPr>
          <p:cNvPr id="15" name="Shape 13"/>
          <p:cNvSpPr/>
          <p:nvPr/>
        </p:nvSpPr>
        <p:spPr>
          <a:xfrm>
            <a:off x="6309360" y="274320"/>
            <a:ext cx="457200" cy="320040"/>
          </a:xfrm>
          <a:prstGeom prst="rect">
            <a:avLst/>
          </a:prstGeom>
          <a:solidFill>
            <a:srgbClr val="1B6B7B"/>
          </a:solidFill>
          <a:ln w="3810">
            <a:solidFill>
              <a:srgbClr val="AAAAAA"/>
            </a:solidFill>
            <a:prstDash val="solid"/>
          </a:ln>
        </p:spPr>
      </p:sp>
      <p:sp>
        <p:nvSpPr>
          <p:cNvPr id="16" name="Shape 14"/>
          <p:cNvSpPr/>
          <p:nvPr/>
        </p:nvSpPr>
        <p:spPr>
          <a:xfrm>
            <a:off x="6858000" y="274320"/>
            <a:ext cx="457200" cy="320040"/>
          </a:xfrm>
          <a:prstGeom prst="rect">
            <a:avLst/>
          </a:prstGeom>
          <a:solidFill>
            <a:srgbClr val="1B6B7B">
              <a:alpha val="50000"/>
            </a:srgbClr>
          </a:solidFill>
          <a:ln w="3810">
            <a:solidFill>
              <a:srgbClr val="AAAAAA"/>
            </a:solidFill>
            <a:prstDash val="solid"/>
          </a:ln>
        </p:spPr>
      </p:sp>
      <p:sp>
        <p:nvSpPr>
          <p:cNvPr id="17" name="Shape 15"/>
          <p:cNvSpPr/>
          <p:nvPr/>
        </p:nvSpPr>
        <p:spPr>
          <a:xfrm>
            <a:off x="7406640" y="274320"/>
            <a:ext cx="457200" cy="320040"/>
          </a:xfrm>
          <a:prstGeom prst="rect">
            <a:avLst/>
          </a:prstGeom>
          <a:solidFill>
            <a:srgbClr val="1B6B7B"/>
          </a:solidFill>
          <a:ln w="3810">
            <a:solidFill>
              <a:srgbClr val="AAAAAA"/>
            </a:solidFill>
            <a:prstDash val="solid"/>
          </a:ln>
        </p:spPr>
      </p:sp>
      <p:sp>
        <p:nvSpPr>
          <p:cNvPr id="18" name="Shape 16"/>
          <p:cNvSpPr/>
          <p:nvPr/>
        </p:nvSpPr>
        <p:spPr>
          <a:xfrm>
            <a:off x="7955280" y="274320"/>
            <a:ext cx="457200" cy="320040"/>
          </a:xfrm>
          <a:prstGeom prst="rect">
            <a:avLst/>
          </a:prstGeom>
          <a:solidFill>
            <a:srgbClr val="1B6B7B">
              <a:alpha val="50000"/>
            </a:srgbClr>
          </a:solidFill>
          <a:ln w="3810">
            <a:solidFill>
              <a:srgbClr val="AAAAAA"/>
            </a:solidFill>
            <a:prstDash val="solid"/>
          </a:ln>
        </p:spPr>
      </p:sp>
      <p:sp>
        <p:nvSpPr>
          <p:cNvPr id="19" name="Shape 17"/>
          <p:cNvSpPr/>
          <p:nvPr/>
        </p:nvSpPr>
        <p:spPr>
          <a:xfrm>
            <a:off x="5212080" y="667512"/>
            <a:ext cx="457200" cy="320040"/>
          </a:xfrm>
          <a:prstGeom prst="rect">
            <a:avLst/>
          </a:prstGeom>
          <a:solidFill>
            <a:srgbClr val="C8E6EC"/>
          </a:solidFill>
          <a:ln w="3810">
            <a:solidFill>
              <a:srgbClr val="AAAAAA"/>
            </a:solidFill>
            <a:prstDash val="solid"/>
          </a:ln>
        </p:spPr>
      </p:sp>
      <p:sp>
        <p:nvSpPr>
          <p:cNvPr id="20" name="Shape 18"/>
          <p:cNvSpPr/>
          <p:nvPr/>
        </p:nvSpPr>
        <p:spPr>
          <a:xfrm>
            <a:off x="5760720" y="667512"/>
            <a:ext cx="457200" cy="320040"/>
          </a:xfrm>
          <a:prstGeom prst="rect">
            <a:avLst/>
          </a:prstGeom>
          <a:solidFill>
            <a:srgbClr val="C8E6EC">
              <a:alpha val="50000"/>
            </a:srgbClr>
          </a:solidFill>
          <a:ln w="3810">
            <a:solidFill>
              <a:srgbClr val="AAAAAA"/>
            </a:solidFill>
            <a:prstDash val="solid"/>
          </a:ln>
        </p:spPr>
      </p:sp>
      <p:sp>
        <p:nvSpPr>
          <p:cNvPr id="21" name="Shape 19"/>
          <p:cNvSpPr/>
          <p:nvPr/>
        </p:nvSpPr>
        <p:spPr>
          <a:xfrm>
            <a:off x="6309360" y="667512"/>
            <a:ext cx="457200" cy="320040"/>
          </a:xfrm>
          <a:prstGeom prst="rect">
            <a:avLst/>
          </a:prstGeom>
          <a:solidFill>
            <a:srgbClr val="C8E6EC"/>
          </a:solidFill>
          <a:ln w="3810">
            <a:solidFill>
              <a:srgbClr val="AAAAAA"/>
            </a:solidFill>
            <a:prstDash val="solid"/>
          </a:ln>
        </p:spPr>
      </p:sp>
      <p:sp>
        <p:nvSpPr>
          <p:cNvPr id="22" name="Shape 20"/>
          <p:cNvSpPr/>
          <p:nvPr/>
        </p:nvSpPr>
        <p:spPr>
          <a:xfrm>
            <a:off x="6858000" y="667512"/>
            <a:ext cx="457200" cy="320040"/>
          </a:xfrm>
          <a:prstGeom prst="rect">
            <a:avLst/>
          </a:prstGeom>
          <a:solidFill>
            <a:srgbClr val="C8E6EC">
              <a:alpha val="50000"/>
            </a:srgbClr>
          </a:solidFill>
          <a:ln w="3810">
            <a:solidFill>
              <a:srgbClr val="AAAAAA"/>
            </a:solidFill>
            <a:prstDash val="solid"/>
          </a:ln>
        </p:spPr>
      </p:sp>
      <p:sp>
        <p:nvSpPr>
          <p:cNvPr id="23" name="Shape 21"/>
          <p:cNvSpPr/>
          <p:nvPr/>
        </p:nvSpPr>
        <p:spPr>
          <a:xfrm>
            <a:off x="7406640" y="667512"/>
            <a:ext cx="457200" cy="320040"/>
          </a:xfrm>
          <a:prstGeom prst="rect">
            <a:avLst/>
          </a:prstGeom>
          <a:solidFill>
            <a:srgbClr val="C8E6EC"/>
          </a:solidFill>
          <a:ln w="3810">
            <a:solidFill>
              <a:srgbClr val="AAAAAA"/>
            </a:solidFill>
            <a:prstDash val="solid"/>
          </a:ln>
        </p:spPr>
      </p:sp>
      <p:sp>
        <p:nvSpPr>
          <p:cNvPr id="24" name="Shape 22"/>
          <p:cNvSpPr/>
          <p:nvPr/>
        </p:nvSpPr>
        <p:spPr>
          <a:xfrm>
            <a:off x="7955280" y="667512"/>
            <a:ext cx="457200" cy="320040"/>
          </a:xfrm>
          <a:prstGeom prst="rect">
            <a:avLst/>
          </a:prstGeom>
          <a:solidFill>
            <a:srgbClr val="C8E6EC">
              <a:alpha val="50000"/>
            </a:srgbClr>
          </a:solidFill>
          <a:ln w="3810">
            <a:solidFill>
              <a:srgbClr val="AAAAAA"/>
            </a:solidFill>
            <a:prstDash val="solid"/>
          </a:ln>
        </p:spPr>
      </p:sp>
      <p:sp>
        <p:nvSpPr>
          <p:cNvPr id="25" name="Shape 23"/>
          <p:cNvSpPr/>
          <p:nvPr/>
        </p:nvSpPr>
        <p:spPr>
          <a:xfrm>
            <a:off x="5212080" y="1060704"/>
            <a:ext cx="457200" cy="320040"/>
          </a:xfrm>
          <a:prstGeom prst="rect">
            <a:avLst/>
          </a:prstGeom>
          <a:solidFill>
            <a:srgbClr val="C8E6EC"/>
          </a:solidFill>
          <a:ln w="3810">
            <a:solidFill>
              <a:srgbClr val="AAAAAA"/>
            </a:solidFill>
            <a:prstDash val="solid"/>
          </a:ln>
        </p:spPr>
      </p:sp>
      <p:sp>
        <p:nvSpPr>
          <p:cNvPr id="26" name="Shape 24"/>
          <p:cNvSpPr/>
          <p:nvPr/>
        </p:nvSpPr>
        <p:spPr>
          <a:xfrm>
            <a:off x="5760720" y="1060704"/>
            <a:ext cx="457200" cy="320040"/>
          </a:xfrm>
          <a:prstGeom prst="rect">
            <a:avLst/>
          </a:prstGeom>
          <a:solidFill>
            <a:srgbClr val="C8E6EC">
              <a:alpha val="50000"/>
            </a:srgbClr>
          </a:solidFill>
          <a:ln w="3810">
            <a:solidFill>
              <a:srgbClr val="AAAAAA"/>
            </a:solidFill>
            <a:prstDash val="solid"/>
          </a:ln>
        </p:spPr>
      </p:sp>
      <p:sp>
        <p:nvSpPr>
          <p:cNvPr id="27" name="Shape 25"/>
          <p:cNvSpPr/>
          <p:nvPr/>
        </p:nvSpPr>
        <p:spPr>
          <a:xfrm>
            <a:off x="6309360" y="1060704"/>
            <a:ext cx="457200" cy="320040"/>
          </a:xfrm>
          <a:prstGeom prst="rect">
            <a:avLst/>
          </a:prstGeom>
          <a:solidFill>
            <a:srgbClr val="C8E6EC"/>
          </a:solidFill>
          <a:ln w="3810">
            <a:solidFill>
              <a:srgbClr val="AAAAAA"/>
            </a:solidFill>
            <a:prstDash val="solid"/>
          </a:ln>
        </p:spPr>
      </p:sp>
      <p:sp>
        <p:nvSpPr>
          <p:cNvPr id="28" name="Shape 26"/>
          <p:cNvSpPr/>
          <p:nvPr/>
        </p:nvSpPr>
        <p:spPr>
          <a:xfrm>
            <a:off x="6858000" y="1060704"/>
            <a:ext cx="457200" cy="320040"/>
          </a:xfrm>
          <a:prstGeom prst="rect">
            <a:avLst/>
          </a:prstGeom>
          <a:solidFill>
            <a:srgbClr val="C8E6EC">
              <a:alpha val="50000"/>
            </a:srgbClr>
          </a:solidFill>
          <a:ln w="3810">
            <a:solidFill>
              <a:srgbClr val="AAAAAA"/>
            </a:solidFill>
            <a:prstDash val="solid"/>
          </a:ln>
        </p:spPr>
      </p:sp>
      <p:sp>
        <p:nvSpPr>
          <p:cNvPr id="29" name="Shape 27"/>
          <p:cNvSpPr/>
          <p:nvPr/>
        </p:nvSpPr>
        <p:spPr>
          <a:xfrm>
            <a:off x="7406640" y="1060704"/>
            <a:ext cx="457200" cy="320040"/>
          </a:xfrm>
          <a:prstGeom prst="rect">
            <a:avLst/>
          </a:prstGeom>
          <a:solidFill>
            <a:srgbClr val="C8E6EC"/>
          </a:solidFill>
          <a:ln w="3810">
            <a:solidFill>
              <a:srgbClr val="AAAAAA"/>
            </a:solidFill>
            <a:prstDash val="solid"/>
          </a:ln>
        </p:spPr>
      </p:sp>
      <p:sp>
        <p:nvSpPr>
          <p:cNvPr id="30" name="Shape 28"/>
          <p:cNvSpPr/>
          <p:nvPr/>
        </p:nvSpPr>
        <p:spPr>
          <a:xfrm>
            <a:off x="7955280" y="1060704"/>
            <a:ext cx="457200" cy="320040"/>
          </a:xfrm>
          <a:prstGeom prst="rect">
            <a:avLst/>
          </a:prstGeom>
          <a:solidFill>
            <a:srgbClr val="C8E6EC">
              <a:alpha val="50000"/>
            </a:srgbClr>
          </a:solidFill>
          <a:ln w="3810">
            <a:solidFill>
              <a:srgbClr val="AAAAAA"/>
            </a:solidFill>
            <a:prstDash val="solid"/>
          </a:ln>
        </p:spPr>
      </p:sp>
      <p:sp>
        <p:nvSpPr>
          <p:cNvPr id="31" name="Shape 29"/>
          <p:cNvSpPr/>
          <p:nvPr/>
        </p:nvSpPr>
        <p:spPr>
          <a:xfrm>
            <a:off x="5212080" y="1453896"/>
            <a:ext cx="457200" cy="320040"/>
          </a:xfrm>
          <a:prstGeom prst="rect">
            <a:avLst/>
          </a:prstGeom>
          <a:solidFill>
            <a:srgbClr val="1B6B7B"/>
          </a:solidFill>
          <a:ln w="3810">
            <a:solidFill>
              <a:srgbClr val="AAAAAA"/>
            </a:solidFill>
            <a:prstDash val="solid"/>
          </a:ln>
        </p:spPr>
      </p:sp>
      <p:sp>
        <p:nvSpPr>
          <p:cNvPr id="32" name="Shape 30"/>
          <p:cNvSpPr/>
          <p:nvPr/>
        </p:nvSpPr>
        <p:spPr>
          <a:xfrm>
            <a:off x="5760720" y="1453896"/>
            <a:ext cx="457200" cy="320040"/>
          </a:xfrm>
          <a:prstGeom prst="rect">
            <a:avLst/>
          </a:prstGeom>
          <a:solidFill>
            <a:srgbClr val="1B6B7B">
              <a:alpha val="50000"/>
            </a:srgbClr>
          </a:solidFill>
          <a:ln w="3810">
            <a:solidFill>
              <a:srgbClr val="AAAAAA"/>
            </a:solidFill>
            <a:prstDash val="solid"/>
          </a:ln>
        </p:spPr>
      </p:sp>
      <p:sp>
        <p:nvSpPr>
          <p:cNvPr id="33" name="Shape 31"/>
          <p:cNvSpPr/>
          <p:nvPr/>
        </p:nvSpPr>
        <p:spPr>
          <a:xfrm>
            <a:off x="6309360" y="1453896"/>
            <a:ext cx="457200" cy="320040"/>
          </a:xfrm>
          <a:prstGeom prst="rect">
            <a:avLst/>
          </a:prstGeom>
          <a:solidFill>
            <a:srgbClr val="1B6B7B"/>
          </a:solidFill>
          <a:ln w="3810">
            <a:solidFill>
              <a:srgbClr val="AAAAAA"/>
            </a:solidFill>
            <a:prstDash val="solid"/>
          </a:ln>
        </p:spPr>
      </p:sp>
      <p:sp>
        <p:nvSpPr>
          <p:cNvPr id="34" name="Shape 32"/>
          <p:cNvSpPr/>
          <p:nvPr/>
        </p:nvSpPr>
        <p:spPr>
          <a:xfrm>
            <a:off x="6858000" y="1453896"/>
            <a:ext cx="457200" cy="320040"/>
          </a:xfrm>
          <a:prstGeom prst="rect">
            <a:avLst/>
          </a:prstGeom>
          <a:solidFill>
            <a:srgbClr val="1B6B7B">
              <a:alpha val="50000"/>
            </a:srgbClr>
          </a:solidFill>
          <a:ln w="3810">
            <a:solidFill>
              <a:srgbClr val="AAAAAA"/>
            </a:solidFill>
            <a:prstDash val="solid"/>
          </a:ln>
        </p:spPr>
      </p:sp>
      <p:sp>
        <p:nvSpPr>
          <p:cNvPr id="35" name="Shape 33"/>
          <p:cNvSpPr/>
          <p:nvPr/>
        </p:nvSpPr>
        <p:spPr>
          <a:xfrm>
            <a:off x="7406640" y="1453896"/>
            <a:ext cx="457200" cy="320040"/>
          </a:xfrm>
          <a:prstGeom prst="rect">
            <a:avLst/>
          </a:prstGeom>
          <a:solidFill>
            <a:srgbClr val="1B6B7B"/>
          </a:solidFill>
          <a:ln w="3810">
            <a:solidFill>
              <a:srgbClr val="AAAAAA"/>
            </a:solidFill>
            <a:prstDash val="solid"/>
          </a:ln>
        </p:spPr>
      </p:sp>
      <p:sp>
        <p:nvSpPr>
          <p:cNvPr id="36" name="Shape 34"/>
          <p:cNvSpPr/>
          <p:nvPr/>
        </p:nvSpPr>
        <p:spPr>
          <a:xfrm>
            <a:off x="7955280" y="1453896"/>
            <a:ext cx="457200" cy="320040"/>
          </a:xfrm>
          <a:prstGeom prst="rect">
            <a:avLst/>
          </a:prstGeom>
          <a:solidFill>
            <a:srgbClr val="1B6B7B">
              <a:alpha val="50000"/>
            </a:srgbClr>
          </a:solidFill>
          <a:ln w="3810">
            <a:solidFill>
              <a:srgbClr val="AAAAAA"/>
            </a:solidFill>
            <a:prstDash val="solid"/>
          </a:ln>
        </p:spPr>
      </p:sp>
      <p:sp>
        <p:nvSpPr>
          <p:cNvPr id="37" name="Shape 35"/>
          <p:cNvSpPr/>
          <p:nvPr/>
        </p:nvSpPr>
        <p:spPr>
          <a:xfrm>
            <a:off x="5212080" y="1847088"/>
            <a:ext cx="457200" cy="320040"/>
          </a:xfrm>
          <a:prstGeom prst="rect">
            <a:avLst/>
          </a:prstGeom>
          <a:solidFill>
            <a:srgbClr val="C8E6EC"/>
          </a:solidFill>
          <a:ln w="3810">
            <a:solidFill>
              <a:srgbClr val="AAAAAA"/>
            </a:solidFill>
            <a:prstDash val="solid"/>
          </a:ln>
        </p:spPr>
      </p:sp>
      <p:sp>
        <p:nvSpPr>
          <p:cNvPr id="38" name="Shape 36"/>
          <p:cNvSpPr/>
          <p:nvPr/>
        </p:nvSpPr>
        <p:spPr>
          <a:xfrm>
            <a:off x="5760720" y="1847088"/>
            <a:ext cx="457200" cy="320040"/>
          </a:xfrm>
          <a:prstGeom prst="rect">
            <a:avLst/>
          </a:prstGeom>
          <a:solidFill>
            <a:srgbClr val="C8E6EC">
              <a:alpha val="50000"/>
            </a:srgbClr>
          </a:solidFill>
          <a:ln w="3810">
            <a:solidFill>
              <a:srgbClr val="AAAAAA"/>
            </a:solidFill>
            <a:prstDash val="solid"/>
          </a:ln>
        </p:spPr>
      </p:sp>
      <p:sp>
        <p:nvSpPr>
          <p:cNvPr id="39" name="Shape 37"/>
          <p:cNvSpPr/>
          <p:nvPr/>
        </p:nvSpPr>
        <p:spPr>
          <a:xfrm>
            <a:off x="6309360" y="1847088"/>
            <a:ext cx="457200" cy="320040"/>
          </a:xfrm>
          <a:prstGeom prst="rect">
            <a:avLst/>
          </a:prstGeom>
          <a:solidFill>
            <a:srgbClr val="C8E6EC"/>
          </a:solidFill>
          <a:ln w="3810">
            <a:solidFill>
              <a:srgbClr val="AAAAAA"/>
            </a:solidFill>
            <a:prstDash val="solid"/>
          </a:ln>
        </p:spPr>
      </p:sp>
      <p:sp>
        <p:nvSpPr>
          <p:cNvPr id="40" name="Shape 38"/>
          <p:cNvSpPr/>
          <p:nvPr/>
        </p:nvSpPr>
        <p:spPr>
          <a:xfrm>
            <a:off x="6858000" y="1847088"/>
            <a:ext cx="457200" cy="320040"/>
          </a:xfrm>
          <a:prstGeom prst="rect">
            <a:avLst/>
          </a:prstGeom>
          <a:solidFill>
            <a:srgbClr val="C8E6EC">
              <a:alpha val="50000"/>
            </a:srgbClr>
          </a:solidFill>
          <a:ln w="3810">
            <a:solidFill>
              <a:srgbClr val="AAAAAA"/>
            </a:solidFill>
            <a:prstDash val="solid"/>
          </a:ln>
        </p:spPr>
      </p:sp>
      <p:sp>
        <p:nvSpPr>
          <p:cNvPr id="41" name="Shape 39"/>
          <p:cNvSpPr/>
          <p:nvPr/>
        </p:nvSpPr>
        <p:spPr>
          <a:xfrm>
            <a:off x="7406640" y="1847088"/>
            <a:ext cx="457200" cy="320040"/>
          </a:xfrm>
          <a:prstGeom prst="rect">
            <a:avLst/>
          </a:prstGeom>
          <a:solidFill>
            <a:srgbClr val="C8E6EC"/>
          </a:solidFill>
          <a:ln w="3810">
            <a:solidFill>
              <a:srgbClr val="AAAAAA"/>
            </a:solidFill>
            <a:prstDash val="solid"/>
          </a:ln>
        </p:spPr>
      </p:sp>
      <p:sp>
        <p:nvSpPr>
          <p:cNvPr id="42" name="Shape 40"/>
          <p:cNvSpPr/>
          <p:nvPr/>
        </p:nvSpPr>
        <p:spPr>
          <a:xfrm>
            <a:off x="7955280" y="1847088"/>
            <a:ext cx="457200" cy="320040"/>
          </a:xfrm>
          <a:prstGeom prst="rect">
            <a:avLst/>
          </a:prstGeom>
          <a:solidFill>
            <a:srgbClr val="C8E6EC">
              <a:alpha val="50000"/>
            </a:srgbClr>
          </a:solidFill>
          <a:ln w="3810">
            <a:solidFill>
              <a:srgbClr val="AAAAAA"/>
            </a:solidFill>
            <a:prstDash val="solid"/>
          </a:ln>
        </p:spPr>
      </p:sp>
      <p:sp>
        <p:nvSpPr>
          <p:cNvPr id="43" name="Shape 41"/>
          <p:cNvSpPr/>
          <p:nvPr/>
        </p:nvSpPr>
        <p:spPr>
          <a:xfrm>
            <a:off x="5212080" y="2240280"/>
            <a:ext cx="457200" cy="320040"/>
          </a:xfrm>
          <a:prstGeom prst="rect">
            <a:avLst/>
          </a:prstGeom>
          <a:solidFill>
            <a:srgbClr val="C8E6EC"/>
          </a:solidFill>
          <a:ln w="3810">
            <a:solidFill>
              <a:srgbClr val="AAAAAA"/>
            </a:solidFill>
            <a:prstDash val="solid"/>
          </a:ln>
        </p:spPr>
      </p:sp>
      <p:sp>
        <p:nvSpPr>
          <p:cNvPr id="44" name="Shape 42"/>
          <p:cNvSpPr/>
          <p:nvPr/>
        </p:nvSpPr>
        <p:spPr>
          <a:xfrm>
            <a:off x="5760720" y="2240280"/>
            <a:ext cx="457200" cy="320040"/>
          </a:xfrm>
          <a:prstGeom prst="rect">
            <a:avLst/>
          </a:prstGeom>
          <a:solidFill>
            <a:srgbClr val="C8E6EC">
              <a:alpha val="50000"/>
            </a:srgbClr>
          </a:solidFill>
          <a:ln w="3810">
            <a:solidFill>
              <a:srgbClr val="AAAAAA"/>
            </a:solidFill>
            <a:prstDash val="solid"/>
          </a:ln>
        </p:spPr>
      </p:sp>
      <p:sp>
        <p:nvSpPr>
          <p:cNvPr id="45" name="Shape 43"/>
          <p:cNvSpPr/>
          <p:nvPr/>
        </p:nvSpPr>
        <p:spPr>
          <a:xfrm>
            <a:off x="6309360" y="2240280"/>
            <a:ext cx="457200" cy="320040"/>
          </a:xfrm>
          <a:prstGeom prst="rect">
            <a:avLst/>
          </a:prstGeom>
          <a:solidFill>
            <a:srgbClr val="C8E6EC"/>
          </a:solidFill>
          <a:ln w="3810">
            <a:solidFill>
              <a:srgbClr val="AAAAAA"/>
            </a:solidFill>
            <a:prstDash val="solid"/>
          </a:ln>
        </p:spPr>
      </p:sp>
      <p:sp>
        <p:nvSpPr>
          <p:cNvPr id="46" name="Shape 44"/>
          <p:cNvSpPr/>
          <p:nvPr/>
        </p:nvSpPr>
        <p:spPr>
          <a:xfrm>
            <a:off x="6858000" y="2240280"/>
            <a:ext cx="457200" cy="320040"/>
          </a:xfrm>
          <a:prstGeom prst="rect">
            <a:avLst/>
          </a:prstGeom>
          <a:solidFill>
            <a:srgbClr val="C8E6EC">
              <a:alpha val="50000"/>
            </a:srgbClr>
          </a:solidFill>
          <a:ln w="3810">
            <a:solidFill>
              <a:srgbClr val="AAAAAA"/>
            </a:solidFill>
            <a:prstDash val="solid"/>
          </a:ln>
        </p:spPr>
      </p:sp>
      <p:sp>
        <p:nvSpPr>
          <p:cNvPr id="47" name="Shape 45"/>
          <p:cNvSpPr/>
          <p:nvPr/>
        </p:nvSpPr>
        <p:spPr>
          <a:xfrm>
            <a:off x="7406640" y="2240280"/>
            <a:ext cx="457200" cy="320040"/>
          </a:xfrm>
          <a:prstGeom prst="rect">
            <a:avLst/>
          </a:prstGeom>
          <a:solidFill>
            <a:srgbClr val="C8E6EC"/>
          </a:solidFill>
          <a:ln w="3810">
            <a:solidFill>
              <a:srgbClr val="AAAAAA"/>
            </a:solidFill>
            <a:prstDash val="solid"/>
          </a:ln>
        </p:spPr>
      </p:sp>
      <p:sp>
        <p:nvSpPr>
          <p:cNvPr id="48" name="Shape 46"/>
          <p:cNvSpPr/>
          <p:nvPr/>
        </p:nvSpPr>
        <p:spPr>
          <a:xfrm>
            <a:off x="7955280" y="2240280"/>
            <a:ext cx="457200" cy="320040"/>
          </a:xfrm>
          <a:prstGeom prst="rect">
            <a:avLst/>
          </a:prstGeom>
          <a:solidFill>
            <a:srgbClr val="C8E6EC">
              <a:alpha val="50000"/>
            </a:srgbClr>
          </a:solidFill>
          <a:ln w="3810">
            <a:solidFill>
              <a:srgbClr val="AAAAAA"/>
            </a:solidFill>
            <a:prstDash val="solid"/>
          </a:ln>
        </p:spPr>
      </p:sp>
      <p:sp>
        <p:nvSpPr>
          <p:cNvPr id="49" name="Shape 47"/>
          <p:cNvSpPr/>
          <p:nvPr/>
        </p:nvSpPr>
        <p:spPr>
          <a:xfrm>
            <a:off x="5212080" y="2633472"/>
            <a:ext cx="457200" cy="320040"/>
          </a:xfrm>
          <a:prstGeom prst="rect">
            <a:avLst/>
          </a:prstGeom>
          <a:solidFill>
            <a:srgbClr val="1B6B7B"/>
          </a:solidFill>
          <a:ln w="3810">
            <a:solidFill>
              <a:srgbClr val="AAAAAA"/>
            </a:solidFill>
            <a:prstDash val="solid"/>
          </a:ln>
        </p:spPr>
      </p:sp>
      <p:sp>
        <p:nvSpPr>
          <p:cNvPr id="50" name="Shape 48"/>
          <p:cNvSpPr/>
          <p:nvPr/>
        </p:nvSpPr>
        <p:spPr>
          <a:xfrm>
            <a:off x="5760720" y="2633472"/>
            <a:ext cx="457200" cy="320040"/>
          </a:xfrm>
          <a:prstGeom prst="rect">
            <a:avLst/>
          </a:prstGeom>
          <a:solidFill>
            <a:srgbClr val="1B6B7B">
              <a:alpha val="50000"/>
            </a:srgbClr>
          </a:solidFill>
          <a:ln w="3810">
            <a:solidFill>
              <a:srgbClr val="AAAAAA"/>
            </a:solidFill>
            <a:prstDash val="solid"/>
          </a:ln>
        </p:spPr>
      </p:sp>
      <p:sp>
        <p:nvSpPr>
          <p:cNvPr id="51" name="Shape 49"/>
          <p:cNvSpPr/>
          <p:nvPr/>
        </p:nvSpPr>
        <p:spPr>
          <a:xfrm>
            <a:off x="6309360" y="2633472"/>
            <a:ext cx="457200" cy="320040"/>
          </a:xfrm>
          <a:prstGeom prst="rect">
            <a:avLst/>
          </a:prstGeom>
          <a:solidFill>
            <a:srgbClr val="1B6B7B"/>
          </a:solidFill>
          <a:ln w="3810">
            <a:solidFill>
              <a:srgbClr val="AAAAAA"/>
            </a:solidFill>
            <a:prstDash val="solid"/>
          </a:ln>
        </p:spPr>
      </p:sp>
      <p:sp>
        <p:nvSpPr>
          <p:cNvPr id="52" name="Shape 50"/>
          <p:cNvSpPr/>
          <p:nvPr/>
        </p:nvSpPr>
        <p:spPr>
          <a:xfrm>
            <a:off x="6858000" y="2633472"/>
            <a:ext cx="457200" cy="320040"/>
          </a:xfrm>
          <a:prstGeom prst="rect">
            <a:avLst/>
          </a:prstGeom>
          <a:solidFill>
            <a:srgbClr val="1B6B7B">
              <a:alpha val="50000"/>
            </a:srgbClr>
          </a:solidFill>
          <a:ln w="3810">
            <a:solidFill>
              <a:srgbClr val="AAAAAA"/>
            </a:solidFill>
            <a:prstDash val="solid"/>
          </a:ln>
        </p:spPr>
      </p:sp>
      <p:sp>
        <p:nvSpPr>
          <p:cNvPr id="53" name="Shape 51"/>
          <p:cNvSpPr/>
          <p:nvPr/>
        </p:nvSpPr>
        <p:spPr>
          <a:xfrm>
            <a:off x="7406640" y="2633472"/>
            <a:ext cx="457200" cy="320040"/>
          </a:xfrm>
          <a:prstGeom prst="rect">
            <a:avLst/>
          </a:prstGeom>
          <a:solidFill>
            <a:srgbClr val="1B6B7B"/>
          </a:solidFill>
          <a:ln w="3810">
            <a:solidFill>
              <a:srgbClr val="AAAAAA"/>
            </a:solidFill>
            <a:prstDash val="solid"/>
          </a:ln>
        </p:spPr>
      </p:sp>
      <p:sp>
        <p:nvSpPr>
          <p:cNvPr id="54" name="Shape 52"/>
          <p:cNvSpPr/>
          <p:nvPr/>
        </p:nvSpPr>
        <p:spPr>
          <a:xfrm>
            <a:off x="7955280" y="2633472"/>
            <a:ext cx="457200" cy="320040"/>
          </a:xfrm>
          <a:prstGeom prst="rect">
            <a:avLst/>
          </a:prstGeom>
          <a:solidFill>
            <a:srgbClr val="1B6B7B">
              <a:alpha val="50000"/>
            </a:srgbClr>
          </a:solidFill>
          <a:ln w="3810">
            <a:solidFill>
              <a:srgbClr val="AAAAAA"/>
            </a:solidFill>
            <a:prstDash val="solid"/>
          </a:ln>
        </p:spPr>
      </p:sp>
      <p:sp>
        <p:nvSpPr>
          <p:cNvPr id="55" name="Shape 53"/>
          <p:cNvSpPr/>
          <p:nvPr/>
        </p:nvSpPr>
        <p:spPr>
          <a:xfrm>
            <a:off x="5212080" y="3026664"/>
            <a:ext cx="457200" cy="320040"/>
          </a:xfrm>
          <a:prstGeom prst="rect">
            <a:avLst/>
          </a:prstGeom>
          <a:solidFill>
            <a:srgbClr val="C8E6EC"/>
          </a:solidFill>
          <a:ln w="3810">
            <a:solidFill>
              <a:srgbClr val="AAAAAA"/>
            </a:solidFill>
            <a:prstDash val="solid"/>
          </a:ln>
        </p:spPr>
      </p:sp>
      <p:sp>
        <p:nvSpPr>
          <p:cNvPr id="56" name="Shape 54"/>
          <p:cNvSpPr/>
          <p:nvPr/>
        </p:nvSpPr>
        <p:spPr>
          <a:xfrm>
            <a:off x="5760720" y="3026664"/>
            <a:ext cx="457200" cy="320040"/>
          </a:xfrm>
          <a:prstGeom prst="rect">
            <a:avLst/>
          </a:prstGeom>
          <a:solidFill>
            <a:srgbClr val="C8E6EC">
              <a:alpha val="50000"/>
            </a:srgbClr>
          </a:solidFill>
          <a:ln w="3810">
            <a:solidFill>
              <a:srgbClr val="AAAAAA"/>
            </a:solidFill>
            <a:prstDash val="solid"/>
          </a:ln>
        </p:spPr>
      </p:sp>
      <p:sp>
        <p:nvSpPr>
          <p:cNvPr id="57" name="Shape 55"/>
          <p:cNvSpPr/>
          <p:nvPr/>
        </p:nvSpPr>
        <p:spPr>
          <a:xfrm>
            <a:off x="6309360" y="3026664"/>
            <a:ext cx="457200" cy="320040"/>
          </a:xfrm>
          <a:prstGeom prst="rect">
            <a:avLst/>
          </a:prstGeom>
          <a:solidFill>
            <a:srgbClr val="C8E6EC"/>
          </a:solidFill>
          <a:ln w="3810">
            <a:solidFill>
              <a:srgbClr val="AAAAAA"/>
            </a:solidFill>
            <a:prstDash val="solid"/>
          </a:ln>
        </p:spPr>
      </p:sp>
      <p:sp>
        <p:nvSpPr>
          <p:cNvPr id="58" name="Shape 56"/>
          <p:cNvSpPr/>
          <p:nvPr/>
        </p:nvSpPr>
        <p:spPr>
          <a:xfrm>
            <a:off x="6858000" y="3026664"/>
            <a:ext cx="457200" cy="320040"/>
          </a:xfrm>
          <a:prstGeom prst="rect">
            <a:avLst/>
          </a:prstGeom>
          <a:solidFill>
            <a:srgbClr val="C8E6EC">
              <a:alpha val="50000"/>
            </a:srgbClr>
          </a:solidFill>
          <a:ln w="3810">
            <a:solidFill>
              <a:srgbClr val="AAAAAA"/>
            </a:solidFill>
            <a:prstDash val="solid"/>
          </a:ln>
        </p:spPr>
      </p:sp>
      <p:sp>
        <p:nvSpPr>
          <p:cNvPr id="59" name="Shape 57"/>
          <p:cNvSpPr/>
          <p:nvPr/>
        </p:nvSpPr>
        <p:spPr>
          <a:xfrm>
            <a:off x="7406640" y="3026664"/>
            <a:ext cx="457200" cy="320040"/>
          </a:xfrm>
          <a:prstGeom prst="rect">
            <a:avLst/>
          </a:prstGeom>
          <a:solidFill>
            <a:srgbClr val="C8E6EC"/>
          </a:solidFill>
          <a:ln w="3810">
            <a:solidFill>
              <a:srgbClr val="AAAAAA"/>
            </a:solidFill>
            <a:prstDash val="solid"/>
          </a:ln>
        </p:spPr>
      </p:sp>
      <p:sp>
        <p:nvSpPr>
          <p:cNvPr id="60" name="Shape 58"/>
          <p:cNvSpPr/>
          <p:nvPr/>
        </p:nvSpPr>
        <p:spPr>
          <a:xfrm>
            <a:off x="7955280" y="3026664"/>
            <a:ext cx="457200" cy="320040"/>
          </a:xfrm>
          <a:prstGeom prst="rect">
            <a:avLst/>
          </a:prstGeom>
          <a:solidFill>
            <a:srgbClr val="C8E6EC">
              <a:alpha val="50000"/>
            </a:srgbClr>
          </a:solidFill>
          <a:ln w="3810">
            <a:solidFill>
              <a:srgbClr val="AAAAAA"/>
            </a:solidFill>
            <a:prstDash val="solid"/>
          </a:ln>
        </p:spPr>
      </p:sp>
      <p:sp>
        <p:nvSpPr>
          <p:cNvPr id="61" name="Shape 59"/>
          <p:cNvSpPr/>
          <p:nvPr/>
        </p:nvSpPr>
        <p:spPr>
          <a:xfrm>
            <a:off x="5212080" y="3419856"/>
            <a:ext cx="457200" cy="320040"/>
          </a:xfrm>
          <a:prstGeom prst="rect">
            <a:avLst/>
          </a:prstGeom>
          <a:solidFill>
            <a:srgbClr val="C8E6EC"/>
          </a:solidFill>
          <a:ln w="3810">
            <a:solidFill>
              <a:srgbClr val="AAAAAA"/>
            </a:solidFill>
            <a:prstDash val="solid"/>
          </a:ln>
        </p:spPr>
      </p:sp>
      <p:sp>
        <p:nvSpPr>
          <p:cNvPr id="62" name="Shape 60"/>
          <p:cNvSpPr/>
          <p:nvPr/>
        </p:nvSpPr>
        <p:spPr>
          <a:xfrm>
            <a:off x="5760720" y="3419856"/>
            <a:ext cx="457200" cy="320040"/>
          </a:xfrm>
          <a:prstGeom prst="rect">
            <a:avLst/>
          </a:prstGeom>
          <a:solidFill>
            <a:srgbClr val="C8E6EC">
              <a:alpha val="50000"/>
            </a:srgbClr>
          </a:solidFill>
          <a:ln w="3810">
            <a:solidFill>
              <a:srgbClr val="AAAAAA"/>
            </a:solidFill>
            <a:prstDash val="solid"/>
          </a:ln>
        </p:spPr>
      </p:sp>
      <p:sp>
        <p:nvSpPr>
          <p:cNvPr id="63" name="Shape 61"/>
          <p:cNvSpPr/>
          <p:nvPr/>
        </p:nvSpPr>
        <p:spPr>
          <a:xfrm>
            <a:off x="6309360" y="3419856"/>
            <a:ext cx="457200" cy="320040"/>
          </a:xfrm>
          <a:prstGeom prst="rect">
            <a:avLst/>
          </a:prstGeom>
          <a:solidFill>
            <a:srgbClr val="C8E6EC"/>
          </a:solidFill>
          <a:ln w="3810">
            <a:solidFill>
              <a:srgbClr val="AAAAAA"/>
            </a:solidFill>
            <a:prstDash val="solid"/>
          </a:ln>
        </p:spPr>
      </p:sp>
      <p:sp>
        <p:nvSpPr>
          <p:cNvPr id="64" name="Shape 62"/>
          <p:cNvSpPr/>
          <p:nvPr/>
        </p:nvSpPr>
        <p:spPr>
          <a:xfrm>
            <a:off x="6858000" y="3419856"/>
            <a:ext cx="457200" cy="320040"/>
          </a:xfrm>
          <a:prstGeom prst="rect">
            <a:avLst/>
          </a:prstGeom>
          <a:solidFill>
            <a:srgbClr val="C8E6EC">
              <a:alpha val="50000"/>
            </a:srgbClr>
          </a:solidFill>
          <a:ln w="3810">
            <a:solidFill>
              <a:srgbClr val="AAAAAA"/>
            </a:solidFill>
            <a:prstDash val="solid"/>
          </a:ln>
        </p:spPr>
      </p:sp>
      <p:sp>
        <p:nvSpPr>
          <p:cNvPr id="65" name="Shape 63"/>
          <p:cNvSpPr/>
          <p:nvPr/>
        </p:nvSpPr>
        <p:spPr>
          <a:xfrm>
            <a:off x="7406640" y="3419856"/>
            <a:ext cx="457200" cy="320040"/>
          </a:xfrm>
          <a:prstGeom prst="rect">
            <a:avLst/>
          </a:prstGeom>
          <a:solidFill>
            <a:srgbClr val="C8E6EC"/>
          </a:solidFill>
          <a:ln w="3810">
            <a:solidFill>
              <a:srgbClr val="AAAAAA"/>
            </a:solidFill>
            <a:prstDash val="solid"/>
          </a:ln>
        </p:spPr>
      </p:sp>
      <p:sp>
        <p:nvSpPr>
          <p:cNvPr id="66" name="Shape 64"/>
          <p:cNvSpPr/>
          <p:nvPr/>
        </p:nvSpPr>
        <p:spPr>
          <a:xfrm>
            <a:off x="7955280" y="3419856"/>
            <a:ext cx="457200" cy="320040"/>
          </a:xfrm>
          <a:prstGeom prst="rect">
            <a:avLst/>
          </a:prstGeom>
          <a:solidFill>
            <a:srgbClr val="C8E6EC">
              <a:alpha val="50000"/>
            </a:srgbClr>
          </a:solidFill>
          <a:ln w="3810">
            <a:solidFill>
              <a:srgbClr val="AAAAAA"/>
            </a:solidFill>
            <a:prstDash val="solid"/>
          </a:ln>
        </p:spPr>
      </p:sp>
      <p:sp>
        <p:nvSpPr>
          <p:cNvPr id="67" name="Shape 65"/>
          <p:cNvSpPr/>
          <p:nvPr/>
        </p:nvSpPr>
        <p:spPr>
          <a:xfrm>
            <a:off x="5212080" y="3813048"/>
            <a:ext cx="457200" cy="320040"/>
          </a:xfrm>
          <a:prstGeom prst="rect">
            <a:avLst/>
          </a:prstGeom>
          <a:solidFill>
            <a:srgbClr val="1B6B7B"/>
          </a:solidFill>
          <a:ln w="3810">
            <a:solidFill>
              <a:srgbClr val="AAAAAA"/>
            </a:solidFill>
            <a:prstDash val="solid"/>
          </a:ln>
        </p:spPr>
      </p:sp>
      <p:sp>
        <p:nvSpPr>
          <p:cNvPr id="68" name="Shape 66"/>
          <p:cNvSpPr/>
          <p:nvPr/>
        </p:nvSpPr>
        <p:spPr>
          <a:xfrm>
            <a:off x="5760720" y="3813048"/>
            <a:ext cx="457200" cy="320040"/>
          </a:xfrm>
          <a:prstGeom prst="rect">
            <a:avLst/>
          </a:prstGeom>
          <a:solidFill>
            <a:srgbClr val="1B6B7B">
              <a:alpha val="50000"/>
            </a:srgbClr>
          </a:solidFill>
          <a:ln w="3810">
            <a:solidFill>
              <a:srgbClr val="AAAAAA"/>
            </a:solidFill>
            <a:prstDash val="solid"/>
          </a:ln>
        </p:spPr>
      </p:sp>
      <p:sp>
        <p:nvSpPr>
          <p:cNvPr id="69" name="Shape 67"/>
          <p:cNvSpPr/>
          <p:nvPr/>
        </p:nvSpPr>
        <p:spPr>
          <a:xfrm>
            <a:off x="6309360" y="3813048"/>
            <a:ext cx="457200" cy="320040"/>
          </a:xfrm>
          <a:prstGeom prst="rect">
            <a:avLst/>
          </a:prstGeom>
          <a:solidFill>
            <a:srgbClr val="1B6B7B"/>
          </a:solidFill>
          <a:ln w="3810">
            <a:solidFill>
              <a:srgbClr val="AAAAAA"/>
            </a:solidFill>
            <a:prstDash val="solid"/>
          </a:ln>
        </p:spPr>
      </p:sp>
      <p:sp>
        <p:nvSpPr>
          <p:cNvPr id="70" name="Shape 68"/>
          <p:cNvSpPr/>
          <p:nvPr/>
        </p:nvSpPr>
        <p:spPr>
          <a:xfrm>
            <a:off x="6858000" y="3813048"/>
            <a:ext cx="457200" cy="320040"/>
          </a:xfrm>
          <a:prstGeom prst="rect">
            <a:avLst/>
          </a:prstGeom>
          <a:solidFill>
            <a:srgbClr val="1B6B7B">
              <a:alpha val="50000"/>
            </a:srgbClr>
          </a:solidFill>
          <a:ln w="3810">
            <a:solidFill>
              <a:srgbClr val="AAAAAA"/>
            </a:solidFill>
            <a:prstDash val="solid"/>
          </a:ln>
        </p:spPr>
      </p:sp>
      <p:sp>
        <p:nvSpPr>
          <p:cNvPr id="71" name="Shape 69"/>
          <p:cNvSpPr/>
          <p:nvPr/>
        </p:nvSpPr>
        <p:spPr>
          <a:xfrm>
            <a:off x="7406640" y="3813048"/>
            <a:ext cx="457200" cy="320040"/>
          </a:xfrm>
          <a:prstGeom prst="rect">
            <a:avLst/>
          </a:prstGeom>
          <a:solidFill>
            <a:srgbClr val="1B6B7B"/>
          </a:solidFill>
          <a:ln w="3810">
            <a:solidFill>
              <a:srgbClr val="AAAAAA"/>
            </a:solidFill>
            <a:prstDash val="solid"/>
          </a:ln>
        </p:spPr>
      </p:sp>
      <p:sp>
        <p:nvSpPr>
          <p:cNvPr id="72" name="Shape 70"/>
          <p:cNvSpPr/>
          <p:nvPr/>
        </p:nvSpPr>
        <p:spPr>
          <a:xfrm>
            <a:off x="7955280" y="3813048"/>
            <a:ext cx="457200" cy="320040"/>
          </a:xfrm>
          <a:prstGeom prst="rect">
            <a:avLst/>
          </a:prstGeom>
          <a:solidFill>
            <a:srgbClr val="1B6B7B">
              <a:alpha val="50000"/>
            </a:srgbClr>
          </a:solidFill>
          <a:ln w="3810">
            <a:solidFill>
              <a:srgbClr val="AAAAAA"/>
            </a:solidFill>
            <a:prstDash val="solid"/>
          </a:ln>
        </p:spPr>
      </p:sp>
      <p:sp>
        <p:nvSpPr>
          <p:cNvPr id="73" name="Shape 71"/>
          <p:cNvSpPr/>
          <p:nvPr/>
        </p:nvSpPr>
        <p:spPr>
          <a:xfrm>
            <a:off x="5212080" y="4206240"/>
            <a:ext cx="457200" cy="320040"/>
          </a:xfrm>
          <a:prstGeom prst="rect">
            <a:avLst/>
          </a:prstGeom>
          <a:solidFill>
            <a:srgbClr val="C8E6EC"/>
          </a:solidFill>
          <a:ln w="3810">
            <a:solidFill>
              <a:srgbClr val="AAAAAA"/>
            </a:solidFill>
            <a:prstDash val="solid"/>
          </a:ln>
        </p:spPr>
      </p:sp>
      <p:sp>
        <p:nvSpPr>
          <p:cNvPr id="74" name="Shape 72"/>
          <p:cNvSpPr/>
          <p:nvPr/>
        </p:nvSpPr>
        <p:spPr>
          <a:xfrm>
            <a:off x="5760720" y="4206240"/>
            <a:ext cx="457200" cy="320040"/>
          </a:xfrm>
          <a:prstGeom prst="rect">
            <a:avLst/>
          </a:prstGeom>
          <a:solidFill>
            <a:srgbClr val="C8E6EC">
              <a:alpha val="50000"/>
            </a:srgbClr>
          </a:solidFill>
          <a:ln w="3810">
            <a:solidFill>
              <a:srgbClr val="AAAAAA"/>
            </a:solidFill>
            <a:prstDash val="solid"/>
          </a:ln>
        </p:spPr>
      </p:sp>
      <p:sp>
        <p:nvSpPr>
          <p:cNvPr id="75" name="Shape 73"/>
          <p:cNvSpPr/>
          <p:nvPr/>
        </p:nvSpPr>
        <p:spPr>
          <a:xfrm>
            <a:off x="6309360" y="4206240"/>
            <a:ext cx="457200" cy="320040"/>
          </a:xfrm>
          <a:prstGeom prst="rect">
            <a:avLst/>
          </a:prstGeom>
          <a:solidFill>
            <a:srgbClr val="C8E6EC"/>
          </a:solidFill>
          <a:ln w="3810">
            <a:solidFill>
              <a:srgbClr val="AAAAAA"/>
            </a:solidFill>
            <a:prstDash val="solid"/>
          </a:ln>
        </p:spPr>
      </p:sp>
      <p:sp>
        <p:nvSpPr>
          <p:cNvPr id="76" name="Shape 74"/>
          <p:cNvSpPr/>
          <p:nvPr/>
        </p:nvSpPr>
        <p:spPr>
          <a:xfrm>
            <a:off x="6858000" y="4206240"/>
            <a:ext cx="457200" cy="320040"/>
          </a:xfrm>
          <a:prstGeom prst="rect">
            <a:avLst/>
          </a:prstGeom>
          <a:solidFill>
            <a:srgbClr val="C8E6EC">
              <a:alpha val="50000"/>
            </a:srgbClr>
          </a:solidFill>
          <a:ln w="3810">
            <a:solidFill>
              <a:srgbClr val="AAAAAA"/>
            </a:solidFill>
            <a:prstDash val="solid"/>
          </a:ln>
        </p:spPr>
      </p:sp>
      <p:sp>
        <p:nvSpPr>
          <p:cNvPr id="77" name="Shape 75"/>
          <p:cNvSpPr/>
          <p:nvPr/>
        </p:nvSpPr>
        <p:spPr>
          <a:xfrm>
            <a:off x="7406640" y="4206240"/>
            <a:ext cx="457200" cy="320040"/>
          </a:xfrm>
          <a:prstGeom prst="rect">
            <a:avLst/>
          </a:prstGeom>
          <a:solidFill>
            <a:srgbClr val="C8E6EC"/>
          </a:solidFill>
          <a:ln w="3810">
            <a:solidFill>
              <a:srgbClr val="AAAAAA"/>
            </a:solidFill>
            <a:prstDash val="solid"/>
          </a:ln>
        </p:spPr>
      </p:sp>
      <p:sp>
        <p:nvSpPr>
          <p:cNvPr id="78" name="Shape 76"/>
          <p:cNvSpPr/>
          <p:nvPr/>
        </p:nvSpPr>
        <p:spPr>
          <a:xfrm>
            <a:off x="7955280" y="4206240"/>
            <a:ext cx="457200" cy="320040"/>
          </a:xfrm>
          <a:prstGeom prst="rect">
            <a:avLst/>
          </a:prstGeom>
          <a:solidFill>
            <a:srgbClr val="C8E6EC">
              <a:alpha val="50000"/>
            </a:srgbClr>
          </a:solidFill>
          <a:ln w="3810">
            <a:solidFill>
              <a:srgbClr val="AAAAAA"/>
            </a:solidFill>
            <a:prstDash val="solid"/>
          </a:ln>
        </p:spPr>
      </p:sp>
      <p:sp>
        <p:nvSpPr>
          <p:cNvPr id="79" name="Shape 77"/>
          <p:cNvSpPr/>
          <p:nvPr/>
        </p:nvSpPr>
        <p:spPr>
          <a:xfrm>
            <a:off x="5212080" y="4599432"/>
            <a:ext cx="457200" cy="320040"/>
          </a:xfrm>
          <a:prstGeom prst="rect">
            <a:avLst/>
          </a:prstGeom>
          <a:solidFill>
            <a:srgbClr val="C8E6EC"/>
          </a:solidFill>
          <a:ln w="3810">
            <a:solidFill>
              <a:srgbClr val="AAAAAA"/>
            </a:solidFill>
            <a:prstDash val="solid"/>
          </a:ln>
        </p:spPr>
      </p:sp>
      <p:sp>
        <p:nvSpPr>
          <p:cNvPr id="80" name="Shape 78"/>
          <p:cNvSpPr/>
          <p:nvPr/>
        </p:nvSpPr>
        <p:spPr>
          <a:xfrm>
            <a:off x="5760720" y="4599432"/>
            <a:ext cx="457200" cy="320040"/>
          </a:xfrm>
          <a:prstGeom prst="rect">
            <a:avLst/>
          </a:prstGeom>
          <a:solidFill>
            <a:srgbClr val="C8E6EC">
              <a:alpha val="50000"/>
            </a:srgbClr>
          </a:solidFill>
          <a:ln w="3810">
            <a:solidFill>
              <a:srgbClr val="AAAAAA"/>
            </a:solidFill>
            <a:prstDash val="solid"/>
          </a:ln>
        </p:spPr>
      </p:sp>
      <p:sp>
        <p:nvSpPr>
          <p:cNvPr id="81" name="Shape 79"/>
          <p:cNvSpPr/>
          <p:nvPr/>
        </p:nvSpPr>
        <p:spPr>
          <a:xfrm>
            <a:off x="6309360" y="4599432"/>
            <a:ext cx="457200" cy="320040"/>
          </a:xfrm>
          <a:prstGeom prst="rect">
            <a:avLst/>
          </a:prstGeom>
          <a:solidFill>
            <a:srgbClr val="C8E6EC"/>
          </a:solidFill>
          <a:ln w="3810">
            <a:solidFill>
              <a:srgbClr val="AAAAAA"/>
            </a:solidFill>
            <a:prstDash val="solid"/>
          </a:ln>
        </p:spPr>
      </p:sp>
      <p:sp>
        <p:nvSpPr>
          <p:cNvPr id="82" name="Shape 80"/>
          <p:cNvSpPr/>
          <p:nvPr/>
        </p:nvSpPr>
        <p:spPr>
          <a:xfrm>
            <a:off x="6858000" y="4599432"/>
            <a:ext cx="457200" cy="320040"/>
          </a:xfrm>
          <a:prstGeom prst="rect">
            <a:avLst/>
          </a:prstGeom>
          <a:solidFill>
            <a:srgbClr val="C8E6EC">
              <a:alpha val="50000"/>
            </a:srgbClr>
          </a:solidFill>
          <a:ln w="3810">
            <a:solidFill>
              <a:srgbClr val="AAAAAA"/>
            </a:solidFill>
            <a:prstDash val="solid"/>
          </a:ln>
        </p:spPr>
      </p:sp>
      <p:sp>
        <p:nvSpPr>
          <p:cNvPr id="83" name="Shape 81"/>
          <p:cNvSpPr/>
          <p:nvPr/>
        </p:nvSpPr>
        <p:spPr>
          <a:xfrm>
            <a:off x="7406640" y="4599432"/>
            <a:ext cx="457200" cy="320040"/>
          </a:xfrm>
          <a:prstGeom prst="rect">
            <a:avLst/>
          </a:prstGeom>
          <a:solidFill>
            <a:srgbClr val="C8E6EC"/>
          </a:solidFill>
          <a:ln w="3810">
            <a:solidFill>
              <a:srgbClr val="AAAAAA"/>
            </a:solidFill>
            <a:prstDash val="solid"/>
          </a:ln>
        </p:spPr>
      </p:sp>
      <p:sp>
        <p:nvSpPr>
          <p:cNvPr id="84" name="Shape 82"/>
          <p:cNvSpPr/>
          <p:nvPr/>
        </p:nvSpPr>
        <p:spPr>
          <a:xfrm>
            <a:off x="7955280" y="4599432"/>
            <a:ext cx="457200" cy="320040"/>
          </a:xfrm>
          <a:prstGeom prst="rect">
            <a:avLst/>
          </a:prstGeom>
          <a:solidFill>
            <a:srgbClr val="C8E6EC">
              <a:alpha val="50000"/>
            </a:srgbClr>
          </a:solidFill>
          <a:ln w="3810">
            <a:solidFill>
              <a:srgbClr val="AAAAAA"/>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320040" y="164592"/>
            <a:ext cx="8503920" cy="713232"/>
          </a:xfrm>
          <a:prstGeom prst="rect">
            <a:avLst/>
          </a:prstGeom>
          <a:noFill/>
          <a:ln/>
        </p:spPr>
        <p:txBody>
          <a:bodyPr wrap="square" rtlCol="0" anchor="ctr"/>
          <a:lstStyle/>
          <a:p>
            <a:pPr indent="0" marL="0">
              <a:buNone/>
            </a:pPr>
            <a:r>
              <a:rPr lang="en-US" sz="3400" dirty="0">
                <a:solidFill>
                  <a:srgbClr val="1A1A2E"/>
                </a:solidFill>
                <a:latin typeface="Calibri" pitchFamily="34" charset="0"/>
                <a:ea typeface="Calibri" pitchFamily="34" charset="-122"/>
                <a:cs typeface="Calibri" pitchFamily="34" charset="-120"/>
              </a:rPr>
              <a:t>What we accomplished</a:t>
            </a:r>
            <a:endParaRPr lang="en-US" sz="3400" dirty="0"/>
          </a:p>
        </p:txBody>
      </p:sp>
      <p:sp>
        <p:nvSpPr>
          <p:cNvPr id="5" name="Shape 3"/>
          <p:cNvSpPr/>
          <p:nvPr/>
        </p:nvSpPr>
        <p:spPr>
          <a:xfrm>
            <a:off x="274320" y="987552"/>
            <a:ext cx="8595360" cy="475488"/>
          </a:xfrm>
          <a:prstGeom prst="rect">
            <a:avLst/>
          </a:prstGeom>
          <a:solidFill>
            <a:srgbClr val="FDE8ED"/>
          </a:solidFill>
          <a:ln w="12700">
            <a:solidFill>
              <a:srgbClr val="E8456A"/>
            </a:solidFill>
            <a:prstDash val="solid"/>
          </a:ln>
        </p:spPr>
      </p:sp>
      <p:sp>
        <p:nvSpPr>
          <p:cNvPr id="6" name="Shape 4"/>
          <p:cNvSpPr/>
          <p:nvPr/>
        </p:nvSpPr>
        <p:spPr>
          <a:xfrm>
            <a:off x="274320" y="987552"/>
            <a:ext cx="822960" cy="475488"/>
          </a:xfrm>
          <a:prstGeom prst="rect">
            <a:avLst/>
          </a:prstGeom>
          <a:solidFill>
            <a:srgbClr val="E8456A"/>
          </a:solidFill>
          <a:ln w="12700">
            <a:solidFill>
              <a:srgbClr val="E8456A"/>
            </a:solidFill>
            <a:prstDash val="solid"/>
          </a:ln>
        </p:spPr>
      </p:sp>
      <p:sp>
        <p:nvSpPr>
          <p:cNvPr id="7" name="Text 5"/>
          <p:cNvSpPr/>
          <p:nvPr/>
        </p:nvSpPr>
        <p:spPr>
          <a:xfrm>
            <a:off x="274320" y="1088136"/>
            <a:ext cx="8229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Chyna</a:t>
            </a:r>
            <a:endParaRPr lang="en-US" sz="1100" dirty="0"/>
          </a:p>
        </p:txBody>
      </p:sp>
      <p:sp>
        <p:nvSpPr>
          <p:cNvPr id="8" name="Text 6"/>
          <p:cNvSpPr/>
          <p:nvPr/>
        </p:nvSpPr>
        <p:spPr>
          <a:xfrm>
            <a:off x="1234440" y="1078992"/>
            <a:ext cx="7543800" cy="29260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Loaded fact_price_weekly — 6,841,121 rows, all QA checks pass</a:t>
            </a:r>
            <a:endParaRPr lang="en-US" sz="1300" dirty="0"/>
          </a:p>
        </p:txBody>
      </p:sp>
      <p:sp>
        <p:nvSpPr>
          <p:cNvPr id="9" name="Shape 7"/>
          <p:cNvSpPr/>
          <p:nvPr/>
        </p:nvSpPr>
        <p:spPr>
          <a:xfrm>
            <a:off x="274320" y="1545336"/>
            <a:ext cx="8595360" cy="475488"/>
          </a:xfrm>
          <a:prstGeom prst="rect">
            <a:avLst/>
          </a:prstGeom>
          <a:solidFill>
            <a:srgbClr val="FDE8ED"/>
          </a:solidFill>
          <a:ln w="12700">
            <a:solidFill>
              <a:srgbClr val="E8456A"/>
            </a:solidFill>
            <a:prstDash val="solid"/>
          </a:ln>
        </p:spPr>
      </p:sp>
      <p:sp>
        <p:nvSpPr>
          <p:cNvPr id="10" name="Shape 8"/>
          <p:cNvSpPr/>
          <p:nvPr/>
        </p:nvSpPr>
        <p:spPr>
          <a:xfrm>
            <a:off x="274320" y="1545336"/>
            <a:ext cx="822960" cy="475488"/>
          </a:xfrm>
          <a:prstGeom prst="rect">
            <a:avLst/>
          </a:prstGeom>
          <a:solidFill>
            <a:srgbClr val="E8456A"/>
          </a:solidFill>
          <a:ln w="12700">
            <a:solidFill>
              <a:srgbClr val="E8456A"/>
            </a:solidFill>
            <a:prstDash val="solid"/>
          </a:ln>
        </p:spPr>
      </p:sp>
      <p:sp>
        <p:nvSpPr>
          <p:cNvPr id="11" name="Text 9"/>
          <p:cNvSpPr/>
          <p:nvPr/>
        </p:nvSpPr>
        <p:spPr>
          <a:xfrm>
            <a:off x="274320" y="1645920"/>
            <a:ext cx="8229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Chyna</a:t>
            </a:r>
            <a:endParaRPr lang="en-US" sz="1100" dirty="0"/>
          </a:p>
        </p:txBody>
      </p:sp>
      <p:sp>
        <p:nvSpPr>
          <p:cNvPr id="12" name="Text 10"/>
          <p:cNvSpPr/>
          <p:nvPr/>
        </p:nvSpPr>
        <p:spPr>
          <a:xfrm>
            <a:off x="1234440" y="1636776"/>
            <a:ext cx="7543800" cy="29260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Performance benchmark — average price by store, query timing measured</a:t>
            </a:r>
            <a:endParaRPr lang="en-US" sz="1300" dirty="0"/>
          </a:p>
        </p:txBody>
      </p:sp>
      <p:sp>
        <p:nvSpPr>
          <p:cNvPr id="13" name="Shape 11"/>
          <p:cNvSpPr/>
          <p:nvPr/>
        </p:nvSpPr>
        <p:spPr>
          <a:xfrm>
            <a:off x="274320" y="2103120"/>
            <a:ext cx="8595360" cy="475488"/>
          </a:xfrm>
          <a:prstGeom prst="rect">
            <a:avLst/>
          </a:prstGeom>
          <a:solidFill>
            <a:srgbClr val="FDE8ED"/>
          </a:solidFill>
          <a:ln w="12700">
            <a:solidFill>
              <a:srgbClr val="E8456A"/>
            </a:solidFill>
            <a:prstDash val="solid"/>
          </a:ln>
        </p:spPr>
      </p:sp>
      <p:sp>
        <p:nvSpPr>
          <p:cNvPr id="14" name="Shape 12"/>
          <p:cNvSpPr/>
          <p:nvPr/>
        </p:nvSpPr>
        <p:spPr>
          <a:xfrm>
            <a:off x="274320" y="2103120"/>
            <a:ext cx="822960" cy="475488"/>
          </a:xfrm>
          <a:prstGeom prst="rect">
            <a:avLst/>
          </a:prstGeom>
          <a:solidFill>
            <a:srgbClr val="E8456A"/>
          </a:solidFill>
          <a:ln w="12700">
            <a:solidFill>
              <a:srgbClr val="E8456A"/>
            </a:solidFill>
            <a:prstDash val="solid"/>
          </a:ln>
        </p:spPr>
      </p:sp>
      <p:sp>
        <p:nvSpPr>
          <p:cNvPr id="15" name="Text 13"/>
          <p:cNvSpPr/>
          <p:nvPr/>
        </p:nvSpPr>
        <p:spPr>
          <a:xfrm>
            <a:off x="274320" y="2203704"/>
            <a:ext cx="8229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Chyna</a:t>
            </a:r>
            <a:endParaRPr lang="en-US" sz="1100" dirty="0"/>
          </a:p>
        </p:txBody>
      </p:sp>
      <p:sp>
        <p:nvSpPr>
          <p:cNvPr id="16" name="Text 14"/>
          <p:cNvSpPr/>
          <p:nvPr/>
        </p:nvSpPr>
        <p:spPr>
          <a:xfrm>
            <a:off x="1234440" y="2194560"/>
            <a:ext cx="7543800" cy="29260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QA log saved to outputs/qa_log_week10.txt and committed to GitHub</a:t>
            </a:r>
            <a:endParaRPr lang="en-US" sz="1300" dirty="0"/>
          </a:p>
        </p:txBody>
      </p:sp>
      <p:sp>
        <p:nvSpPr>
          <p:cNvPr id="17" name="Shape 15"/>
          <p:cNvSpPr/>
          <p:nvPr/>
        </p:nvSpPr>
        <p:spPr>
          <a:xfrm>
            <a:off x="274320" y="2660904"/>
            <a:ext cx="8595360" cy="475488"/>
          </a:xfrm>
          <a:prstGeom prst="rect">
            <a:avLst/>
          </a:prstGeom>
          <a:solidFill>
            <a:srgbClr val="FDE8ED"/>
          </a:solidFill>
          <a:ln w="12700">
            <a:solidFill>
              <a:srgbClr val="E8456A"/>
            </a:solidFill>
            <a:prstDash val="solid"/>
          </a:ln>
        </p:spPr>
      </p:sp>
      <p:sp>
        <p:nvSpPr>
          <p:cNvPr id="18" name="Shape 16"/>
          <p:cNvSpPr/>
          <p:nvPr/>
        </p:nvSpPr>
        <p:spPr>
          <a:xfrm>
            <a:off x="274320" y="2660904"/>
            <a:ext cx="822960" cy="475488"/>
          </a:xfrm>
          <a:prstGeom prst="rect">
            <a:avLst/>
          </a:prstGeom>
          <a:solidFill>
            <a:srgbClr val="E8456A"/>
          </a:solidFill>
          <a:ln w="12700">
            <a:solidFill>
              <a:srgbClr val="E8456A"/>
            </a:solidFill>
            <a:prstDash val="solid"/>
          </a:ln>
        </p:spPr>
      </p:sp>
      <p:sp>
        <p:nvSpPr>
          <p:cNvPr id="19" name="Text 17"/>
          <p:cNvSpPr/>
          <p:nvPr/>
        </p:nvSpPr>
        <p:spPr>
          <a:xfrm>
            <a:off x="274320" y="2761488"/>
            <a:ext cx="8229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Chyna</a:t>
            </a:r>
            <a:endParaRPr lang="en-US" sz="1100" dirty="0"/>
          </a:p>
        </p:txBody>
      </p:sp>
      <p:sp>
        <p:nvSpPr>
          <p:cNvPr id="20" name="Text 18"/>
          <p:cNvSpPr/>
          <p:nvPr/>
        </p:nvSpPr>
        <p:spPr>
          <a:xfrm>
            <a:off x="1234440" y="2752344"/>
            <a:ext cx="7543800" cy="29260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4 OLAP SQL queries written and committed to sql/queries/</a:t>
            </a:r>
            <a:endParaRPr lang="en-US" sz="1300" dirty="0"/>
          </a:p>
        </p:txBody>
      </p:sp>
      <p:sp>
        <p:nvSpPr>
          <p:cNvPr id="21" name="Shape 19"/>
          <p:cNvSpPr/>
          <p:nvPr/>
        </p:nvSpPr>
        <p:spPr>
          <a:xfrm>
            <a:off x="274320" y="3218688"/>
            <a:ext cx="8595360" cy="475488"/>
          </a:xfrm>
          <a:prstGeom prst="rect">
            <a:avLst/>
          </a:prstGeom>
          <a:solidFill>
            <a:srgbClr val="E8F4F7"/>
          </a:solidFill>
          <a:ln w="12700">
            <a:solidFill>
              <a:srgbClr val="1B6B7B"/>
            </a:solidFill>
            <a:prstDash val="solid"/>
          </a:ln>
        </p:spPr>
      </p:sp>
      <p:sp>
        <p:nvSpPr>
          <p:cNvPr id="22" name="Shape 20"/>
          <p:cNvSpPr/>
          <p:nvPr/>
        </p:nvSpPr>
        <p:spPr>
          <a:xfrm>
            <a:off x="274320" y="3218688"/>
            <a:ext cx="822960" cy="475488"/>
          </a:xfrm>
          <a:prstGeom prst="rect">
            <a:avLst/>
          </a:prstGeom>
          <a:solidFill>
            <a:srgbClr val="1B6B7B"/>
          </a:solidFill>
          <a:ln w="12700">
            <a:solidFill>
              <a:srgbClr val="1B6B7B"/>
            </a:solidFill>
            <a:prstDash val="solid"/>
          </a:ln>
        </p:spPr>
      </p:sp>
      <p:sp>
        <p:nvSpPr>
          <p:cNvPr id="23" name="Text 21"/>
          <p:cNvSpPr/>
          <p:nvPr/>
        </p:nvSpPr>
        <p:spPr>
          <a:xfrm>
            <a:off x="274320" y="3319272"/>
            <a:ext cx="8229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Yanet</a:t>
            </a:r>
            <a:endParaRPr lang="en-US" sz="1100" dirty="0"/>
          </a:p>
        </p:txBody>
      </p:sp>
      <p:sp>
        <p:nvSpPr>
          <p:cNvPr id="24" name="Text 22"/>
          <p:cNvSpPr/>
          <p:nvPr/>
        </p:nvSpPr>
        <p:spPr>
          <a:xfrm>
            <a:off x="1234440" y="3310128"/>
            <a:ext cx="7543800" cy="29260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Validated transformed sales data — confirmed all 58.3M rows are clean and consistent</a:t>
            </a:r>
            <a:endParaRPr lang="en-US" sz="1300" dirty="0"/>
          </a:p>
        </p:txBody>
      </p:sp>
      <p:sp>
        <p:nvSpPr>
          <p:cNvPr id="25" name="Shape 23"/>
          <p:cNvSpPr/>
          <p:nvPr/>
        </p:nvSpPr>
        <p:spPr>
          <a:xfrm>
            <a:off x="274320" y="3776472"/>
            <a:ext cx="8595360" cy="475488"/>
          </a:xfrm>
          <a:prstGeom prst="rect">
            <a:avLst/>
          </a:prstGeom>
          <a:solidFill>
            <a:srgbClr val="E8F4F7"/>
          </a:solidFill>
          <a:ln w="12700">
            <a:solidFill>
              <a:srgbClr val="1B6B7B"/>
            </a:solidFill>
            <a:prstDash val="solid"/>
          </a:ln>
        </p:spPr>
      </p:sp>
      <p:sp>
        <p:nvSpPr>
          <p:cNvPr id="26" name="Shape 24"/>
          <p:cNvSpPr/>
          <p:nvPr/>
        </p:nvSpPr>
        <p:spPr>
          <a:xfrm>
            <a:off x="274320" y="3776472"/>
            <a:ext cx="822960" cy="475488"/>
          </a:xfrm>
          <a:prstGeom prst="rect">
            <a:avLst/>
          </a:prstGeom>
          <a:solidFill>
            <a:srgbClr val="1B6B7B"/>
          </a:solidFill>
          <a:ln w="12700">
            <a:solidFill>
              <a:srgbClr val="1B6B7B"/>
            </a:solidFill>
            <a:prstDash val="solid"/>
          </a:ln>
        </p:spPr>
      </p:sp>
      <p:sp>
        <p:nvSpPr>
          <p:cNvPr id="27" name="Text 25"/>
          <p:cNvSpPr/>
          <p:nvPr/>
        </p:nvSpPr>
        <p:spPr>
          <a:xfrm>
            <a:off x="274320" y="3877056"/>
            <a:ext cx="8229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Yanet</a:t>
            </a:r>
            <a:endParaRPr lang="en-US" sz="1100" dirty="0"/>
          </a:p>
        </p:txBody>
      </p:sp>
      <p:sp>
        <p:nvSpPr>
          <p:cNvPr id="28" name="Text 26"/>
          <p:cNvSpPr/>
          <p:nvPr/>
        </p:nvSpPr>
        <p:spPr>
          <a:xfrm>
            <a:off x="1234440" y="3867912"/>
            <a:ext cx="7543800" cy="29260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Documented how d maps to actual dates via dim_date join</a:t>
            </a:r>
            <a:endParaRPr lang="en-US" sz="1300" dirty="0"/>
          </a:p>
        </p:txBody>
      </p:sp>
      <p:sp>
        <p:nvSpPr>
          <p:cNvPr id="29" name="Shape 27"/>
          <p:cNvSpPr/>
          <p:nvPr/>
        </p:nvSpPr>
        <p:spPr>
          <a:xfrm>
            <a:off x="274320" y="4334256"/>
            <a:ext cx="8595360" cy="475488"/>
          </a:xfrm>
          <a:prstGeom prst="rect">
            <a:avLst/>
          </a:prstGeom>
          <a:solidFill>
            <a:srgbClr val="E8F4F7"/>
          </a:solidFill>
          <a:ln w="12700">
            <a:solidFill>
              <a:srgbClr val="1B6B7B"/>
            </a:solidFill>
            <a:prstDash val="solid"/>
          </a:ln>
        </p:spPr>
      </p:sp>
      <p:sp>
        <p:nvSpPr>
          <p:cNvPr id="30" name="Shape 28"/>
          <p:cNvSpPr/>
          <p:nvPr/>
        </p:nvSpPr>
        <p:spPr>
          <a:xfrm>
            <a:off x="274320" y="4334256"/>
            <a:ext cx="822960" cy="475488"/>
          </a:xfrm>
          <a:prstGeom prst="rect">
            <a:avLst/>
          </a:prstGeom>
          <a:solidFill>
            <a:srgbClr val="1B6B7B"/>
          </a:solidFill>
          <a:ln w="12700">
            <a:solidFill>
              <a:srgbClr val="1B6B7B"/>
            </a:solidFill>
            <a:prstDash val="solid"/>
          </a:ln>
        </p:spPr>
      </p:sp>
      <p:sp>
        <p:nvSpPr>
          <p:cNvPr id="31" name="Text 29"/>
          <p:cNvSpPr/>
          <p:nvPr/>
        </p:nvSpPr>
        <p:spPr>
          <a:xfrm>
            <a:off x="274320" y="4434840"/>
            <a:ext cx="8229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Yanet</a:t>
            </a:r>
            <a:endParaRPr lang="en-US" sz="1100" dirty="0"/>
          </a:p>
        </p:txBody>
      </p:sp>
      <p:sp>
        <p:nvSpPr>
          <p:cNvPr id="32" name="Text 30"/>
          <p:cNvSpPr/>
          <p:nvPr/>
        </p:nvSpPr>
        <p:spPr>
          <a:xfrm>
            <a:off x="1234440" y="4425696"/>
            <a:ext cx="7543800" cy="29260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Final data prep report committed to docs/final_data_prep.md</a:t>
            </a:r>
            <a:endParaRPr lang="en-US" sz="1300" dirty="0"/>
          </a:p>
        </p:txBody>
      </p:sp>
      <p:sp>
        <p:nvSpPr>
          <p:cNvPr id="33" name="Text 31"/>
          <p:cNvSpPr/>
          <p:nvPr/>
        </p:nvSpPr>
        <p:spPr>
          <a:xfrm>
            <a:off x="8503920" y="4800600"/>
            <a:ext cx="457200" cy="274320"/>
          </a:xfrm>
          <a:prstGeom prst="rect">
            <a:avLst/>
          </a:prstGeom>
          <a:noFill/>
          <a:ln/>
        </p:spPr>
        <p:txBody>
          <a:bodyPr wrap="square" rtlCol="0" anchor="ctr"/>
          <a:lstStyle/>
          <a:p>
            <a:pPr algn="r" indent="0" marL="0">
              <a:buNone/>
            </a:pPr>
            <a:r>
              <a:rPr lang="en-US" sz="1400" b="1" dirty="0">
                <a:solidFill>
                  <a:srgbClr val="E8456A"/>
                </a:solidFill>
                <a:latin typeface="Calibri" pitchFamily="34" charset="0"/>
                <a:ea typeface="Calibri" pitchFamily="34" charset="-122"/>
                <a:cs typeface="Calibri"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BF5F7"/>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320040" y="137160"/>
            <a:ext cx="8503920" cy="621792"/>
          </a:xfrm>
          <a:prstGeom prst="rect">
            <a:avLst/>
          </a:prstGeom>
          <a:noFill/>
          <a:ln/>
        </p:spPr>
        <p:txBody>
          <a:bodyPr wrap="square" rtlCol="0" anchor="ctr"/>
          <a:lstStyle/>
          <a:p>
            <a:pPr indent="0" marL="0">
              <a:buNone/>
            </a:pPr>
            <a:r>
              <a:rPr lang="en-US" sz="3000" dirty="0">
                <a:solidFill>
                  <a:srgbClr val="1B6B7B"/>
                </a:solidFill>
                <a:latin typeface="Calibri" pitchFamily="34" charset="0"/>
                <a:ea typeface="Calibri" pitchFamily="34" charset="-122"/>
                <a:cs typeface="Calibri" pitchFamily="34" charset="-120"/>
              </a:rPr>
              <a:t>Evidence  —  Warehouse Complete</a:t>
            </a:r>
            <a:endParaRPr lang="en-US" sz="3000" dirty="0"/>
          </a:p>
        </p:txBody>
      </p:sp>
      <p:sp>
        <p:nvSpPr>
          <p:cNvPr id="5" name="Text 3"/>
          <p:cNvSpPr/>
          <p:nvPr/>
        </p:nvSpPr>
        <p:spPr>
          <a:xfrm>
            <a:off x="320040" y="713232"/>
            <a:ext cx="8503920" cy="292608"/>
          </a:xfrm>
          <a:prstGeom prst="rect">
            <a:avLst/>
          </a:prstGeom>
          <a:noFill/>
          <a:ln/>
        </p:spPr>
        <p:txBody>
          <a:bodyPr wrap="square" rtlCol="0" anchor="ctr"/>
          <a:lstStyle/>
          <a:p>
            <a:pPr indent="0" marL="0">
              <a:buNone/>
            </a:pPr>
            <a:r>
              <a:rPr lang="en-US" sz="1300" dirty="0">
                <a:solidFill>
                  <a:srgbClr val="555555"/>
                </a:solidFill>
                <a:latin typeface="Calibri" pitchFamily="34" charset="0"/>
                <a:ea typeface="Calibri" pitchFamily="34" charset="-122"/>
                <a:cs typeface="Calibri" pitchFamily="34" charset="-120"/>
              </a:rPr>
              <a:t>Final warehouse structure with all fact and dimension tables loaded and validated</a:t>
            </a:r>
            <a:endParaRPr lang="en-US" sz="1300" dirty="0"/>
          </a:p>
        </p:txBody>
      </p:sp>
      <p:sp>
        <p:nvSpPr>
          <p:cNvPr id="6" name="Shape 4"/>
          <p:cNvSpPr/>
          <p:nvPr/>
        </p:nvSpPr>
        <p:spPr>
          <a:xfrm>
            <a:off x="274320" y="1143000"/>
            <a:ext cx="2651760" cy="1664208"/>
          </a:xfrm>
          <a:prstGeom prst="rect">
            <a:avLst/>
          </a:prstGeom>
          <a:solidFill>
            <a:srgbClr val="FFFFFF"/>
          </a:solidFill>
          <a:ln w="19050">
            <a:solidFill>
              <a:srgbClr val="E8456A"/>
            </a:solidFill>
            <a:prstDash val="solid"/>
          </a:ln>
        </p:spPr>
      </p:sp>
      <p:sp>
        <p:nvSpPr>
          <p:cNvPr id="7" name="Shape 5"/>
          <p:cNvSpPr/>
          <p:nvPr/>
        </p:nvSpPr>
        <p:spPr>
          <a:xfrm>
            <a:off x="274320" y="1143000"/>
            <a:ext cx="2651760" cy="109728"/>
          </a:xfrm>
          <a:prstGeom prst="rect">
            <a:avLst/>
          </a:prstGeom>
          <a:solidFill>
            <a:srgbClr val="E8456A"/>
          </a:solidFill>
          <a:ln w="12700">
            <a:solidFill>
              <a:srgbClr val="E8456A"/>
            </a:solidFill>
            <a:prstDash val="solid"/>
          </a:ln>
        </p:spPr>
      </p:sp>
      <p:sp>
        <p:nvSpPr>
          <p:cNvPr id="8" name="Text 6"/>
          <p:cNvSpPr/>
          <p:nvPr/>
        </p:nvSpPr>
        <p:spPr>
          <a:xfrm>
            <a:off x="274320" y="1307592"/>
            <a:ext cx="2651760" cy="804672"/>
          </a:xfrm>
          <a:prstGeom prst="rect">
            <a:avLst/>
          </a:prstGeom>
          <a:noFill/>
          <a:ln/>
        </p:spPr>
        <p:txBody>
          <a:bodyPr wrap="square" rtlCol="0" anchor="ctr"/>
          <a:lstStyle/>
          <a:p>
            <a:pPr algn="ctr" indent="0" marL="0">
              <a:buNone/>
            </a:pPr>
            <a:r>
              <a:rPr lang="en-US" sz="3400" b="1" dirty="0">
                <a:solidFill>
                  <a:srgbClr val="E8456A"/>
                </a:solidFill>
                <a:latin typeface="Calibri" pitchFamily="34" charset="0"/>
                <a:ea typeface="Calibri" pitchFamily="34" charset="-122"/>
                <a:cs typeface="Calibri" pitchFamily="34" charset="-120"/>
              </a:rPr>
              <a:t>58.3M</a:t>
            </a:r>
            <a:endParaRPr lang="en-US" sz="3400" dirty="0"/>
          </a:p>
        </p:txBody>
      </p:sp>
      <p:sp>
        <p:nvSpPr>
          <p:cNvPr id="9" name="Text 7"/>
          <p:cNvSpPr/>
          <p:nvPr/>
        </p:nvSpPr>
        <p:spPr>
          <a:xfrm>
            <a:off x="274320" y="2130552"/>
            <a:ext cx="2651760" cy="548640"/>
          </a:xfrm>
          <a:prstGeom prst="rect">
            <a:avLst/>
          </a:prstGeom>
          <a:noFill/>
          <a:ln/>
        </p:spPr>
        <p:txBody>
          <a:bodyPr wrap="square" rtlCol="0" anchor="ctr"/>
          <a:lstStyle/>
          <a:p>
            <a:pPr algn="ctr" indent="0" marL="0">
              <a:buNone/>
            </a:pPr>
            <a:r>
              <a:rPr lang="en-US" sz="1300" dirty="0">
                <a:solidFill>
                  <a:srgbClr val="555555"/>
                </a:solidFill>
                <a:latin typeface="Calibri" pitchFamily="34" charset="0"/>
                <a:ea typeface="Calibri" pitchFamily="34" charset="-122"/>
                <a:cs typeface="Calibri" pitchFamily="34" charset="-120"/>
              </a:rPr>
              <a:t>fact_sales_daily</a:t>
            </a:r>
            <a:endParaRPr lang="en-US" sz="1300" dirty="0"/>
          </a:p>
          <a:p>
            <a:pPr algn="ctr" indent="0" marL="0">
              <a:buNone/>
            </a:pPr>
            <a:r>
              <a:rPr lang="en-US" sz="1300" dirty="0">
                <a:solidFill>
                  <a:srgbClr val="555555"/>
                </a:solidFill>
                <a:latin typeface="Calibri" pitchFamily="34" charset="0"/>
                <a:ea typeface="Calibri" pitchFamily="34" charset="-122"/>
                <a:cs typeface="Calibri" pitchFamily="34" charset="-120"/>
              </a:rPr>
              <a:t>rows</a:t>
            </a:r>
            <a:endParaRPr lang="en-US" sz="1300" dirty="0"/>
          </a:p>
        </p:txBody>
      </p:sp>
      <p:sp>
        <p:nvSpPr>
          <p:cNvPr id="10" name="Shape 8"/>
          <p:cNvSpPr/>
          <p:nvPr/>
        </p:nvSpPr>
        <p:spPr>
          <a:xfrm>
            <a:off x="3154680" y="1143000"/>
            <a:ext cx="2651760" cy="1664208"/>
          </a:xfrm>
          <a:prstGeom prst="rect">
            <a:avLst/>
          </a:prstGeom>
          <a:solidFill>
            <a:srgbClr val="FFFFFF"/>
          </a:solidFill>
          <a:ln w="19050">
            <a:solidFill>
              <a:srgbClr val="E8456A"/>
            </a:solidFill>
            <a:prstDash val="solid"/>
          </a:ln>
        </p:spPr>
      </p:sp>
      <p:sp>
        <p:nvSpPr>
          <p:cNvPr id="11" name="Shape 9"/>
          <p:cNvSpPr/>
          <p:nvPr/>
        </p:nvSpPr>
        <p:spPr>
          <a:xfrm>
            <a:off x="3154680" y="1143000"/>
            <a:ext cx="2651760" cy="109728"/>
          </a:xfrm>
          <a:prstGeom prst="rect">
            <a:avLst/>
          </a:prstGeom>
          <a:solidFill>
            <a:srgbClr val="E8456A"/>
          </a:solidFill>
          <a:ln w="12700">
            <a:solidFill>
              <a:srgbClr val="E8456A"/>
            </a:solidFill>
            <a:prstDash val="solid"/>
          </a:ln>
        </p:spPr>
      </p:sp>
      <p:sp>
        <p:nvSpPr>
          <p:cNvPr id="12" name="Text 10"/>
          <p:cNvSpPr/>
          <p:nvPr/>
        </p:nvSpPr>
        <p:spPr>
          <a:xfrm>
            <a:off x="3154680" y="1307592"/>
            <a:ext cx="2651760" cy="804672"/>
          </a:xfrm>
          <a:prstGeom prst="rect">
            <a:avLst/>
          </a:prstGeom>
          <a:noFill/>
          <a:ln/>
        </p:spPr>
        <p:txBody>
          <a:bodyPr wrap="square" rtlCol="0" anchor="ctr"/>
          <a:lstStyle/>
          <a:p>
            <a:pPr algn="ctr" indent="0" marL="0">
              <a:buNone/>
            </a:pPr>
            <a:r>
              <a:rPr lang="en-US" sz="3400" b="1" dirty="0">
                <a:solidFill>
                  <a:srgbClr val="E8456A"/>
                </a:solidFill>
                <a:latin typeface="Calibri" pitchFamily="34" charset="0"/>
                <a:ea typeface="Calibri" pitchFamily="34" charset="-122"/>
                <a:cs typeface="Calibri" pitchFamily="34" charset="-120"/>
              </a:rPr>
              <a:t>6.8M</a:t>
            </a:r>
            <a:endParaRPr lang="en-US" sz="3400" dirty="0"/>
          </a:p>
        </p:txBody>
      </p:sp>
      <p:sp>
        <p:nvSpPr>
          <p:cNvPr id="13" name="Text 11"/>
          <p:cNvSpPr/>
          <p:nvPr/>
        </p:nvSpPr>
        <p:spPr>
          <a:xfrm>
            <a:off x="3154680" y="2130552"/>
            <a:ext cx="2651760" cy="548640"/>
          </a:xfrm>
          <a:prstGeom prst="rect">
            <a:avLst/>
          </a:prstGeom>
          <a:noFill/>
          <a:ln/>
        </p:spPr>
        <p:txBody>
          <a:bodyPr wrap="square" rtlCol="0" anchor="ctr"/>
          <a:lstStyle/>
          <a:p>
            <a:pPr algn="ctr" indent="0" marL="0">
              <a:buNone/>
            </a:pPr>
            <a:r>
              <a:rPr lang="en-US" sz="1300" dirty="0">
                <a:solidFill>
                  <a:srgbClr val="555555"/>
                </a:solidFill>
                <a:latin typeface="Calibri" pitchFamily="34" charset="0"/>
                <a:ea typeface="Calibri" pitchFamily="34" charset="-122"/>
                <a:cs typeface="Calibri" pitchFamily="34" charset="-120"/>
              </a:rPr>
              <a:t>fact_price_weekly</a:t>
            </a:r>
            <a:endParaRPr lang="en-US" sz="1300" dirty="0"/>
          </a:p>
          <a:p>
            <a:pPr algn="ctr" indent="0" marL="0">
              <a:buNone/>
            </a:pPr>
            <a:r>
              <a:rPr lang="en-US" sz="1300" dirty="0">
                <a:solidFill>
                  <a:srgbClr val="555555"/>
                </a:solidFill>
                <a:latin typeface="Calibri" pitchFamily="34" charset="0"/>
                <a:ea typeface="Calibri" pitchFamily="34" charset="-122"/>
                <a:cs typeface="Calibri" pitchFamily="34" charset="-120"/>
              </a:rPr>
              <a:t>rows</a:t>
            </a:r>
            <a:endParaRPr lang="en-US" sz="1300" dirty="0"/>
          </a:p>
        </p:txBody>
      </p:sp>
      <p:sp>
        <p:nvSpPr>
          <p:cNvPr id="14" name="Shape 12"/>
          <p:cNvSpPr/>
          <p:nvPr/>
        </p:nvSpPr>
        <p:spPr>
          <a:xfrm>
            <a:off x="6035040" y="1143000"/>
            <a:ext cx="2651760" cy="1664208"/>
          </a:xfrm>
          <a:prstGeom prst="rect">
            <a:avLst/>
          </a:prstGeom>
          <a:solidFill>
            <a:srgbClr val="FFFFFF"/>
          </a:solidFill>
          <a:ln w="19050">
            <a:solidFill>
              <a:srgbClr val="1B6B7B"/>
            </a:solidFill>
            <a:prstDash val="solid"/>
          </a:ln>
        </p:spPr>
      </p:sp>
      <p:sp>
        <p:nvSpPr>
          <p:cNvPr id="15" name="Shape 13"/>
          <p:cNvSpPr/>
          <p:nvPr/>
        </p:nvSpPr>
        <p:spPr>
          <a:xfrm>
            <a:off x="6035040" y="1143000"/>
            <a:ext cx="2651760" cy="109728"/>
          </a:xfrm>
          <a:prstGeom prst="rect">
            <a:avLst/>
          </a:prstGeom>
          <a:solidFill>
            <a:srgbClr val="1B6B7B"/>
          </a:solidFill>
          <a:ln w="12700">
            <a:solidFill>
              <a:srgbClr val="1B6B7B"/>
            </a:solidFill>
            <a:prstDash val="solid"/>
          </a:ln>
        </p:spPr>
      </p:sp>
      <p:sp>
        <p:nvSpPr>
          <p:cNvPr id="16" name="Text 14"/>
          <p:cNvSpPr/>
          <p:nvPr/>
        </p:nvSpPr>
        <p:spPr>
          <a:xfrm>
            <a:off x="6035040" y="1307592"/>
            <a:ext cx="2651760" cy="804672"/>
          </a:xfrm>
          <a:prstGeom prst="rect">
            <a:avLst/>
          </a:prstGeom>
          <a:noFill/>
          <a:ln/>
        </p:spPr>
        <p:txBody>
          <a:bodyPr wrap="square" rtlCol="0" anchor="ctr"/>
          <a:lstStyle/>
          <a:p>
            <a:pPr algn="ctr" indent="0" marL="0">
              <a:buNone/>
            </a:pPr>
            <a:r>
              <a:rPr lang="en-US" sz="3400" b="1" dirty="0">
                <a:solidFill>
                  <a:srgbClr val="1B6B7B"/>
                </a:solidFill>
                <a:latin typeface="Calibri" pitchFamily="34" charset="0"/>
                <a:ea typeface="Calibri" pitchFamily="34" charset="-122"/>
                <a:cs typeface="Calibri" pitchFamily="34" charset="-120"/>
              </a:rPr>
              <a:t>1,969</a:t>
            </a:r>
            <a:endParaRPr lang="en-US" sz="3400" dirty="0"/>
          </a:p>
        </p:txBody>
      </p:sp>
      <p:sp>
        <p:nvSpPr>
          <p:cNvPr id="17" name="Text 15"/>
          <p:cNvSpPr/>
          <p:nvPr/>
        </p:nvSpPr>
        <p:spPr>
          <a:xfrm>
            <a:off x="6035040" y="2130552"/>
            <a:ext cx="2651760" cy="548640"/>
          </a:xfrm>
          <a:prstGeom prst="rect">
            <a:avLst/>
          </a:prstGeom>
          <a:noFill/>
          <a:ln/>
        </p:spPr>
        <p:txBody>
          <a:bodyPr wrap="square" rtlCol="0" anchor="ctr"/>
          <a:lstStyle/>
          <a:p>
            <a:pPr algn="ctr" indent="0" marL="0">
              <a:buNone/>
            </a:pPr>
            <a:r>
              <a:rPr lang="en-US" sz="1300" dirty="0">
                <a:solidFill>
                  <a:srgbClr val="555555"/>
                </a:solidFill>
                <a:latin typeface="Calibri" pitchFamily="34" charset="0"/>
                <a:ea typeface="Calibri" pitchFamily="34" charset="-122"/>
                <a:cs typeface="Calibri" pitchFamily="34" charset="-120"/>
              </a:rPr>
              <a:t>dim_date</a:t>
            </a:r>
            <a:endParaRPr lang="en-US" sz="1300" dirty="0"/>
          </a:p>
          <a:p>
            <a:pPr algn="ctr" indent="0" marL="0">
              <a:buNone/>
            </a:pPr>
            <a:r>
              <a:rPr lang="en-US" sz="1300" dirty="0">
                <a:solidFill>
                  <a:srgbClr val="555555"/>
                </a:solidFill>
                <a:latin typeface="Calibri" pitchFamily="34" charset="0"/>
                <a:ea typeface="Calibri" pitchFamily="34" charset="-122"/>
                <a:cs typeface="Calibri" pitchFamily="34" charset="-120"/>
              </a:rPr>
              <a:t>rows</a:t>
            </a:r>
            <a:endParaRPr lang="en-US" sz="1300" dirty="0"/>
          </a:p>
        </p:txBody>
      </p:sp>
      <p:sp>
        <p:nvSpPr>
          <p:cNvPr id="18" name="Shape 16"/>
          <p:cNvSpPr/>
          <p:nvPr/>
        </p:nvSpPr>
        <p:spPr>
          <a:xfrm>
            <a:off x="274320" y="3063240"/>
            <a:ext cx="2651760" cy="1664208"/>
          </a:xfrm>
          <a:prstGeom prst="rect">
            <a:avLst/>
          </a:prstGeom>
          <a:solidFill>
            <a:srgbClr val="FFFFFF"/>
          </a:solidFill>
          <a:ln w="19050">
            <a:solidFill>
              <a:srgbClr val="1B6B7B"/>
            </a:solidFill>
            <a:prstDash val="solid"/>
          </a:ln>
        </p:spPr>
      </p:sp>
      <p:sp>
        <p:nvSpPr>
          <p:cNvPr id="19" name="Shape 17"/>
          <p:cNvSpPr/>
          <p:nvPr/>
        </p:nvSpPr>
        <p:spPr>
          <a:xfrm>
            <a:off x="274320" y="3063240"/>
            <a:ext cx="2651760" cy="109728"/>
          </a:xfrm>
          <a:prstGeom prst="rect">
            <a:avLst/>
          </a:prstGeom>
          <a:solidFill>
            <a:srgbClr val="1B6B7B"/>
          </a:solidFill>
          <a:ln w="12700">
            <a:solidFill>
              <a:srgbClr val="1B6B7B"/>
            </a:solidFill>
            <a:prstDash val="solid"/>
          </a:ln>
        </p:spPr>
      </p:sp>
      <p:sp>
        <p:nvSpPr>
          <p:cNvPr id="20" name="Text 18"/>
          <p:cNvSpPr/>
          <p:nvPr/>
        </p:nvSpPr>
        <p:spPr>
          <a:xfrm>
            <a:off x="274320" y="3227832"/>
            <a:ext cx="2651760" cy="804672"/>
          </a:xfrm>
          <a:prstGeom prst="rect">
            <a:avLst/>
          </a:prstGeom>
          <a:noFill/>
          <a:ln/>
        </p:spPr>
        <p:txBody>
          <a:bodyPr wrap="square" rtlCol="0" anchor="ctr"/>
          <a:lstStyle/>
          <a:p>
            <a:pPr algn="ctr" indent="0" marL="0">
              <a:buNone/>
            </a:pPr>
            <a:r>
              <a:rPr lang="en-US" sz="3400" b="1" dirty="0">
                <a:solidFill>
                  <a:srgbClr val="1B6B7B"/>
                </a:solidFill>
                <a:latin typeface="Calibri" pitchFamily="34" charset="0"/>
                <a:ea typeface="Calibri" pitchFamily="34" charset="-122"/>
                <a:cs typeface="Calibri" pitchFamily="34" charset="-120"/>
              </a:rPr>
              <a:t>3,049</a:t>
            </a:r>
            <a:endParaRPr lang="en-US" sz="3400" dirty="0"/>
          </a:p>
        </p:txBody>
      </p:sp>
      <p:sp>
        <p:nvSpPr>
          <p:cNvPr id="21" name="Text 19"/>
          <p:cNvSpPr/>
          <p:nvPr/>
        </p:nvSpPr>
        <p:spPr>
          <a:xfrm>
            <a:off x="274320" y="4050792"/>
            <a:ext cx="2651760" cy="548640"/>
          </a:xfrm>
          <a:prstGeom prst="rect">
            <a:avLst/>
          </a:prstGeom>
          <a:noFill/>
          <a:ln/>
        </p:spPr>
        <p:txBody>
          <a:bodyPr wrap="square" rtlCol="0" anchor="ctr"/>
          <a:lstStyle/>
          <a:p>
            <a:pPr algn="ctr" indent="0" marL="0">
              <a:buNone/>
            </a:pPr>
            <a:r>
              <a:rPr lang="en-US" sz="1300" dirty="0">
                <a:solidFill>
                  <a:srgbClr val="555555"/>
                </a:solidFill>
                <a:latin typeface="Calibri" pitchFamily="34" charset="0"/>
                <a:ea typeface="Calibri" pitchFamily="34" charset="-122"/>
                <a:cs typeface="Calibri" pitchFamily="34" charset="-120"/>
              </a:rPr>
              <a:t>dim_item</a:t>
            </a:r>
            <a:endParaRPr lang="en-US" sz="1300" dirty="0"/>
          </a:p>
          <a:p>
            <a:pPr algn="ctr" indent="0" marL="0">
              <a:buNone/>
            </a:pPr>
            <a:r>
              <a:rPr lang="en-US" sz="1300" dirty="0">
                <a:solidFill>
                  <a:srgbClr val="555555"/>
                </a:solidFill>
                <a:latin typeface="Calibri" pitchFamily="34" charset="0"/>
                <a:ea typeface="Calibri" pitchFamily="34" charset="-122"/>
                <a:cs typeface="Calibri" pitchFamily="34" charset="-120"/>
              </a:rPr>
              <a:t>rows</a:t>
            </a:r>
            <a:endParaRPr lang="en-US" sz="1300" dirty="0"/>
          </a:p>
        </p:txBody>
      </p:sp>
      <p:sp>
        <p:nvSpPr>
          <p:cNvPr id="22" name="Shape 20"/>
          <p:cNvSpPr/>
          <p:nvPr/>
        </p:nvSpPr>
        <p:spPr>
          <a:xfrm>
            <a:off x="3154680" y="3063240"/>
            <a:ext cx="2651760" cy="1664208"/>
          </a:xfrm>
          <a:prstGeom prst="rect">
            <a:avLst/>
          </a:prstGeom>
          <a:solidFill>
            <a:srgbClr val="FFFFFF"/>
          </a:solidFill>
          <a:ln w="19050">
            <a:solidFill>
              <a:srgbClr val="1B6B7B"/>
            </a:solidFill>
            <a:prstDash val="solid"/>
          </a:ln>
        </p:spPr>
      </p:sp>
      <p:sp>
        <p:nvSpPr>
          <p:cNvPr id="23" name="Shape 21"/>
          <p:cNvSpPr/>
          <p:nvPr/>
        </p:nvSpPr>
        <p:spPr>
          <a:xfrm>
            <a:off x="3154680" y="3063240"/>
            <a:ext cx="2651760" cy="109728"/>
          </a:xfrm>
          <a:prstGeom prst="rect">
            <a:avLst/>
          </a:prstGeom>
          <a:solidFill>
            <a:srgbClr val="1B6B7B"/>
          </a:solidFill>
          <a:ln w="12700">
            <a:solidFill>
              <a:srgbClr val="1B6B7B"/>
            </a:solidFill>
            <a:prstDash val="solid"/>
          </a:ln>
        </p:spPr>
      </p:sp>
      <p:sp>
        <p:nvSpPr>
          <p:cNvPr id="24" name="Text 22"/>
          <p:cNvSpPr/>
          <p:nvPr/>
        </p:nvSpPr>
        <p:spPr>
          <a:xfrm>
            <a:off x="3154680" y="3227832"/>
            <a:ext cx="2651760" cy="804672"/>
          </a:xfrm>
          <a:prstGeom prst="rect">
            <a:avLst/>
          </a:prstGeom>
          <a:noFill/>
          <a:ln/>
        </p:spPr>
        <p:txBody>
          <a:bodyPr wrap="square" rtlCol="0" anchor="ctr"/>
          <a:lstStyle/>
          <a:p>
            <a:pPr algn="ctr" indent="0" marL="0">
              <a:buNone/>
            </a:pPr>
            <a:r>
              <a:rPr lang="en-US" sz="3400" b="1" dirty="0">
                <a:solidFill>
                  <a:srgbClr val="1B6B7B"/>
                </a:solidFill>
                <a:latin typeface="Calibri" pitchFamily="34" charset="0"/>
                <a:ea typeface="Calibri" pitchFamily="34" charset="-122"/>
                <a:cs typeface="Calibri" pitchFamily="34" charset="-120"/>
              </a:rPr>
              <a:t>10</a:t>
            </a:r>
            <a:endParaRPr lang="en-US" sz="3400" dirty="0"/>
          </a:p>
        </p:txBody>
      </p:sp>
      <p:sp>
        <p:nvSpPr>
          <p:cNvPr id="25" name="Text 23"/>
          <p:cNvSpPr/>
          <p:nvPr/>
        </p:nvSpPr>
        <p:spPr>
          <a:xfrm>
            <a:off x="3154680" y="4050792"/>
            <a:ext cx="2651760" cy="548640"/>
          </a:xfrm>
          <a:prstGeom prst="rect">
            <a:avLst/>
          </a:prstGeom>
          <a:noFill/>
          <a:ln/>
        </p:spPr>
        <p:txBody>
          <a:bodyPr wrap="square" rtlCol="0" anchor="ctr"/>
          <a:lstStyle/>
          <a:p>
            <a:pPr algn="ctr" indent="0" marL="0">
              <a:buNone/>
            </a:pPr>
            <a:r>
              <a:rPr lang="en-US" sz="1300" dirty="0">
                <a:solidFill>
                  <a:srgbClr val="555555"/>
                </a:solidFill>
                <a:latin typeface="Calibri" pitchFamily="34" charset="0"/>
                <a:ea typeface="Calibri" pitchFamily="34" charset="-122"/>
                <a:cs typeface="Calibri" pitchFamily="34" charset="-120"/>
              </a:rPr>
              <a:t>dim_store</a:t>
            </a:r>
            <a:endParaRPr lang="en-US" sz="1300" dirty="0"/>
          </a:p>
          <a:p>
            <a:pPr algn="ctr" indent="0" marL="0">
              <a:buNone/>
            </a:pPr>
            <a:r>
              <a:rPr lang="en-US" sz="1300" dirty="0">
                <a:solidFill>
                  <a:srgbClr val="555555"/>
                </a:solidFill>
                <a:latin typeface="Calibri" pitchFamily="34" charset="0"/>
                <a:ea typeface="Calibri" pitchFamily="34" charset="-122"/>
                <a:cs typeface="Calibri" pitchFamily="34" charset="-120"/>
              </a:rPr>
              <a:t>rows</a:t>
            </a:r>
            <a:endParaRPr lang="en-US" sz="1300" dirty="0"/>
          </a:p>
        </p:txBody>
      </p:sp>
      <p:sp>
        <p:nvSpPr>
          <p:cNvPr id="26" name="Shape 24"/>
          <p:cNvSpPr/>
          <p:nvPr/>
        </p:nvSpPr>
        <p:spPr>
          <a:xfrm>
            <a:off x="6035040" y="3063240"/>
            <a:ext cx="2651760" cy="1664208"/>
          </a:xfrm>
          <a:prstGeom prst="rect">
            <a:avLst/>
          </a:prstGeom>
          <a:solidFill>
            <a:srgbClr val="FFFFFF"/>
          </a:solidFill>
          <a:ln w="19050">
            <a:solidFill>
              <a:srgbClr val="22C55E"/>
            </a:solidFill>
            <a:prstDash val="solid"/>
          </a:ln>
        </p:spPr>
      </p:sp>
      <p:sp>
        <p:nvSpPr>
          <p:cNvPr id="27" name="Shape 25"/>
          <p:cNvSpPr/>
          <p:nvPr/>
        </p:nvSpPr>
        <p:spPr>
          <a:xfrm>
            <a:off x="6035040" y="3063240"/>
            <a:ext cx="2651760" cy="109728"/>
          </a:xfrm>
          <a:prstGeom prst="rect">
            <a:avLst/>
          </a:prstGeom>
          <a:solidFill>
            <a:srgbClr val="22C55E"/>
          </a:solidFill>
          <a:ln w="12700">
            <a:solidFill>
              <a:srgbClr val="22C55E"/>
            </a:solidFill>
            <a:prstDash val="solid"/>
          </a:ln>
        </p:spPr>
      </p:sp>
      <p:sp>
        <p:nvSpPr>
          <p:cNvPr id="28" name="Text 26"/>
          <p:cNvSpPr/>
          <p:nvPr/>
        </p:nvSpPr>
        <p:spPr>
          <a:xfrm>
            <a:off x="6035040" y="3227832"/>
            <a:ext cx="2651760" cy="804672"/>
          </a:xfrm>
          <a:prstGeom prst="rect">
            <a:avLst/>
          </a:prstGeom>
          <a:noFill/>
          <a:ln/>
        </p:spPr>
        <p:txBody>
          <a:bodyPr wrap="square" rtlCol="0" anchor="ctr"/>
          <a:lstStyle/>
          <a:p>
            <a:pPr algn="ctr" indent="0" marL="0">
              <a:buNone/>
            </a:pPr>
            <a:r>
              <a:rPr lang="en-US" sz="3400" b="1" dirty="0">
                <a:solidFill>
                  <a:srgbClr val="22C55E"/>
                </a:solidFill>
                <a:latin typeface="Calibri" pitchFamily="34" charset="0"/>
                <a:ea typeface="Calibri" pitchFamily="34" charset="-122"/>
                <a:cs typeface="Calibri" pitchFamily="34" charset="-120"/>
              </a:rPr>
              <a:t>5 / 5</a:t>
            </a:r>
            <a:endParaRPr lang="en-US" sz="3400" dirty="0"/>
          </a:p>
        </p:txBody>
      </p:sp>
      <p:sp>
        <p:nvSpPr>
          <p:cNvPr id="29" name="Text 27"/>
          <p:cNvSpPr/>
          <p:nvPr/>
        </p:nvSpPr>
        <p:spPr>
          <a:xfrm>
            <a:off x="6035040" y="4050792"/>
            <a:ext cx="2651760" cy="548640"/>
          </a:xfrm>
          <a:prstGeom prst="rect">
            <a:avLst/>
          </a:prstGeom>
          <a:noFill/>
          <a:ln/>
        </p:spPr>
        <p:txBody>
          <a:bodyPr wrap="square" rtlCol="0" anchor="ctr"/>
          <a:lstStyle/>
          <a:p>
            <a:pPr algn="ctr" indent="0" marL="0">
              <a:buNone/>
            </a:pPr>
            <a:r>
              <a:rPr lang="en-US" sz="1300" dirty="0">
                <a:solidFill>
                  <a:srgbClr val="555555"/>
                </a:solidFill>
                <a:latin typeface="Calibri" pitchFamily="34" charset="0"/>
                <a:ea typeface="Calibri" pitchFamily="34" charset="-122"/>
                <a:cs typeface="Calibri" pitchFamily="34" charset="-120"/>
              </a:rPr>
              <a:t>QA Checks</a:t>
            </a:r>
            <a:endParaRPr lang="en-US" sz="1300" dirty="0"/>
          </a:p>
          <a:p>
            <a:pPr algn="ctr" indent="0" marL="0">
              <a:buNone/>
            </a:pPr>
            <a:r>
              <a:rPr lang="en-US" sz="1300" dirty="0">
                <a:solidFill>
                  <a:srgbClr val="555555"/>
                </a:solidFill>
                <a:latin typeface="Calibri" pitchFamily="34" charset="0"/>
                <a:ea typeface="Calibri" pitchFamily="34" charset="-122"/>
                <a:cs typeface="Calibri" pitchFamily="34" charset="-120"/>
              </a:rPr>
              <a:t>passing</a:t>
            </a:r>
            <a:endParaRPr lang="en-US" sz="1300" dirty="0"/>
          </a:p>
        </p:txBody>
      </p:sp>
      <p:sp>
        <p:nvSpPr>
          <p:cNvPr id="30" name="Text 28"/>
          <p:cNvSpPr/>
          <p:nvPr/>
        </p:nvSpPr>
        <p:spPr>
          <a:xfrm>
            <a:off x="8503920" y="4800600"/>
            <a:ext cx="457200" cy="274320"/>
          </a:xfrm>
          <a:prstGeom prst="rect">
            <a:avLst/>
          </a:prstGeom>
          <a:noFill/>
          <a:ln/>
        </p:spPr>
        <p:txBody>
          <a:bodyPr wrap="square" rtlCol="0" anchor="ctr"/>
          <a:lstStyle/>
          <a:p>
            <a:pPr algn="r" indent="0" marL="0">
              <a:buNone/>
            </a:pPr>
            <a:r>
              <a:rPr lang="en-US" sz="1400" b="1" dirty="0">
                <a:solidFill>
                  <a:srgbClr val="E8456A"/>
                </a:solidFill>
                <a:latin typeface="Calibri" pitchFamily="34" charset="0"/>
                <a:ea typeface="Calibri" pitchFamily="34" charset="-122"/>
                <a:cs typeface="Calibri"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320040" y="137160"/>
            <a:ext cx="8503920" cy="621792"/>
          </a:xfrm>
          <a:prstGeom prst="rect">
            <a:avLst/>
          </a:prstGeom>
          <a:noFill/>
          <a:ln/>
        </p:spPr>
        <p:txBody>
          <a:bodyPr wrap="square" rtlCol="0" anchor="ctr"/>
          <a:lstStyle/>
          <a:p>
            <a:pPr indent="0" marL="0">
              <a:buNone/>
            </a:pPr>
            <a:r>
              <a:rPr lang="en-US" sz="3000" dirty="0">
                <a:solidFill>
                  <a:srgbClr val="1B6B7B"/>
                </a:solidFill>
                <a:latin typeface="Calibri" pitchFamily="34" charset="0"/>
                <a:ea typeface="Calibri" pitchFamily="34" charset="-122"/>
                <a:cs typeface="Calibri" pitchFamily="34" charset="-120"/>
              </a:rPr>
              <a:t>Evidence  —  QA Checks All Pass</a:t>
            </a:r>
            <a:endParaRPr lang="en-US" sz="3000" dirty="0"/>
          </a:p>
        </p:txBody>
      </p:sp>
      <p:sp>
        <p:nvSpPr>
          <p:cNvPr id="5" name="Text 3"/>
          <p:cNvSpPr/>
          <p:nvPr/>
        </p:nvSpPr>
        <p:spPr>
          <a:xfrm>
            <a:off x="320040" y="713232"/>
            <a:ext cx="8503920" cy="292608"/>
          </a:xfrm>
          <a:prstGeom prst="rect">
            <a:avLst/>
          </a:prstGeom>
          <a:noFill/>
          <a:ln/>
        </p:spPr>
        <p:txBody>
          <a:bodyPr wrap="square" rtlCol="0" anchor="ctr"/>
          <a:lstStyle/>
          <a:p>
            <a:pPr indent="0" marL="0">
              <a:buNone/>
            </a:pPr>
            <a:r>
              <a:rPr lang="en-US" sz="1300" dirty="0">
                <a:solidFill>
                  <a:srgbClr val="555555"/>
                </a:solidFill>
                <a:latin typeface="Calibri" pitchFamily="34" charset="0"/>
                <a:ea typeface="Calibri" pitchFamily="34" charset="-122"/>
                <a:cs typeface="Calibri" pitchFamily="34" charset="-120"/>
              </a:rPr>
              <a:t>All quality assurance checks were performed to ensure data accuracy and integrity.</a:t>
            </a:r>
            <a:endParaRPr lang="en-US" sz="1300" dirty="0"/>
          </a:p>
        </p:txBody>
      </p:sp>
      <p:sp>
        <p:nvSpPr>
          <p:cNvPr id="6" name="Shape 4"/>
          <p:cNvSpPr/>
          <p:nvPr/>
        </p:nvSpPr>
        <p:spPr>
          <a:xfrm>
            <a:off x="274320" y="1115568"/>
            <a:ext cx="8595360" cy="603504"/>
          </a:xfrm>
          <a:prstGeom prst="rect">
            <a:avLst/>
          </a:prstGeom>
          <a:solidFill>
            <a:srgbClr val="FFFFFF"/>
          </a:solidFill>
          <a:ln w="6350">
            <a:solidFill>
              <a:srgbClr val="D0D8EE"/>
            </a:solidFill>
            <a:prstDash val="solid"/>
          </a:ln>
        </p:spPr>
      </p:sp>
      <p:sp>
        <p:nvSpPr>
          <p:cNvPr id="7" name="Shape 5"/>
          <p:cNvSpPr/>
          <p:nvPr/>
        </p:nvSpPr>
        <p:spPr>
          <a:xfrm>
            <a:off x="274320" y="1115568"/>
            <a:ext cx="137160" cy="603504"/>
          </a:xfrm>
          <a:prstGeom prst="rect">
            <a:avLst/>
          </a:prstGeom>
          <a:solidFill>
            <a:srgbClr val="22C55E"/>
          </a:solidFill>
          <a:ln w="12700">
            <a:solidFill>
              <a:srgbClr val="22C55E"/>
            </a:solidFill>
            <a:prstDash val="solid"/>
          </a:ln>
        </p:spPr>
      </p:sp>
      <p:sp>
        <p:nvSpPr>
          <p:cNvPr id="8" name="Text 6"/>
          <p:cNvSpPr/>
          <p:nvPr/>
        </p:nvSpPr>
        <p:spPr>
          <a:xfrm>
            <a:off x="548640" y="1261872"/>
            <a:ext cx="5486400" cy="310896"/>
          </a:xfrm>
          <a:prstGeom prst="rect">
            <a:avLst/>
          </a:prstGeom>
          <a:noFill/>
          <a:ln/>
        </p:spPr>
        <p:txBody>
          <a:bodyPr wrap="square" lIns="0" tIns="0" rIns="0" bIns="0" rtlCol="0" anchor="ctr"/>
          <a:lstStyle/>
          <a:p>
            <a:pPr indent="0" marL="0">
              <a:buNone/>
            </a:pPr>
            <a:r>
              <a:rPr lang="en-US" sz="1700" dirty="0">
                <a:solidFill>
                  <a:srgbClr val="1A1A2E"/>
                </a:solidFill>
                <a:latin typeface="Calibri" pitchFamily="34" charset="0"/>
                <a:ea typeface="Calibri" pitchFamily="34" charset="-122"/>
                <a:cs typeface="Calibri" pitchFamily="34" charset="-120"/>
              </a:rPr>
              <a:t>fact_price_weekly row count verified</a:t>
            </a:r>
            <a:endParaRPr lang="en-US" sz="1700" dirty="0"/>
          </a:p>
        </p:txBody>
      </p:sp>
      <p:sp>
        <p:nvSpPr>
          <p:cNvPr id="9" name="Text 7"/>
          <p:cNvSpPr/>
          <p:nvPr/>
        </p:nvSpPr>
        <p:spPr>
          <a:xfrm>
            <a:off x="6400800" y="1261872"/>
            <a:ext cx="2286000" cy="310896"/>
          </a:xfrm>
          <a:prstGeom prst="rect">
            <a:avLst/>
          </a:prstGeom>
          <a:noFill/>
          <a:ln/>
        </p:spPr>
        <p:txBody>
          <a:bodyPr wrap="square" lIns="0" tIns="0" rIns="0" bIns="0" rtlCol="0" anchor="ctr"/>
          <a:lstStyle/>
          <a:p>
            <a:pPr indent="0" marL="0">
              <a:buNone/>
            </a:pPr>
            <a:r>
              <a:rPr lang="en-US" sz="1700" b="1" dirty="0">
                <a:solidFill>
                  <a:srgbClr val="22C55E"/>
                </a:solidFill>
                <a:latin typeface="Calibri" pitchFamily="34" charset="0"/>
                <a:ea typeface="Calibri" pitchFamily="34" charset="-122"/>
                <a:cs typeface="Calibri" pitchFamily="34" charset="-120"/>
              </a:rPr>
              <a:t>✔  6,841,121 rows</a:t>
            </a:r>
            <a:endParaRPr lang="en-US" sz="1700" dirty="0"/>
          </a:p>
        </p:txBody>
      </p:sp>
      <p:sp>
        <p:nvSpPr>
          <p:cNvPr id="10" name="Shape 8"/>
          <p:cNvSpPr/>
          <p:nvPr/>
        </p:nvSpPr>
        <p:spPr>
          <a:xfrm>
            <a:off x="274320" y="1837944"/>
            <a:ext cx="8595360" cy="603504"/>
          </a:xfrm>
          <a:prstGeom prst="rect">
            <a:avLst/>
          </a:prstGeom>
          <a:solidFill>
            <a:srgbClr val="FFFFFF"/>
          </a:solidFill>
          <a:ln w="6350">
            <a:solidFill>
              <a:srgbClr val="D0D8EE"/>
            </a:solidFill>
            <a:prstDash val="solid"/>
          </a:ln>
        </p:spPr>
      </p:sp>
      <p:sp>
        <p:nvSpPr>
          <p:cNvPr id="11" name="Shape 9"/>
          <p:cNvSpPr/>
          <p:nvPr/>
        </p:nvSpPr>
        <p:spPr>
          <a:xfrm>
            <a:off x="274320" y="1837944"/>
            <a:ext cx="137160" cy="603504"/>
          </a:xfrm>
          <a:prstGeom prst="rect">
            <a:avLst/>
          </a:prstGeom>
          <a:solidFill>
            <a:srgbClr val="22C55E"/>
          </a:solidFill>
          <a:ln w="12700">
            <a:solidFill>
              <a:srgbClr val="22C55E"/>
            </a:solidFill>
            <a:prstDash val="solid"/>
          </a:ln>
        </p:spPr>
      </p:sp>
      <p:sp>
        <p:nvSpPr>
          <p:cNvPr id="12" name="Text 10"/>
          <p:cNvSpPr/>
          <p:nvPr/>
        </p:nvSpPr>
        <p:spPr>
          <a:xfrm>
            <a:off x="548640" y="1984248"/>
            <a:ext cx="5486400" cy="310896"/>
          </a:xfrm>
          <a:prstGeom prst="rect">
            <a:avLst/>
          </a:prstGeom>
          <a:noFill/>
          <a:ln/>
        </p:spPr>
        <p:txBody>
          <a:bodyPr wrap="square" lIns="0" tIns="0" rIns="0" bIns="0" rtlCol="0" anchor="ctr"/>
          <a:lstStyle/>
          <a:p>
            <a:pPr indent="0" marL="0">
              <a:buNone/>
            </a:pPr>
            <a:r>
              <a:rPr lang="en-US" sz="1700" dirty="0">
                <a:solidFill>
                  <a:srgbClr val="1A1A2E"/>
                </a:solidFill>
                <a:latin typeface="Calibri" pitchFamily="34" charset="0"/>
                <a:ea typeface="Calibri" pitchFamily="34" charset="-122"/>
                <a:cs typeface="Calibri" pitchFamily="34" charset="-120"/>
              </a:rPr>
              <a:t>Null sell_price values</a:t>
            </a:r>
            <a:endParaRPr lang="en-US" sz="1700" dirty="0"/>
          </a:p>
        </p:txBody>
      </p:sp>
      <p:sp>
        <p:nvSpPr>
          <p:cNvPr id="13" name="Text 11"/>
          <p:cNvSpPr/>
          <p:nvPr/>
        </p:nvSpPr>
        <p:spPr>
          <a:xfrm>
            <a:off x="6400800" y="1984248"/>
            <a:ext cx="2286000" cy="310896"/>
          </a:xfrm>
          <a:prstGeom prst="rect">
            <a:avLst/>
          </a:prstGeom>
          <a:noFill/>
          <a:ln/>
        </p:spPr>
        <p:txBody>
          <a:bodyPr wrap="square" lIns="0" tIns="0" rIns="0" bIns="0" rtlCol="0" anchor="ctr"/>
          <a:lstStyle/>
          <a:p>
            <a:pPr indent="0" marL="0">
              <a:buNone/>
            </a:pPr>
            <a:r>
              <a:rPr lang="en-US" sz="1700" b="1" dirty="0">
                <a:solidFill>
                  <a:srgbClr val="22C55E"/>
                </a:solidFill>
                <a:latin typeface="Calibri" pitchFamily="34" charset="0"/>
                <a:ea typeface="Calibri" pitchFamily="34" charset="-122"/>
                <a:cs typeface="Calibri" pitchFamily="34" charset="-120"/>
              </a:rPr>
              <a:t>✔  0 found</a:t>
            </a:r>
            <a:endParaRPr lang="en-US" sz="1700" dirty="0"/>
          </a:p>
        </p:txBody>
      </p:sp>
      <p:sp>
        <p:nvSpPr>
          <p:cNvPr id="14" name="Shape 12"/>
          <p:cNvSpPr/>
          <p:nvPr/>
        </p:nvSpPr>
        <p:spPr>
          <a:xfrm>
            <a:off x="274320" y="2560320"/>
            <a:ext cx="8595360" cy="603504"/>
          </a:xfrm>
          <a:prstGeom prst="rect">
            <a:avLst/>
          </a:prstGeom>
          <a:solidFill>
            <a:srgbClr val="FFFFFF"/>
          </a:solidFill>
          <a:ln w="6350">
            <a:solidFill>
              <a:srgbClr val="D0D8EE"/>
            </a:solidFill>
            <a:prstDash val="solid"/>
          </a:ln>
        </p:spPr>
      </p:sp>
      <p:sp>
        <p:nvSpPr>
          <p:cNvPr id="15" name="Shape 13"/>
          <p:cNvSpPr/>
          <p:nvPr/>
        </p:nvSpPr>
        <p:spPr>
          <a:xfrm>
            <a:off x="274320" y="2560320"/>
            <a:ext cx="137160" cy="603504"/>
          </a:xfrm>
          <a:prstGeom prst="rect">
            <a:avLst/>
          </a:prstGeom>
          <a:solidFill>
            <a:srgbClr val="22C55E"/>
          </a:solidFill>
          <a:ln w="12700">
            <a:solidFill>
              <a:srgbClr val="22C55E"/>
            </a:solidFill>
            <a:prstDash val="solid"/>
          </a:ln>
        </p:spPr>
      </p:sp>
      <p:sp>
        <p:nvSpPr>
          <p:cNvPr id="16" name="Text 14"/>
          <p:cNvSpPr/>
          <p:nvPr/>
        </p:nvSpPr>
        <p:spPr>
          <a:xfrm>
            <a:off x="548640" y="2706624"/>
            <a:ext cx="5486400" cy="310896"/>
          </a:xfrm>
          <a:prstGeom prst="rect">
            <a:avLst/>
          </a:prstGeom>
          <a:noFill/>
          <a:ln/>
        </p:spPr>
        <p:txBody>
          <a:bodyPr wrap="square" lIns="0" tIns="0" rIns="0" bIns="0" rtlCol="0" anchor="ctr"/>
          <a:lstStyle/>
          <a:p>
            <a:pPr indent="0" marL="0">
              <a:buNone/>
            </a:pPr>
            <a:r>
              <a:rPr lang="en-US" sz="1700" dirty="0">
                <a:solidFill>
                  <a:srgbClr val="1A1A2E"/>
                </a:solidFill>
                <a:latin typeface="Calibri" pitchFamily="34" charset="0"/>
                <a:ea typeface="Calibri" pitchFamily="34" charset="-122"/>
                <a:cs typeface="Calibri" pitchFamily="34" charset="-120"/>
              </a:rPr>
              <a:t>Negative sell_price values</a:t>
            </a:r>
            <a:endParaRPr lang="en-US" sz="1700" dirty="0"/>
          </a:p>
        </p:txBody>
      </p:sp>
      <p:sp>
        <p:nvSpPr>
          <p:cNvPr id="17" name="Text 15"/>
          <p:cNvSpPr/>
          <p:nvPr/>
        </p:nvSpPr>
        <p:spPr>
          <a:xfrm>
            <a:off x="6400800" y="2706624"/>
            <a:ext cx="2286000" cy="310896"/>
          </a:xfrm>
          <a:prstGeom prst="rect">
            <a:avLst/>
          </a:prstGeom>
          <a:noFill/>
          <a:ln/>
        </p:spPr>
        <p:txBody>
          <a:bodyPr wrap="square" lIns="0" tIns="0" rIns="0" bIns="0" rtlCol="0" anchor="ctr"/>
          <a:lstStyle/>
          <a:p>
            <a:pPr indent="0" marL="0">
              <a:buNone/>
            </a:pPr>
            <a:r>
              <a:rPr lang="en-US" sz="1700" b="1" dirty="0">
                <a:solidFill>
                  <a:srgbClr val="22C55E"/>
                </a:solidFill>
                <a:latin typeface="Calibri" pitchFamily="34" charset="0"/>
                <a:ea typeface="Calibri" pitchFamily="34" charset="-122"/>
                <a:cs typeface="Calibri" pitchFamily="34" charset="-120"/>
              </a:rPr>
              <a:t>✔  0 found</a:t>
            </a:r>
            <a:endParaRPr lang="en-US" sz="1700" dirty="0"/>
          </a:p>
        </p:txBody>
      </p:sp>
      <p:sp>
        <p:nvSpPr>
          <p:cNvPr id="18" name="Shape 16"/>
          <p:cNvSpPr/>
          <p:nvPr/>
        </p:nvSpPr>
        <p:spPr>
          <a:xfrm>
            <a:off x="274320" y="3282696"/>
            <a:ext cx="8595360" cy="603504"/>
          </a:xfrm>
          <a:prstGeom prst="rect">
            <a:avLst/>
          </a:prstGeom>
          <a:solidFill>
            <a:srgbClr val="FFFFFF"/>
          </a:solidFill>
          <a:ln w="6350">
            <a:solidFill>
              <a:srgbClr val="D0D8EE"/>
            </a:solidFill>
            <a:prstDash val="solid"/>
          </a:ln>
        </p:spPr>
      </p:sp>
      <p:sp>
        <p:nvSpPr>
          <p:cNvPr id="19" name="Shape 17"/>
          <p:cNvSpPr/>
          <p:nvPr/>
        </p:nvSpPr>
        <p:spPr>
          <a:xfrm>
            <a:off x="274320" y="3282696"/>
            <a:ext cx="137160" cy="603504"/>
          </a:xfrm>
          <a:prstGeom prst="rect">
            <a:avLst/>
          </a:prstGeom>
          <a:solidFill>
            <a:srgbClr val="22C55E"/>
          </a:solidFill>
          <a:ln w="12700">
            <a:solidFill>
              <a:srgbClr val="22C55E"/>
            </a:solidFill>
            <a:prstDash val="solid"/>
          </a:ln>
        </p:spPr>
      </p:sp>
      <p:sp>
        <p:nvSpPr>
          <p:cNvPr id="20" name="Text 18"/>
          <p:cNvSpPr/>
          <p:nvPr/>
        </p:nvSpPr>
        <p:spPr>
          <a:xfrm>
            <a:off x="548640" y="3429000"/>
            <a:ext cx="5486400" cy="310896"/>
          </a:xfrm>
          <a:prstGeom prst="rect">
            <a:avLst/>
          </a:prstGeom>
          <a:noFill/>
          <a:ln/>
        </p:spPr>
        <p:txBody>
          <a:bodyPr wrap="square" lIns="0" tIns="0" rIns="0" bIns="0" rtlCol="0" anchor="ctr"/>
          <a:lstStyle/>
          <a:p>
            <a:pPr indent="0" marL="0">
              <a:buNone/>
            </a:pPr>
            <a:r>
              <a:rPr lang="en-US" sz="1700" dirty="0">
                <a:solidFill>
                  <a:srgbClr val="1A1A2E"/>
                </a:solidFill>
                <a:latin typeface="Calibri" pitchFamily="34" charset="0"/>
                <a:ea typeface="Calibri" pitchFamily="34" charset="-122"/>
                <a:cs typeface="Calibri" pitchFamily="34" charset="-120"/>
              </a:rPr>
              <a:t>Orphan item_id keys</a:t>
            </a:r>
            <a:endParaRPr lang="en-US" sz="1700" dirty="0"/>
          </a:p>
        </p:txBody>
      </p:sp>
      <p:sp>
        <p:nvSpPr>
          <p:cNvPr id="21" name="Text 19"/>
          <p:cNvSpPr/>
          <p:nvPr/>
        </p:nvSpPr>
        <p:spPr>
          <a:xfrm>
            <a:off x="6400800" y="3429000"/>
            <a:ext cx="2286000" cy="310896"/>
          </a:xfrm>
          <a:prstGeom prst="rect">
            <a:avLst/>
          </a:prstGeom>
          <a:noFill/>
          <a:ln/>
        </p:spPr>
        <p:txBody>
          <a:bodyPr wrap="square" lIns="0" tIns="0" rIns="0" bIns="0" rtlCol="0" anchor="ctr"/>
          <a:lstStyle/>
          <a:p>
            <a:pPr indent="0" marL="0">
              <a:buNone/>
            </a:pPr>
            <a:r>
              <a:rPr lang="en-US" sz="1700" b="1" dirty="0">
                <a:solidFill>
                  <a:srgbClr val="22C55E"/>
                </a:solidFill>
                <a:latin typeface="Calibri" pitchFamily="34" charset="0"/>
                <a:ea typeface="Calibri" pitchFamily="34" charset="-122"/>
                <a:cs typeface="Calibri" pitchFamily="34" charset="-120"/>
              </a:rPr>
              <a:t>✔  0 found</a:t>
            </a:r>
            <a:endParaRPr lang="en-US" sz="1700" dirty="0"/>
          </a:p>
        </p:txBody>
      </p:sp>
      <p:sp>
        <p:nvSpPr>
          <p:cNvPr id="22" name="Shape 20"/>
          <p:cNvSpPr/>
          <p:nvPr/>
        </p:nvSpPr>
        <p:spPr>
          <a:xfrm>
            <a:off x="274320" y="4005072"/>
            <a:ext cx="8595360" cy="603504"/>
          </a:xfrm>
          <a:prstGeom prst="rect">
            <a:avLst/>
          </a:prstGeom>
          <a:solidFill>
            <a:srgbClr val="FFFFFF"/>
          </a:solidFill>
          <a:ln w="6350">
            <a:solidFill>
              <a:srgbClr val="D0D8EE"/>
            </a:solidFill>
            <a:prstDash val="solid"/>
          </a:ln>
        </p:spPr>
      </p:sp>
      <p:sp>
        <p:nvSpPr>
          <p:cNvPr id="23" name="Shape 21"/>
          <p:cNvSpPr/>
          <p:nvPr/>
        </p:nvSpPr>
        <p:spPr>
          <a:xfrm>
            <a:off x="274320" y="4005072"/>
            <a:ext cx="137160" cy="603504"/>
          </a:xfrm>
          <a:prstGeom prst="rect">
            <a:avLst/>
          </a:prstGeom>
          <a:solidFill>
            <a:srgbClr val="22C55E"/>
          </a:solidFill>
          <a:ln w="12700">
            <a:solidFill>
              <a:srgbClr val="22C55E"/>
            </a:solidFill>
            <a:prstDash val="solid"/>
          </a:ln>
        </p:spPr>
      </p:sp>
      <p:sp>
        <p:nvSpPr>
          <p:cNvPr id="24" name="Text 22"/>
          <p:cNvSpPr/>
          <p:nvPr/>
        </p:nvSpPr>
        <p:spPr>
          <a:xfrm>
            <a:off x="548640" y="4151376"/>
            <a:ext cx="5486400" cy="310896"/>
          </a:xfrm>
          <a:prstGeom prst="rect">
            <a:avLst/>
          </a:prstGeom>
          <a:noFill/>
          <a:ln/>
        </p:spPr>
        <p:txBody>
          <a:bodyPr wrap="square" lIns="0" tIns="0" rIns="0" bIns="0" rtlCol="0" anchor="ctr"/>
          <a:lstStyle/>
          <a:p>
            <a:pPr indent="0" marL="0">
              <a:buNone/>
            </a:pPr>
            <a:r>
              <a:rPr lang="en-US" sz="1700" dirty="0">
                <a:solidFill>
                  <a:srgbClr val="1A1A2E"/>
                </a:solidFill>
                <a:latin typeface="Calibri" pitchFamily="34" charset="0"/>
                <a:ea typeface="Calibri" pitchFamily="34" charset="-122"/>
                <a:cs typeface="Calibri" pitchFamily="34" charset="-120"/>
              </a:rPr>
              <a:t>Orphan store_id keys</a:t>
            </a:r>
            <a:endParaRPr lang="en-US" sz="1700" dirty="0"/>
          </a:p>
        </p:txBody>
      </p:sp>
      <p:sp>
        <p:nvSpPr>
          <p:cNvPr id="25" name="Text 23"/>
          <p:cNvSpPr/>
          <p:nvPr/>
        </p:nvSpPr>
        <p:spPr>
          <a:xfrm>
            <a:off x="6400800" y="4151376"/>
            <a:ext cx="2286000" cy="310896"/>
          </a:xfrm>
          <a:prstGeom prst="rect">
            <a:avLst/>
          </a:prstGeom>
          <a:noFill/>
          <a:ln/>
        </p:spPr>
        <p:txBody>
          <a:bodyPr wrap="square" lIns="0" tIns="0" rIns="0" bIns="0" rtlCol="0" anchor="ctr"/>
          <a:lstStyle/>
          <a:p>
            <a:pPr indent="0" marL="0">
              <a:buNone/>
            </a:pPr>
            <a:r>
              <a:rPr lang="en-US" sz="1700" b="1" dirty="0">
                <a:solidFill>
                  <a:srgbClr val="22C55E"/>
                </a:solidFill>
                <a:latin typeface="Calibri" pitchFamily="34" charset="0"/>
                <a:ea typeface="Calibri" pitchFamily="34" charset="-122"/>
                <a:cs typeface="Calibri" pitchFamily="34" charset="-120"/>
              </a:rPr>
              <a:t>✔  0 found</a:t>
            </a:r>
            <a:endParaRPr lang="en-US" sz="1700" dirty="0"/>
          </a:p>
        </p:txBody>
      </p:sp>
      <p:sp>
        <p:nvSpPr>
          <p:cNvPr id="26" name="Text 24"/>
          <p:cNvSpPr/>
          <p:nvPr/>
        </p:nvSpPr>
        <p:spPr>
          <a:xfrm>
            <a:off x="8503920" y="4800600"/>
            <a:ext cx="457200" cy="274320"/>
          </a:xfrm>
          <a:prstGeom prst="rect">
            <a:avLst/>
          </a:prstGeom>
          <a:noFill/>
          <a:ln/>
        </p:spPr>
        <p:txBody>
          <a:bodyPr wrap="square" rtlCol="0" anchor="ctr"/>
          <a:lstStyle/>
          <a:p>
            <a:pPr algn="r" indent="0" marL="0">
              <a:buNone/>
            </a:pPr>
            <a:r>
              <a:rPr lang="en-US" sz="1400" b="1" dirty="0">
                <a:solidFill>
                  <a:srgbClr val="E8456A"/>
                </a:solidFill>
                <a:latin typeface="Calibri" pitchFamily="34" charset="0"/>
                <a:ea typeface="Calibri" pitchFamily="34" charset="-122"/>
                <a:cs typeface="Calibri"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320040" y="137160"/>
            <a:ext cx="8503920" cy="621792"/>
          </a:xfrm>
          <a:prstGeom prst="rect">
            <a:avLst/>
          </a:prstGeom>
          <a:noFill/>
          <a:ln/>
        </p:spPr>
        <p:txBody>
          <a:bodyPr wrap="square" rtlCol="0" anchor="ctr"/>
          <a:lstStyle/>
          <a:p>
            <a:pPr indent="0" marL="0">
              <a:buNone/>
            </a:pPr>
            <a:r>
              <a:rPr lang="en-US" sz="3000" dirty="0">
                <a:solidFill>
                  <a:srgbClr val="1B6B7B"/>
                </a:solidFill>
                <a:latin typeface="Calibri" pitchFamily="34" charset="0"/>
                <a:ea typeface="Calibri" pitchFamily="34" charset="-122"/>
                <a:cs typeface="Calibri" pitchFamily="34" charset="-120"/>
              </a:rPr>
              <a:t>Evidence  —  Performance Benchmark</a:t>
            </a:r>
            <a:endParaRPr lang="en-US" sz="3000" dirty="0"/>
          </a:p>
        </p:txBody>
      </p:sp>
      <p:sp>
        <p:nvSpPr>
          <p:cNvPr id="5" name="Text 3"/>
          <p:cNvSpPr/>
          <p:nvPr/>
        </p:nvSpPr>
        <p:spPr>
          <a:xfrm>
            <a:off x="320040" y="713232"/>
            <a:ext cx="8503920" cy="292608"/>
          </a:xfrm>
          <a:prstGeom prst="rect">
            <a:avLst/>
          </a:prstGeom>
          <a:noFill/>
          <a:ln/>
        </p:spPr>
        <p:txBody>
          <a:bodyPr wrap="square" rtlCol="0" anchor="ctr"/>
          <a:lstStyle/>
          <a:p>
            <a:pPr indent="0" marL="0">
              <a:buNone/>
            </a:pPr>
            <a:r>
              <a:rPr lang="en-US" sz="1300" dirty="0">
                <a:solidFill>
                  <a:srgbClr val="555555"/>
                </a:solidFill>
                <a:latin typeface="Calibri" pitchFamily="34" charset="0"/>
                <a:ea typeface="Calibri" pitchFamily="34" charset="-122"/>
                <a:cs typeface="Calibri" pitchFamily="34" charset="-120"/>
              </a:rPr>
              <a:t>This benchmark shows query performance and average pricing trends across all 10 Walmart stores.</a:t>
            </a:r>
            <a:endParaRPr lang="en-US" sz="1300" dirty="0"/>
          </a:p>
        </p:txBody>
      </p:sp>
      <p:sp>
        <p:nvSpPr>
          <p:cNvPr id="6" name="Shape 4"/>
          <p:cNvSpPr/>
          <p:nvPr/>
        </p:nvSpPr>
        <p:spPr>
          <a:xfrm>
            <a:off x="274320" y="1078992"/>
            <a:ext cx="8595360" cy="411480"/>
          </a:xfrm>
          <a:prstGeom prst="rect">
            <a:avLst/>
          </a:prstGeom>
          <a:solidFill>
            <a:srgbClr val="1B6B7B"/>
          </a:solidFill>
          <a:ln w="12700">
            <a:solidFill>
              <a:srgbClr val="1B6B7B"/>
            </a:solidFill>
            <a:prstDash val="solid"/>
          </a:ln>
        </p:spPr>
      </p:sp>
      <p:sp>
        <p:nvSpPr>
          <p:cNvPr id="7" name="Text 5"/>
          <p:cNvSpPr/>
          <p:nvPr/>
        </p:nvSpPr>
        <p:spPr>
          <a:xfrm>
            <a:off x="457200" y="1078992"/>
            <a:ext cx="18288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Store</a:t>
            </a:r>
            <a:endParaRPr lang="en-US" sz="1400" dirty="0"/>
          </a:p>
        </p:txBody>
      </p:sp>
      <p:sp>
        <p:nvSpPr>
          <p:cNvPr id="8" name="Text 6"/>
          <p:cNvSpPr/>
          <p:nvPr/>
        </p:nvSpPr>
        <p:spPr>
          <a:xfrm>
            <a:off x="2560320" y="1078992"/>
            <a:ext cx="27432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Avg Price ($)</a:t>
            </a:r>
            <a:endParaRPr lang="en-US" sz="1400" dirty="0"/>
          </a:p>
        </p:txBody>
      </p:sp>
      <p:sp>
        <p:nvSpPr>
          <p:cNvPr id="9" name="Text 7"/>
          <p:cNvSpPr/>
          <p:nvPr/>
        </p:nvSpPr>
        <p:spPr>
          <a:xfrm>
            <a:off x="5669280" y="1078992"/>
            <a:ext cx="30175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Records</a:t>
            </a:r>
            <a:endParaRPr lang="en-US" sz="1400" dirty="0"/>
          </a:p>
        </p:txBody>
      </p:sp>
      <p:sp>
        <p:nvSpPr>
          <p:cNvPr id="10" name="Shape 8"/>
          <p:cNvSpPr/>
          <p:nvPr/>
        </p:nvSpPr>
        <p:spPr>
          <a:xfrm>
            <a:off x="274320" y="1545336"/>
            <a:ext cx="8595360" cy="402336"/>
          </a:xfrm>
          <a:prstGeom prst="rect">
            <a:avLst/>
          </a:prstGeom>
          <a:solidFill>
            <a:srgbClr val="FFFFFF"/>
          </a:solidFill>
          <a:ln w="6350">
            <a:solidFill>
              <a:srgbClr val="DDDDDD"/>
            </a:solidFill>
            <a:prstDash val="solid"/>
          </a:ln>
        </p:spPr>
      </p:sp>
      <p:sp>
        <p:nvSpPr>
          <p:cNvPr id="11" name="Text 9"/>
          <p:cNvSpPr/>
          <p:nvPr/>
        </p:nvSpPr>
        <p:spPr>
          <a:xfrm>
            <a:off x="457200" y="1618488"/>
            <a:ext cx="1828800" cy="256032"/>
          </a:xfrm>
          <a:prstGeom prst="rect">
            <a:avLst/>
          </a:prstGeom>
          <a:noFill/>
          <a:ln/>
        </p:spPr>
        <p:txBody>
          <a:bodyPr wrap="square" lIns="0" tIns="0" rIns="0" bIns="0" rtlCol="0" anchor="ctr"/>
          <a:lstStyle/>
          <a:p>
            <a:pPr indent="0" marL="0">
              <a:buNone/>
            </a:pPr>
            <a:r>
              <a:rPr lang="en-US" sz="1400" b="1" dirty="0">
                <a:solidFill>
                  <a:srgbClr val="E8456A"/>
                </a:solidFill>
                <a:latin typeface="Calibri" pitchFamily="34" charset="0"/>
                <a:ea typeface="Calibri" pitchFamily="34" charset="-122"/>
                <a:cs typeface="Calibri" pitchFamily="34" charset="-120"/>
              </a:rPr>
              <a:t>WI_1</a:t>
            </a:r>
            <a:endParaRPr lang="en-US" sz="1400" dirty="0"/>
          </a:p>
        </p:txBody>
      </p:sp>
      <p:sp>
        <p:nvSpPr>
          <p:cNvPr id="12" name="Text 10"/>
          <p:cNvSpPr/>
          <p:nvPr/>
        </p:nvSpPr>
        <p:spPr>
          <a:xfrm>
            <a:off x="2560320" y="1618488"/>
            <a:ext cx="2743200" cy="256032"/>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$4.46</a:t>
            </a:r>
            <a:endParaRPr lang="en-US" sz="1400" dirty="0"/>
          </a:p>
        </p:txBody>
      </p:sp>
      <p:sp>
        <p:nvSpPr>
          <p:cNvPr id="13" name="Text 11"/>
          <p:cNvSpPr/>
          <p:nvPr/>
        </p:nvSpPr>
        <p:spPr>
          <a:xfrm>
            <a:off x="5669280" y="1618488"/>
            <a:ext cx="3017520" cy="256032"/>
          </a:xfrm>
          <a:prstGeom prst="rect">
            <a:avLst/>
          </a:prstGeom>
          <a:noFill/>
          <a:ln/>
        </p:spPr>
        <p:txBody>
          <a:bodyPr wrap="square" lIns="0" tIns="0" rIns="0" bIns="0" rtlCol="0" anchor="ctr"/>
          <a:lstStyle/>
          <a:p>
            <a:pPr indent="0" marL="0">
              <a:buNone/>
            </a:pPr>
            <a:r>
              <a:rPr lang="en-US" sz="1400" dirty="0">
                <a:solidFill>
                  <a:srgbClr val="555555"/>
                </a:solidFill>
                <a:latin typeface="Calibri" pitchFamily="34" charset="0"/>
                <a:ea typeface="Calibri" pitchFamily="34" charset="-122"/>
                <a:cs typeface="Calibri" pitchFamily="34" charset="-120"/>
              </a:rPr>
              <a:t>665,912</a:t>
            </a:r>
            <a:endParaRPr lang="en-US" sz="1400" dirty="0"/>
          </a:p>
        </p:txBody>
      </p:sp>
      <p:sp>
        <p:nvSpPr>
          <p:cNvPr id="14" name="Shape 12"/>
          <p:cNvSpPr/>
          <p:nvPr/>
        </p:nvSpPr>
        <p:spPr>
          <a:xfrm>
            <a:off x="274320" y="2002536"/>
            <a:ext cx="8595360" cy="402336"/>
          </a:xfrm>
          <a:prstGeom prst="rect">
            <a:avLst/>
          </a:prstGeom>
          <a:solidFill>
            <a:srgbClr val="FAF7F0"/>
          </a:solidFill>
          <a:ln w="6350">
            <a:solidFill>
              <a:srgbClr val="DDDDDD"/>
            </a:solidFill>
            <a:prstDash val="solid"/>
          </a:ln>
        </p:spPr>
      </p:sp>
      <p:sp>
        <p:nvSpPr>
          <p:cNvPr id="15" name="Text 13"/>
          <p:cNvSpPr/>
          <p:nvPr/>
        </p:nvSpPr>
        <p:spPr>
          <a:xfrm>
            <a:off x="457200" y="2075688"/>
            <a:ext cx="1828800" cy="256032"/>
          </a:xfrm>
          <a:prstGeom prst="rect">
            <a:avLst/>
          </a:prstGeom>
          <a:noFill/>
          <a:ln/>
        </p:spPr>
        <p:txBody>
          <a:bodyPr wrap="square" lIns="0" tIns="0" rIns="0" bIns="0" rtlCol="0" anchor="ctr"/>
          <a:lstStyle/>
          <a:p>
            <a:pPr indent="0" marL="0">
              <a:buNone/>
            </a:pPr>
            <a:r>
              <a:rPr lang="en-US" sz="1400" b="1" dirty="0">
                <a:solidFill>
                  <a:srgbClr val="E8456A"/>
                </a:solidFill>
                <a:latin typeface="Calibri" pitchFamily="34" charset="0"/>
                <a:ea typeface="Calibri" pitchFamily="34" charset="-122"/>
                <a:cs typeface="Calibri" pitchFamily="34" charset="-120"/>
              </a:rPr>
              <a:t>CA_2</a:t>
            </a:r>
            <a:endParaRPr lang="en-US" sz="1400" dirty="0"/>
          </a:p>
        </p:txBody>
      </p:sp>
      <p:sp>
        <p:nvSpPr>
          <p:cNvPr id="16" name="Text 14"/>
          <p:cNvSpPr/>
          <p:nvPr/>
        </p:nvSpPr>
        <p:spPr>
          <a:xfrm>
            <a:off x="2560320" y="2075688"/>
            <a:ext cx="2743200" cy="256032"/>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$4.45</a:t>
            </a:r>
            <a:endParaRPr lang="en-US" sz="1400" dirty="0"/>
          </a:p>
        </p:txBody>
      </p:sp>
      <p:sp>
        <p:nvSpPr>
          <p:cNvPr id="17" name="Text 15"/>
          <p:cNvSpPr/>
          <p:nvPr/>
        </p:nvSpPr>
        <p:spPr>
          <a:xfrm>
            <a:off x="5669280" y="2075688"/>
            <a:ext cx="3017520" cy="256032"/>
          </a:xfrm>
          <a:prstGeom prst="rect">
            <a:avLst/>
          </a:prstGeom>
          <a:noFill/>
          <a:ln/>
        </p:spPr>
        <p:txBody>
          <a:bodyPr wrap="square" lIns="0" tIns="0" rIns="0" bIns="0" rtlCol="0" anchor="ctr"/>
          <a:lstStyle/>
          <a:p>
            <a:pPr indent="0" marL="0">
              <a:buNone/>
            </a:pPr>
            <a:r>
              <a:rPr lang="en-US" sz="1400" dirty="0">
                <a:solidFill>
                  <a:srgbClr val="555555"/>
                </a:solidFill>
                <a:latin typeface="Calibri" pitchFamily="34" charset="0"/>
                <a:ea typeface="Calibri" pitchFamily="34" charset="-122"/>
                <a:cs typeface="Calibri" pitchFamily="34" charset="-120"/>
              </a:rPr>
              <a:t>637,395</a:t>
            </a:r>
            <a:endParaRPr lang="en-US" sz="1400" dirty="0"/>
          </a:p>
        </p:txBody>
      </p:sp>
      <p:sp>
        <p:nvSpPr>
          <p:cNvPr id="18" name="Shape 16"/>
          <p:cNvSpPr/>
          <p:nvPr/>
        </p:nvSpPr>
        <p:spPr>
          <a:xfrm>
            <a:off x="274320" y="2459736"/>
            <a:ext cx="8595360" cy="402336"/>
          </a:xfrm>
          <a:prstGeom prst="rect">
            <a:avLst/>
          </a:prstGeom>
          <a:solidFill>
            <a:srgbClr val="FFFFFF"/>
          </a:solidFill>
          <a:ln w="6350">
            <a:solidFill>
              <a:srgbClr val="DDDDDD"/>
            </a:solidFill>
            <a:prstDash val="solid"/>
          </a:ln>
        </p:spPr>
      </p:sp>
      <p:sp>
        <p:nvSpPr>
          <p:cNvPr id="19" name="Text 17"/>
          <p:cNvSpPr/>
          <p:nvPr/>
        </p:nvSpPr>
        <p:spPr>
          <a:xfrm>
            <a:off x="457200" y="2532888"/>
            <a:ext cx="1828800" cy="256032"/>
          </a:xfrm>
          <a:prstGeom prst="rect">
            <a:avLst/>
          </a:prstGeom>
          <a:noFill/>
          <a:ln/>
        </p:spPr>
        <p:txBody>
          <a:bodyPr wrap="square" lIns="0" tIns="0" rIns="0" bIns="0" rtlCol="0" anchor="ctr"/>
          <a:lstStyle/>
          <a:p>
            <a:pPr indent="0" marL="0">
              <a:buNone/>
            </a:pPr>
            <a:r>
              <a:rPr lang="en-US" sz="1400" b="1" dirty="0">
                <a:solidFill>
                  <a:srgbClr val="E8456A"/>
                </a:solidFill>
                <a:latin typeface="Calibri" pitchFamily="34" charset="0"/>
                <a:ea typeface="Calibri" pitchFamily="34" charset="-122"/>
                <a:cs typeface="Calibri" pitchFamily="34" charset="-120"/>
              </a:rPr>
              <a:t>WI_2</a:t>
            </a:r>
            <a:endParaRPr lang="en-US" sz="1400" dirty="0"/>
          </a:p>
        </p:txBody>
      </p:sp>
      <p:sp>
        <p:nvSpPr>
          <p:cNvPr id="20" name="Text 18"/>
          <p:cNvSpPr/>
          <p:nvPr/>
        </p:nvSpPr>
        <p:spPr>
          <a:xfrm>
            <a:off x="2560320" y="2532888"/>
            <a:ext cx="2743200" cy="256032"/>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$4.44</a:t>
            </a:r>
            <a:endParaRPr lang="en-US" sz="1400" dirty="0"/>
          </a:p>
        </p:txBody>
      </p:sp>
      <p:sp>
        <p:nvSpPr>
          <p:cNvPr id="21" name="Text 19"/>
          <p:cNvSpPr/>
          <p:nvPr/>
        </p:nvSpPr>
        <p:spPr>
          <a:xfrm>
            <a:off x="5669280" y="2532888"/>
            <a:ext cx="3017520" cy="256032"/>
          </a:xfrm>
          <a:prstGeom prst="rect">
            <a:avLst/>
          </a:prstGeom>
          <a:noFill/>
          <a:ln/>
        </p:spPr>
        <p:txBody>
          <a:bodyPr wrap="square" lIns="0" tIns="0" rIns="0" bIns="0" rtlCol="0" anchor="ctr"/>
          <a:lstStyle/>
          <a:p>
            <a:pPr indent="0" marL="0">
              <a:buNone/>
            </a:pPr>
            <a:r>
              <a:rPr lang="en-US" sz="1400" dirty="0">
                <a:solidFill>
                  <a:srgbClr val="555555"/>
                </a:solidFill>
                <a:latin typeface="Calibri" pitchFamily="34" charset="0"/>
                <a:ea typeface="Calibri" pitchFamily="34" charset="-122"/>
                <a:cs typeface="Calibri" pitchFamily="34" charset="-120"/>
              </a:rPr>
              <a:t>678,171</a:t>
            </a:r>
            <a:endParaRPr lang="en-US" sz="1400" dirty="0"/>
          </a:p>
        </p:txBody>
      </p:sp>
      <p:sp>
        <p:nvSpPr>
          <p:cNvPr id="22" name="Shape 20"/>
          <p:cNvSpPr/>
          <p:nvPr/>
        </p:nvSpPr>
        <p:spPr>
          <a:xfrm>
            <a:off x="274320" y="2916936"/>
            <a:ext cx="8595360" cy="402336"/>
          </a:xfrm>
          <a:prstGeom prst="rect">
            <a:avLst/>
          </a:prstGeom>
          <a:solidFill>
            <a:srgbClr val="FAF7F0"/>
          </a:solidFill>
          <a:ln w="6350">
            <a:solidFill>
              <a:srgbClr val="DDDDDD"/>
            </a:solidFill>
            <a:prstDash val="solid"/>
          </a:ln>
        </p:spPr>
      </p:sp>
      <p:sp>
        <p:nvSpPr>
          <p:cNvPr id="23" name="Text 21"/>
          <p:cNvSpPr/>
          <p:nvPr/>
        </p:nvSpPr>
        <p:spPr>
          <a:xfrm>
            <a:off x="457200" y="2990088"/>
            <a:ext cx="1828800" cy="256032"/>
          </a:xfrm>
          <a:prstGeom prst="rect">
            <a:avLst/>
          </a:prstGeom>
          <a:noFill/>
          <a:ln/>
        </p:spPr>
        <p:txBody>
          <a:bodyPr wrap="square" lIns="0" tIns="0" rIns="0" bIns="0" rtlCol="0" anchor="ctr"/>
          <a:lstStyle/>
          <a:p>
            <a:pPr indent="0" marL="0">
              <a:buNone/>
            </a:pPr>
            <a:r>
              <a:rPr lang="en-US" sz="1400" b="1" dirty="0">
                <a:solidFill>
                  <a:srgbClr val="E8456A"/>
                </a:solidFill>
                <a:latin typeface="Calibri" pitchFamily="34" charset="0"/>
                <a:ea typeface="Calibri" pitchFamily="34" charset="-122"/>
                <a:cs typeface="Calibri" pitchFamily="34" charset="-120"/>
              </a:rPr>
              <a:t>WI_3</a:t>
            </a:r>
            <a:endParaRPr lang="en-US" sz="1400" dirty="0"/>
          </a:p>
        </p:txBody>
      </p:sp>
      <p:sp>
        <p:nvSpPr>
          <p:cNvPr id="24" name="Text 22"/>
          <p:cNvSpPr/>
          <p:nvPr/>
        </p:nvSpPr>
        <p:spPr>
          <a:xfrm>
            <a:off x="2560320" y="2990088"/>
            <a:ext cx="2743200" cy="256032"/>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$4.42</a:t>
            </a:r>
            <a:endParaRPr lang="en-US" sz="1400" dirty="0"/>
          </a:p>
        </p:txBody>
      </p:sp>
      <p:sp>
        <p:nvSpPr>
          <p:cNvPr id="25" name="Text 23"/>
          <p:cNvSpPr/>
          <p:nvPr/>
        </p:nvSpPr>
        <p:spPr>
          <a:xfrm>
            <a:off x="5669280" y="2990088"/>
            <a:ext cx="3017520" cy="256032"/>
          </a:xfrm>
          <a:prstGeom prst="rect">
            <a:avLst/>
          </a:prstGeom>
          <a:noFill/>
          <a:ln/>
        </p:spPr>
        <p:txBody>
          <a:bodyPr wrap="square" lIns="0" tIns="0" rIns="0" bIns="0" rtlCol="0" anchor="ctr"/>
          <a:lstStyle/>
          <a:p>
            <a:pPr indent="0" marL="0">
              <a:buNone/>
            </a:pPr>
            <a:r>
              <a:rPr lang="en-US" sz="1400" dirty="0">
                <a:solidFill>
                  <a:srgbClr val="555555"/>
                </a:solidFill>
                <a:latin typeface="Calibri" pitchFamily="34" charset="0"/>
                <a:ea typeface="Calibri" pitchFamily="34" charset="-122"/>
                <a:cs typeface="Calibri" pitchFamily="34" charset="-120"/>
              </a:rPr>
              <a:t>696,094</a:t>
            </a:r>
            <a:endParaRPr lang="en-US" sz="1400" dirty="0"/>
          </a:p>
        </p:txBody>
      </p:sp>
      <p:sp>
        <p:nvSpPr>
          <p:cNvPr id="26" name="Shape 24"/>
          <p:cNvSpPr/>
          <p:nvPr/>
        </p:nvSpPr>
        <p:spPr>
          <a:xfrm>
            <a:off x="274320" y="3374136"/>
            <a:ext cx="8595360" cy="402336"/>
          </a:xfrm>
          <a:prstGeom prst="rect">
            <a:avLst/>
          </a:prstGeom>
          <a:solidFill>
            <a:srgbClr val="FFFFFF"/>
          </a:solidFill>
          <a:ln w="6350">
            <a:solidFill>
              <a:srgbClr val="DDDDDD"/>
            </a:solidFill>
            <a:prstDash val="solid"/>
          </a:ln>
        </p:spPr>
      </p:sp>
      <p:sp>
        <p:nvSpPr>
          <p:cNvPr id="27" name="Text 25"/>
          <p:cNvSpPr/>
          <p:nvPr/>
        </p:nvSpPr>
        <p:spPr>
          <a:xfrm>
            <a:off x="457200" y="3447288"/>
            <a:ext cx="1828800" cy="256032"/>
          </a:xfrm>
          <a:prstGeom prst="rect">
            <a:avLst/>
          </a:prstGeom>
          <a:noFill/>
          <a:ln/>
        </p:spPr>
        <p:txBody>
          <a:bodyPr wrap="square" lIns="0" tIns="0" rIns="0" bIns="0" rtlCol="0" anchor="ctr"/>
          <a:lstStyle/>
          <a:p>
            <a:pPr indent="0" marL="0">
              <a:buNone/>
            </a:pPr>
            <a:r>
              <a:rPr lang="en-US" sz="1400" b="1" dirty="0">
                <a:solidFill>
                  <a:srgbClr val="E8456A"/>
                </a:solidFill>
                <a:latin typeface="Calibri" pitchFamily="34" charset="0"/>
                <a:ea typeface="Calibri" pitchFamily="34" charset="-122"/>
                <a:cs typeface="Calibri" pitchFamily="34" charset="-120"/>
              </a:rPr>
              <a:t>CA_4</a:t>
            </a:r>
            <a:endParaRPr lang="en-US" sz="1400" dirty="0"/>
          </a:p>
        </p:txBody>
      </p:sp>
      <p:sp>
        <p:nvSpPr>
          <p:cNvPr id="28" name="Text 26"/>
          <p:cNvSpPr/>
          <p:nvPr/>
        </p:nvSpPr>
        <p:spPr>
          <a:xfrm>
            <a:off x="2560320" y="3447288"/>
            <a:ext cx="2743200" cy="256032"/>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$4.42</a:t>
            </a:r>
            <a:endParaRPr lang="en-US" sz="1400" dirty="0"/>
          </a:p>
        </p:txBody>
      </p:sp>
      <p:sp>
        <p:nvSpPr>
          <p:cNvPr id="29" name="Text 27"/>
          <p:cNvSpPr/>
          <p:nvPr/>
        </p:nvSpPr>
        <p:spPr>
          <a:xfrm>
            <a:off x="5669280" y="3447288"/>
            <a:ext cx="3017520" cy="256032"/>
          </a:xfrm>
          <a:prstGeom prst="rect">
            <a:avLst/>
          </a:prstGeom>
          <a:noFill/>
          <a:ln/>
        </p:spPr>
        <p:txBody>
          <a:bodyPr wrap="square" lIns="0" tIns="0" rIns="0" bIns="0" rtlCol="0" anchor="ctr"/>
          <a:lstStyle/>
          <a:p>
            <a:pPr indent="0" marL="0">
              <a:buNone/>
            </a:pPr>
            <a:r>
              <a:rPr lang="en-US" sz="1400" dirty="0">
                <a:solidFill>
                  <a:srgbClr val="555555"/>
                </a:solidFill>
                <a:latin typeface="Calibri" pitchFamily="34" charset="0"/>
                <a:ea typeface="Calibri" pitchFamily="34" charset="-122"/>
                <a:cs typeface="Calibri" pitchFamily="34" charset="-120"/>
              </a:rPr>
              <a:t>679,025</a:t>
            </a:r>
            <a:endParaRPr lang="en-US" sz="1400" dirty="0"/>
          </a:p>
        </p:txBody>
      </p:sp>
      <p:sp>
        <p:nvSpPr>
          <p:cNvPr id="30" name="Shape 28"/>
          <p:cNvSpPr/>
          <p:nvPr/>
        </p:nvSpPr>
        <p:spPr>
          <a:xfrm>
            <a:off x="274320" y="3831336"/>
            <a:ext cx="8595360" cy="402336"/>
          </a:xfrm>
          <a:prstGeom prst="rect">
            <a:avLst/>
          </a:prstGeom>
          <a:solidFill>
            <a:srgbClr val="FAF7F0"/>
          </a:solidFill>
          <a:ln w="6350">
            <a:solidFill>
              <a:srgbClr val="DDDDDD"/>
            </a:solidFill>
            <a:prstDash val="solid"/>
          </a:ln>
        </p:spPr>
      </p:sp>
      <p:sp>
        <p:nvSpPr>
          <p:cNvPr id="31" name="Text 29"/>
          <p:cNvSpPr/>
          <p:nvPr/>
        </p:nvSpPr>
        <p:spPr>
          <a:xfrm>
            <a:off x="457200" y="3904488"/>
            <a:ext cx="1828800" cy="256032"/>
          </a:xfrm>
          <a:prstGeom prst="rect">
            <a:avLst/>
          </a:prstGeom>
          <a:noFill/>
          <a:ln/>
        </p:spPr>
        <p:txBody>
          <a:bodyPr wrap="square" lIns="0" tIns="0" rIns="0" bIns="0" rtlCol="0" anchor="ctr"/>
          <a:lstStyle/>
          <a:p>
            <a:pPr indent="0" marL="0">
              <a:buNone/>
            </a:pPr>
            <a:r>
              <a:rPr lang="en-US" sz="1400" b="1" dirty="0">
                <a:solidFill>
                  <a:srgbClr val="E8456A"/>
                </a:solidFill>
                <a:latin typeface="Calibri" pitchFamily="34" charset="0"/>
                <a:ea typeface="Calibri" pitchFamily="34" charset="-122"/>
                <a:cs typeface="Calibri" pitchFamily="34" charset="-120"/>
              </a:rPr>
              <a:t>CA_1</a:t>
            </a:r>
            <a:endParaRPr lang="en-US" sz="1400" dirty="0"/>
          </a:p>
        </p:txBody>
      </p:sp>
      <p:sp>
        <p:nvSpPr>
          <p:cNvPr id="32" name="Text 30"/>
          <p:cNvSpPr/>
          <p:nvPr/>
        </p:nvSpPr>
        <p:spPr>
          <a:xfrm>
            <a:off x="2560320" y="3904488"/>
            <a:ext cx="2743200" cy="256032"/>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$4.41</a:t>
            </a:r>
            <a:endParaRPr lang="en-US" sz="1400" dirty="0"/>
          </a:p>
        </p:txBody>
      </p:sp>
      <p:sp>
        <p:nvSpPr>
          <p:cNvPr id="33" name="Text 31"/>
          <p:cNvSpPr/>
          <p:nvPr/>
        </p:nvSpPr>
        <p:spPr>
          <a:xfrm>
            <a:off x="5669280" y="3904488"/>
            <a:ext cx="3017520" cy="256032"/>
          </a:xfrm>
          <a:prstGeom prst="rect">
            <a:avLst/>
          </a:prstGeom>
          <a:noFill/>
          <a:ln/>
        </p:spPr>
        <p:txBody>
          <a:bodyPr wrap="square" lIns="0" tIns="0" rIns="0" bIns="0" rtlCol="0" anchor="ctr"/>
          <a:lstStyle/>
          <a:p>
            <a:pPr indent="0" marL="0">
              <a:buNone/>
            </a:pPr>
            <a:r>
              <a:rPr lang="en-US" sz="1400" dirty="0">
                <a:solidFill>
                  <a:srgbClr val="555555"/>
                </a:solidFill>
                <a:latin typeface="Calibri" pitchFamily="34" charset="0"/>
                <a:ea typeface="Calibri" pitchFamily="34" charset="-122"/>
                <a:cs typeface="Calibri" pitchFamily="34" charset="-120"/>
              </a:rPr>
              <a:t>698,412</a:t>
            </a:r>
            <a:endParaRPr lang="en-US" sz="1400" dirty="0"/>
          </a:p>
        </p:txBody>
      </p:sp>
      <p:sp>
        <p:nvSpPr>
          <p:cNvPr id="34" name="Shape 32"/>
          <p:cNvSpPr/>
          <p:nvPr/>
        </p:nvSpPr>
        <p:spPr>
          <a:xfrm>
            <a:off x="274320" y="4288536"/>
            <a:ext cx="8595360" cy="402336"/>
          </a:xfrm>
          <a:prstGeom prst="rect">
            <a:avLst/>
          </a:prstGeom>
          <a:solidFill>
            <a:srgbClr val="FFFFFF"/>
          </a:solidFill>
          <a:ln w="6350">
            <a:solidFill>
              <a:srgbClr val="DDDDDD"/>
            </a:solidFill>
            <a:prstDash val="solid"/>
          </a:ln>
        </p:spPr>
      </p:sp>
      <p:sp>
        <p:nvSpPr>
          <p:cNvPr id="35" name="Text 33"/>
          <p:cNvSpPr/>
          <p:nvPr/>
        </p:nvSpPr>
        <p:spPr>
          <a:xfrm>
            <a:off x="457200" y="4361688"/>
            <a:ext cx="1828800" cy="256032"/>
          </a:xfrm>
          <a:prstGeom prst="rect">
            <a:avLst/>
          </a:prstGeom>
          <a:noFill/>
          <a:ln/>
        </p:spPr>
        <p:txBody>
          <a:bodyPr wrap="square" lIns="0" tIns="0" rIns="0" bIns="0" rtlCol="0" anchor="ctr"/>
          <a:lstStyle/>
          <a:p>
            <a:pPr indent="0" marL="0">
              <a:buNone/>
            </a:pPr>
            <a:r>
              <a:rPr lang="en-US" sz="1400" b="1" dirty="0">
                <a:solidFill>
                  <a:srgbClr val="E8456A"/>
                </a:solidFill>
                <a:latin typeface="Calibri" pitchFamily="34" charset="0"/>
                <a:ea typeface="Calibri" pitchFamily="34" charset="-122"/>
                <a:cs typeface="Calibri" pitchFamily="34" charset="-120"/>
              </a:rPr>
              <a:t>TX_3</a:t>
            </a:r>
            <a:endParaRPr lang="en-US" sz="1400" dirty="0"/>
          </a:p>
        </p:txBody>
      </p:sp>
      <p:sp>
        <p:nvSpPr>
          <p:cNvPr id="36" name="Text 34"/>
          <p:cNvSpPr/>
          <p:nvPr/>
        </p:nvSpPr>
        <p:spPr>
          <a:xfrm>
            <a:off x="2560320" y="4361688"/>
            <a:ext cx="2743200" cy="256032"/>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$4.39</a:t>
            </a:r>
            <a:endParaRPr lang="en-US" sz="1400" dirty="0"/>
          </a:p>
        </p:txBody>
      </p:sp>
      <p:sp>
        <p:nvSpPr>
          <p:cNvPr id="37" name="Text 35"/>
          <p:cNvSpPr/>
          <p:nvPr/>
        </p:nvSpPr>
        <p:spPr>
          <a:xfrm>
            <a:off x="5669280" y="4361688"/>
            <a:ext cx="3017520" cy="256032"/>
          </a:xfrm>
          <a:prstGeom prst="rect">
            <a:avLst/>
          </a:prstGeom>
          <a:noFill/>
          <a:ln/>
        </p:spPr>
        <p:txBody>
          <a:bodyPr wrap="square" lIns="0" tIns="0" rIns="0" bIns="0" rtlCol="0" anchor="ctr"/>
          <a:lstStyle/>
          <a:p>
            <a:pPr indent="0" marL="0">
              <a:buNone/>
            </a:pPr>
            <a:r>
              <a:rPr lang="en-US" sz="1400" dirty="0">
                <a:solidFill>
                  <a:srgbClr val="555555"/>
                </a:solidFill>
                <a:latin typeface="Calibri" pitchFamily="34" charset="0"/>
                <a:ea typeface="Calibri" pitchFamily="34" charset="-122"/>
                <a:cs typeface="Calibri" pitchFamily="34" charset="-120"/>
              </a:rPr>
              <a:t>691,112</a:t>
            </a:r>
            <a:endParaRPr lang="en-US" sz="1400" dirty="0"/>
          </a:p>
        </p:txBody>
      </p:sp>
      <p:sp>
        <p:nvSpPr>
          <p:cNvPr id="38" name="Text 36"/>
          <p:cNvSpPr/>
          <p:nvPr/>
        </p:nvSpPr>
        <p:spPr>
          <a:xfrm>
            <a:off x="8503920" y="4800600"/>
            <a:ext cx="457200" cy="274320"/>
          </a:xfrm>
          <a:prstGeom prst="rect">
            <a:avLst/>
          </a:prstGeom>
          <a:noFill/>
          <a:ln/>
        </p:spPr>
        <p:txBody>
          <a:bodyPr wrap="square" rtlCol="0" anchor="ctr"/>
          <a:lstStyle/>
          <a:p>
            <a:pPr algn="r" indent="0" marL="0">
              <a:buNone/>
            </a:pPr>
            <a:r>
              <a:rPr lang="en-US" sz="1400" b="1" dirty="0">
                <a:solidFill>
                  <a:srgbClr val="E8456A"/>
                </a:solidFill>
                <a:latin typeface="Calibri" pitchFamily="34" charset="0"/>
                <a:ea typeface="Calibri" pitchFamily="34" charset="-122"/>
                <a:cs typeface="Calibri"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5F7"/>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320040" y="137160"/>
            <a:ext cx="8503920" cy="621792"/>
          </a:xfrm>
          <a:prstGeom prst="rect">
            <a:avLst/>
          </a:prstGeom>
          <a:noFill/>
          <a:ln/>
        </p:spPr>
        <p:txBody>
          <a:bodyPr wrap="square" rtlCol="0" anchor="ctr"/>
          <a:lstStyle/>
          <a:p>
            <a:pPr indent="0" marL="0">
              <a:buNone/>
            </a:pPr>
            <a:r>
              <a:rPr lang="en-US" sz="3200" dirty="0">
                <a:solidFill>
                  <a:srgbClr val="E8456A"/>
                </a:solidFill>
                <a:latin typeface="Calibri" pitchFamily="34" charset="0"/>
                <a:ea typeface="Calibri" pitchFamily="34" charset="-122"/>
                <a:cs typeface="Calibri" pitchFamily="34" charset="-120"/>
              </a:rPr>
              <a:t>Data Preparation &amp; Validation</a:t>
            </a:r>
            <a:endParaRPr lang="en-US" sz="3200" dirty="0"/>
          </a:p>
        </p:txBody>
      </p:sp>
      <p:sp>
        <p:nvSpPr>
          <p:cNvPr id="5" name="Text 3"/>
          <p:cNvSpPr/>
          <p:nvPr/>
        </p:nvSpPr>
        <p:spPr>
          <a:xfrm>
            <a:off x="320040" y="713232"/>
            <a:ext cx="8503920" cy="292608"/>
          </a:xfrm>
          <a:prstGeom prst="rect">
            <a:avLst/>
          </a:prstGeom>
          <a:noFill/>
          <a:ln/>
        </p:spPr>
        <p:txBody>
          <a:bodyPr wrap="square" rtlCol="0" anchor="ctr"/>
          <a:lstStyle/>
          <a:p>
            <a:pPr indent="0" marL="0">
              <a:buNone/>
            </a:pPr>
            <a:r>
              <a:rPr lang="en-US" sz="1300" dirty="0">
                <a:solidFill>
                  <a:srgbClr val="555555"/>
                </a:solidFill>
                <a:latin typeface="Calibri" pitchFamily="34" charset="0"/>
                <a:ea typeface="Calibri" pitchFamily="34" charset="-122"/>
                <a:cs typeface="Calibri" pitchFamily="34" charset="-120"/>
              </a:rPr>
              <a:t>Yanet Assefa  —  Data Acquisition &amp; Profiling Lead</a:t>
            </a:r>
            <a:endParaRPr lang="en-US" sz="1300" dirty="0"/>
          </a:p>
        </p:txBody>
      </p:sp>
      <p:sp>
        <p:nvSpPr>
          <p:cNvPr id="6" name="Shape 4"/>
          <p:cNvSpPr/>
          <p:nvPr/>
        </p:nvSpPr>
        <p:spPr>
          <a:xfrm>
            <a:off x="274320" y="1097280"/>
            <a:ext cx="8595360" cy="804672"/>
          </a:xfrm>
          <a:prstGeom prst="rect">
            <a:avLst/>
          </a:prstGeom>
          <a:solidFill>
            <a:srgbClr val="FFFFFF"/>
          </a:solidFill>
          <a:ln w="6350">
            <a:solidFill>
              <a:srgbClr val="D0D8EE"/>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274320" y="1097280"/>
            <a:ext cx="640080" cy="804672"/>
          </a:xfrm>
          <a:prstGeom prst="rect">
            <a:avLst/>
          </a:prstGeom>
          <a:solidFill>
            <a:srgbClr val="1B6B7B"/>
          </a:solidFill>
          <a:ln w="12700">
            <a:solidFill>
              <a:srgbClr val="1B6B7B"/>
            </a:solidFill>
            <a:prstDash val="solid"/>
          </a:ln>
        </p:spPr>
      </p:sp>
      <p:sp>
        <p:nvSpPr>
          <p:cNvPr id="8" name="Text 6"/>
          <p:cNvSpPr/>
          <p:nvPr/>
        </p:nvSpPr>
        <p:spPr>
          <a:xfrm>
            <a:off x="274320" y="1280160"/>
            <a:ext cx="64008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1051560" y="1161288"/>
            <a:ext cx="7680960" cy="292608"/>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Validated 58.3M Sales Records</a:t>
            </a:r>
            <a:endParaRPr lang="en-US" sz="1500" dirty="0"/>
          </a:p>
        </p:txBody>
      </p:sp>
      <p:sp>
        <p:nvSpPr>
          <p:cNvPr id="10" name="Text 8"/>
          <p:cNvSpPr/>
          <p:nvPr/>
        </p:nvSpPr>
        <p:spPr>
          <a:xfrm>
            <a:off x="1051560" y="1499616"/>
            <a:ext cx="7680960" cy="329184"/>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Confirmed every row is complete, consistent, and free of errors after the unpivot transformation</a:t>
            </a:r>
            <a:endParaRPr lang="en-US" sz="1300" dirty="0"/>
          </a:p>
        </p:txBody>
      </p:sp>
      <p:sp>
        <p:nvSpPr>
          <p:cNvPr id="11" name="Shape 9"/>
          <p:cNvSpPr/>
          <p:nvPr/>
        </p:nvSpPr>
        <p:spPr>
          <a:xfrm>
            <a:off x="274320" y="2029968"/>
            <a:ext cx="8595360" cy="804672"/>
          </a:xfrm>
          <a:prstGeom prst="rect">
            <a:avLst/>
          </a:prstGeom>
          <a:solidFill>
            <a:srgbClr val="FFFFFF"/>
          </a:solidFill>
          <a:ln w="6350">
            <a:solidFill>
              <a:srgbClr val="D0D8EE"/>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274320" y="2029968"/>
            <a:ext cx="640080" cy="804672"/>
          </a:xfrm>
          <a:prstGeom prst="rect">
            <a:avLst/>
          </a:prstGeom>
          <a:solidFill>
            <a:srgbClr val="1B6B7B"/>
          </a:solidFill>
          <a:ln w="12700">
            <a:solidFill>
              <a:srgbClr val="1B6B7B"/>
            </a:solidFill>
            <a:prstDash val="solid"/>
          </a:ln>
        </p:spPr>
      </p:sp>
      <p:sp>
        <p:nvSpPr>
          <p:cNvPr id="13" name="Text 11"/>
          <p:cNvSpPr/>
          <p:nvPr/>
        </p:nvSpPr>
        <p:spPr>
          <a:xfrm>
            <a:off x="274320" y="2212848"/>
            <a:ext cx="64008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1051560" y="2093976"/>
            <a:ext cx="7680960" cy="292608"/>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No Missing or Incorrect Values</a:t>
            </a:r>
            <a:endParaRPr lang="en-US" sz="1500" dirty="0"/>
          </a:p>
        </p:txBody>
      </p:sp>
      <p:sp>
        <p:nvSpPr>
          <p:cNvPr id="15" name="Text 13"/>
          <p:cNvSpPr/>
          <p:nvPr/>
        </p:nvSpPr>
        <p:spPr>
          <a:xfrm>
            <a:off x="1051560" y="2432304"/>
            <a:ext cx="7680960" cy="329184"/>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Zero null join keys, zero negative sales, zero duplicate records found across all tables</a:t>
            </a:r>
            <a:endParaRPr lang="en-US" sz="1300" dirty="0"/>
          </a:p>
        </p:txBody>
      </p:sp>
      <p:sp>
        <p:nvSpPr>
          <p:cNvPr id="16" name="Shape 14"/>
          <p:cNvSpPr/>
          <p:nvPr/>
        </p:nvSpPr>
        <p:spPr>
          <a:xfrm>
            <a:off x="274320" y="2962656"/>
            <a:ext cx="8595360" cy="804672"/>
          </a:xfrm>
          <a:prstGeom prst="rect">
            <a:avLst/>
          </a:prstGeom>
          <a:solidFill>
            <a:srgbClr val="FFFFFF"/>
          </a:solidFill>
          <a:ln w="6350">
            <a:solidFill>
              <a:srgbClr val="D0D8EE"/>
            </a:solidFill>
            <a:prstDash val="solid"/>
          </a:ln>
          <a:effectLst>
            <a:outerShdw sx="100000" sy="100000" kx="0" ky="0" algn="bl" rotWithShape="0" blurRad="50800" dist="12700" dir="8100000">
              <a:srgbClr val="000000">
                <a:alpha val="8000"/>
              </a:srgbClr>
            </a:outerShdw>
          </a:effectLst>
        </p:spPr>
      </p:sp>
      <p:sp>
        <p:nvSpPr>
          <p:cNvPr id="17" name="Shape 15"/>
          <p:cNvSpPr/>
          <p:nvPr/>
        </p:nvSpPr>
        <p:spPr>
          <a:xfrm>
            <a:off x="274320" y="2962656"/>
            <a:ext cx="640080" cy="804672"/>
          </a:xfrm>
          <a:prstGeom prst="rect">
            <a:avLst/>
          </a:prstGeom>
          <a:solidFill>
            <a:srgbClr val="1B6B7B"/>
          </a:solidFill>
          <a:ln w="12700">
            <a:solidFill>
              <a:srgbClr val="1B6B7B"/>
            </a:solidFill>
            <a:prstDash val="solid"/>
          </a:ln>
        </p:spPr>
      </p:sp>
      <p:sp>
        <p:nvSpPr>
          <p:cNvPr id="18" name="Text 16"/>
          <p:cNvSpPr/>
          <p:nvPr/>
        </p:nvSpPr>
        <p:spPr>
          <a:xfrm>
            <a:off x="274320" y="3145536"/>
            <a:ext cx="64008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1051560" y="3026664"/>
            <a:ext cx="7680960" cy="292608"/>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Verified d-to-Date Mapping</a:t>
            </a:r>
            <a:endParaRPr lang="en-US" sz="1500" dirty="0"/>
          </a:p>
        </p:txBody>
      </p:sp>
      <p:sp>
        <p:nvSpPr>
          <p:cNvPr id="20" name="Text 18"/>
          <p:cNvSpPr/>
          <p:nvPr/>
        </p:nvSpPr>
        <p:spPr>
          <a:xfrm>
            <a:off x="1051560" y="3364992"/>
            <a:ext cx="7680960" cy="329184"/>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Confirmed d_1 = 2011-01-29 through dim_date — all 1,969 day identifiers map correctly</a:t>
            </a:r>
            <a:endParaRPr lang="en-US" sz="1300" dirty="0"/>
          </a:p>
        </p:txBody>
      </p:sp>
      <p:sp>
        <p:nvSpPr>
          <p:cNvPr id="21" name="Shape 19"/>
          <p:cNvSpPr/>
          <p:nvPr/>
        </p:nvSpPr>
        <p:spPr>
          <a:xfrm>
            <a:off x="274320" y="3895344"/>
            <a:ext cx="8595360" cy="804672"/>
          </a:xfrm>
          <a:prstGeom prst="rect">
            <a:avLst/>
          </a:prstGeom>
          <a:solidFill>
            <a:srgbClr val="FFFFFF"/>
          </a:solidFill>
          <a:ln w="6350">
            <a:solidFill>
              <a:srgbClr val="D0D8EE"/>
            </a:solidFill>
            <a:prstDash val="solid"/>
          </a:ln>
          <a:effectLst>
            <a:outerShdw sx="100000" sy="100000" kx="0" ky="0" algn="bl" rotWithShape="0" blurRad="50800" dist="12700" dir="8100000">
              <a:srgbClr val="000000">
                <a:alpha val="8000"/>
              </a:srgbClr>
            </a:outerShdw>
          </a:effectLst>
        </p:spPr>
      </p:sp>
      <p:sp>
        <p:nvSpPr>
          <p:cNvPr id="22" name="Shape 20"/>
          <p:cNvSpPr/>
          <p:nvPr/>
        </p:nvSpPr>
        <p:spPr>
          <a:xfrm>
            <a:off x="274320" y="3895344"/>
            <a:ext cx="640080" cy="804672"/>
          </a:xfrm>
          <a:prstGeom prst="rect">
            <a:avLst/>
          </a:prstGeom>
          <a:solidFill>
            <a:srgbClr val="1B6B7B"/>
          </a:solidFill>
          <a:ln w="12700">
            <a:solidFill>
              <a:srgbClr val="1B6B7B"/>
            </a:solidFill>
            <a:prstDash val="solid"/>
          </a:ln>
        </p:spPr>
      </p:sp>
      <p:sp>
        <p:nvSpPr>
          <p:cNvPr id="23" name="Text 21"/>
          <p:cNvSpPr/>
          <p:nvPr/>
        </p:nvSpPr>
        <p:spPr>
          <a:xfrm>
            <a:off x="274320" y="4078224"/>
            <a:ext cx="64008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4" name="Text 22"/>
          <p:cNvSpPr/>
          <p:nvPr/>
        </p:nvSpPr>
        <p:spPr>
          <a:xfrm>
            <a:off x="1051560" y="3959352"/>
            <a:ext cx="7680960" cy="292608"/>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Documented Data Prep Process</a:t>
            </a:r>
            <a:endParaRPr lang="en-US" sz="1500" dirty="0"/>
          </a:p>
        </p:txBody>
      </p:sp>
      <p:sp>
        <p:nvSpPr>
          <p:cNvPr id="25" name="Text 23"/>
          <p:cNvSpPr/>
          <p:nvPr/>
        </p:nvSpPr>
        <p:spPr>
          <a:xfrm>
            <a:off x="1051560" y="4297680"/>
            <a:ext cx="7680960" cy="329184"/>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Final report committed to docs/final_data_prep.md on GitHub for full reproducibility</a:t>
            </a:r>
            <a:endParaRPr lang="en-US" sz="1300" dirty="0"/>
          </a:p>
        </p:txBody>
      </p:sp>
      <p:sp>
        <p:nvSpPr>
          <p:cNvPr id="26" name="Text 24"/>
          <p:cNvSpPr/>
          <p:nvPr/>
        </p:nvSpPr>
        <p:spPr>
          <a:xfrm>
            <a:off x="8503920" y="4800600"/>
            <a:ext cx="457200" cy="274320"/>
          </a:xfrm>
          <a:prstGeom prst="rect">
            <a:avLst/>
          </a:prstGeom>
          <a:noFill/>
          <a:ln/>
        </p:spPr>
        <p:txBody>
          <a:bodyPr wrap="square" rtlCol="0" anchor="ctr"/>
          <a:lstStyle/>
          <a:p>
            <a:pPr algn="r" indent="0" marL="0">
              <a:buNone/>
            </a:pPr>
            <a:r>
              <a:rPr lang="en-US" sz="1400" b="1" dirty="0">
                <a:solidFill>
                  <a:srgbClr val="E8456A"/>
                </a:solidFill>
                <a:latin typeface="Calibri" pitchFamily="34" charset="0"/>
                <a:ea typeface="Calibri" pitchFamily="34" charset="-122"/>
                <a:cs typeface="Calibri"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320040" y="137160"/>
            <a:ext cx="8503920" cy="621792"/>
          </a:xfrm>
          <a:prstGeom prst="rect">
            <a:avLst/>
          </a:prstGeom>
          <a:noFill/>
          <a:ln/>
        </p:spPr>
        <p:txBody>
          <a:bodyPr wrap="square" rtlCol="0" anchor="ctr"/>
          <a:lstStyle/>
          <a:p>
            <a:pPr indent="0" marL="0">
              <a:buNone/>
            </a:pPr>
            <a:r>
              <a:rPr lang="en-US" sz="3000" dirty="0">
                <a:solidFill>
                  <a:srgbClr val="1B6B7B"/>
                </a:solidFill>
                <a:latin typeface="Calibri" pitchFamily="34" charset="0"/>
                <a:ea typeface="Calibri" pitchFamily="34" charset="-122"/>
                <a:cs typeface="Calibri" pitchFamily="34" charset="-120"/>
              </a:rPr>
              <a:t>Evidence  —  4 OLAP Analytics Queries</a:t>
            </a:r>
            <a:endParaRPr lang="en-US" sz="3000" dirty="0"/>
          </a:p>
        </p:txBody>
      </p:sp>
      <p:sp>
        <p:nvSpPr>
          <p:cNvPr id="5" name="Text 3"/>
          <p:cNvSpPr/>
          <p:nvPr/>
        </p:nvSpPr>
        <p:spPr>
          <a:xfrm>
            <a:off x="320040" y="713232"/>
            <a:ext cx="8503920" cy="292608"/>
          </a:xfrm>
          <a:prstGeom prst="rect">
            <a:avLst/>
          </a:prstGeom>
          <a:noFill/>
          <a:ln/>
        </p:spPr>
        <p:txBody>
          <a:bodyPr wrap="square" rtlCol="0" anchor="ctr"/>
          <a:lstStyle/>
          <a:p>
            <a:pPr indent="0" marL="0">
              <a:buNone/>
            </a:pPr>
            <a:r>
              <a:rPr lang="en-US" sz="1300" dirty="0">
                <a:solidFill>
                  <a:srgbClr val="555555"/>
                </a:solidFill>
                <a:latin typeface="Calibri" pitchFamily="34" charset="0"/>
                <a:ea typeface="Calibri" pitchFamily="34" charset="-122"/>
                <a:cs typeface="Calibri" pitchFamily="34" charset="-120"/>
              </a:rPr>
              <a:t>Written by Chyna  —  committed to sql/queries/ on GitHub</a:t>
            </a:r>
            <a:endParaRPr lang="en-US" sz="1300" dirty="0"/>
          </a:p>
        </p:txBody>
      </p:sp>
      <p:sp>
        <p:nvSpPr>
          <p:cNvPr id="6" name="Shape 4"/>
          <p:cNvSpPr/>
          <p:nvPr/>
        </p:nvSpPr>
        <p:spPr>
          <a:xfrm>
            <a:off x="274320" y="1097280"/>
            <a:ext cx="8595360" cy="804672"/>
          </a:xfrm>
          <a:prstGeom prst="rect">
            <a:avLst/>
          </a:prstGeom>
          <a:solidFill>
            <a:srgbClr val="FFFFFF"/>
          </a:solidFill>
          <a:ln w="6350">
            <a:solidFill>
              <a:srgbClr val="D0D8EE"/>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274320" y="1097280"/>
            <a:ext cx="640080" cy="804672"/>
          </a:xfrm>
          <a:prstGeom prst="rect">
            <a:avLst/>
          </a:prstGeom>
          <a:solidFill>
            <a:srgbClr val="E8456A"/>
          </a:solidFill>
          <a:ln w="12700">
            <a:solidFill>
              <a:srgbClr val="E8456A"/>
            </a:solidFill>
            <a:prstDash val="solid"/>
          </a:ln>
        </p:spPr>
      </p:sp>
      <p:sp>
        <p:nvSpPr>
          <p:cNvPr id="8" name="Text 6"/>
          <p:cNvSpPr/>
          <p:nvPr/>
        </p:nvSpPr>
        <p:spPr>
          <a:xfrm>
            <a:off x="274320" y="1280160"/>
            <a:ext cx="64008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Q1</a:t>
            </a:r>
            <a:endParaRPr lang="en-US" sz="1600" dirty="0"/>
          </a:p>
        </p:txBody>
      </p:sp>
      <p:sp>
        <p:nvSpPr>
          <p:cNvPr id="9" name="Text 7"/>
          <p:cNvSpPr/>
          <p:nvPr/>
        </p:nvSpPr>
        <p:spPr>
          <a:xfrm>
            <a:off x="1051560" y="1161288"/>
            <a:ext cx="7680960" cy="292608"/>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Sales by Category &amp; State</a:t>
            </a:r>
            <a:endParaRPr lang="en-US" sz="1500" dirty="0"/>
          </a:p>
        </p:txBody>
      </p:sp>
      <p:sp>
        <p:nvSpPr>
          <p:cNvPr id="10" name="Text 8"/>
          <p:cNvSpPr/>
          <p:nvPr/>
        </p:nvSpPr>
        <p:spPr>
          <a:xfrm>
            <a:off x="1051560" y="1499616"/>
            <a:ext cx="7680960" cy="329184"/>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Total and average daily units sold by product category and state — reveals regional demand patterns</a:t>
            </a:r>
            <a:endParaRPr lang="en-US" sz="1300" dirty="0"/>
          </a:p>
        </p:txBody>
      </p:sp>
      <p:sp>
        <p:nvSpPr>
          <p:cNvPr id="11" name="Shape 9"/>
          <p:cNvSpPr/>
          <p:nvPr/>
        </p:nvSpPr>
        <p:spPr>
          <a:xfrm>
            <a:off x="274320" y="2029968"/>
            <a:ext cx="8595360" cy="804672"/>
          </a:xfrm>
          <a:prstGeom prst="rect">
            <a:avLst/>
          </a:prstGeom>
          <a:solidFill>
            <a:srgbClr val="FFFFFF"/>
          </a:solidFill>
          <a:ln w="6350">
            <a:solidFill>
              <a:srgbClr val="D0D8EE"/>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274320" y="2029968"/>
            <a:ext cx="640080" cy="804672"/>
          </a:xfrm>
          <a:prstGeom prst="rect">
            <a:avLst/>
          </a:prstGeom>
          <a:solidFill>
            <a:srgbClr val="E8456A"/>
          </a:solidFill>
          <a:ln w="12700">
            <a:solidFill>
              <a:srgbClr val="E8456A"/>
            </a:solidFill>
            <a:prstDash val="solid"/>
          </a:ln>
        </p:spPr>
      </p:sp>
      <p:sp>
        <p:nvSpPr>
          <p:cNvPr id="13" name="Text 11"/>
          <p:cNvSpPr/>
          <p:nvPr/>
        </p:nvSpPr>
        <p:spPr>
          <a:xfrm>
            <a:off x="274320" y="2212848"/>
            <a:ext cx="64008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Q2</a:t>
            </a:r>
            <a:endParaRPr lang="en-US" sz="1600" dirty="0"/>
          </a:p>
        </p:txBody>
      </p:sp>
      <p:sp>
        <p:nvSpPr>
          <p:cNvPr id="14" name="Text 12"/>
          <p:cNvSpPr/>
          <p:nvPr/>
        </p:nvSpPr>
        <p:spPr>
          <a:xfrm>
            <a:off x="1051560" y="2093976"/>
            <a:ext cx="7680960" cy="292608"/>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Monthly Sales Trends</a:t>
            </a:r>
            <a:endParaRPr lang="en-US" sz="1500" dirty="0"/>
          </a:p>
        </p:txBody>
      </p:sp>
      <p:sp>
        <p:nvSpPr>
          <p:cNvPr id="15" name="Text 13"/>
          <p:cNvSpPr/>
          <p:nvPr/>
        </p:nvSpPr>
        <p:spPr>
          <a:xfrm>
            <a:off x="1051560" y="2432304"/>
            <a:ext cx="7680960" cy="329184"/>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Aggregates units sold by year and month — reveals seasonal trends across all stores and items</a:t>
            </a:r>
            <a:endParaRPr lang="en-US" sz="1300" dirty="0"/>
          </a:p>
        </p:txBody>
      </p:sp>
      <p:sp>
        <p:nvSpPr>
          <p:cNvPr id="16" name="Shape 14"/>
          <p:cNvSpPr/>
          <p:nvPr/>
        </p:nvSpPr>
        <p:spPr>
          <a:xfrm>
            <a:off x="274320" y="2962656"/>
            <a:ext cx="8595360" cy="804672"/>
          </a:xfrm>
          <a:prstGeom prst="rect">
            <a:avLst/>
          </a:prstGeom>
          <a:solidFill>
            <a:srgbClr val="FFFFFF"/>
          </a:solidFill>
          <a:ln w="6350">
            <a:solidFill>
              <a:srgbClr val="D0D8EE"/>
            </a:solidFill>
            <a:prstDash val="solid"/>
          </a:ln>
          <a:effectLst>
            <a:outerShdw sx="100000" sy="100000" kx="0" ky="0" algn="bl" rotWithShape="0" blurRad="50800" dist="12700" dir="8100000">
              <a:srgbClr val="000000">
                <a:alpha val="8000"/>
              </a:srgbClr>
            </a:outerShdw>
          </a:effectLst>
        </p:spPr>
      </p:sp>
      <p:sp>
        <p:nvSpPr>
          <p:cNvPr id="17" name="Shape 15"/>
          <p:cNvSpPr/>
          <p:nvPr/>
        </p:nvSpPr>
        <p:spPr>
          <a:xfrm>
            <a:off x="274320" y="2962656"/>
            <a:ext cx="640080" cy="804672"/>
          </a:xfrm>
          <a:prstGeom prst="rect">
            <a:avLst/>
          </a:prstGeom>
          <a:solidFill>
            <a:srgbClr val="E8456A"/>
          </a:solidFill>
          <a:ln w="12700">
            <a:solidFill>
              <a:srgbClr val="E8456A"/>
            </a:solidFill>
            <a:prstDash val="solid"/>
          </a:ln>
        </p:spPr>
      </p:sp>
      <p:sp>
        <p:nvSpPr>
          <p:cNvPr id="18" name="Text 16"/>
          <p:cNvSpPr/>
          <p:nvPr/>
        </p:nvSpPr>
        <p:spPr>
          <a:xfrm>
            <a:off x="274320" y="3145536"/>
            <a:ext cx="64008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Q3</a:t>
            </a:r>
            <a:endParaRPr lang="en-US" sz="1600" dirty="0"/>
          </a:p>
        </p:txBody>
      </p:sp>
      <p:sp>
        <p:nvSpPr>
          <p:cNvPr id="19" name="Text 17"/>
          <p:cNvSpPr/>
          <p:nvPr/>
        </p:nvSpPr>
        <p:spPr>
          <a:xfrm>
            <a:off x="1051560" y="3026664"/>
            <a:ext cx="7680960" cy="292608"/>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End-to-End Join: Sales + Prices</a:t>
            </a:r>
            <a:endParaRPr lang="en-US" sz="1500" dirty="0"/>
          </a:p>
        </p:txBody>
      </p:sp>
      <p:sp>
        <p:nvSpPr>
          <p:cNvPr id="20" name="Text 18"/>
          <p:cNvSpPr/>
          <p:nvPr/>
        </p:nvSpPr>
        <p:spPr>
          <a:xfrm>
            <a:off x="1051560" y="3364992"/>
            <a:ext cx="7680960" cy="329184"/>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Joins fact_sales_daily + dim_date + fact_price_weekly — shows sales and price on event days</a:t>
            </a:r>
            <a:endParaRPr lang="en-US" sz="1300" dirty="0"/>
          </a:p>
        </p:txBody>
      </p:sp>
      <p:sp>
        <p:nvSpPr>
          <p:cNvPr id="21" name="Shape 19"/>
          <p:cNvSpPr/>
          <p:nvPr/>
        </p:nvSpPr>
        <p:spPr>
          <a:xfrm>
            <a:off x="274320" y="3895344"/>
            <a:ext cx="8595360" cy="804672"/>
          </a:xfrm>
          <a:prstGeom prst="rect">
            <a:avLst/>
          </a:prstGeom>
          <a:solidFill>
            <a:srgbClr val="FFFFFF"/>
          </a:solidFill>
          <a:ln w="6350">
            <a:solidFill>
              <a:srgbClr val="D0D8EE"/>
            </a:solidFill>
            <a:prstDash val="solid"/>
          </a:ln>
          <a:effectLst>
            <a:outerShdw sx="100000" sy="100000" kx="0" ky="0" algn="bl" rotWithShape="0" blurRad="50800" dist="12700" dir="8100000">
              <a:srgbClr val="000000">
                <a:alpha val="8000"/>
              </a:srgbClr>
            </a:outerShdw>
          </a:effectLst>
        </p:spPr>
      </p:sp>
      <p:sp>
        <p:nvSpPr>
          <p:cNvPr id="22" name="Shape 20"/>
          <p:cNvSpPr/>
          <p:nvPr/>
        </p:nvSpPr>
        <p:spPr>
          <a:xfrm>
            <a:off x="274320" y="3895344"/>
            <a:ext cx="640080" cy="804672"/>
          </a:xfrm>
          <a:prstGeom prst="rect">
            <a:avLst/>
          </a:prstGeom>
          <a:solidFill>
            <a:srgbClr val="E8456A"/>
          </a:solidFill>
          <a:ln w="12700">
            <a:solidFill>
              <a:srgbClr val="E8456A"/>
            </a:solidFill>
            <a:prstDash val="solid"/>
          </a:ln>
        </p:spPr>
      </p:sp>
      <p:sp>
        <p:nvSpPr>
          <p:cNvPr id="23" name="Text 21"/>
          <p:cNvSpPr/>
          <p:nvPr/>
        </p:nvSpPr>
        <p:spPr>
          <a:xfrm>
            <a:off x="274320" y="4078224"/>
            <a:ext cx="64008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Q4</a:t>
            </a:r>
            <a:endParaRPr lang="en-US" sz="1600" dirty="0"/>
          </a:p>
        </p:txBody>
      </p:sp>
      <p:sp>
        <p:nvSpPr>
          <p:cNvPr id="24" name="Text 22"/>
          <p:cNvSpPr/>
          <p:nvPr/>
        </p:nvSpPr>
        <p:spPr>
          <a:xfrm>
            <a:off x="1051560" y="3959352"/>
            <a:ext cx="7680960" cy="292608"/>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Top Selling Items Per Store</a:t>
            </a:r>
            <a:endParaRPr lang="en-US" sz="1500" dirty="0"/>
          </a:p>
        </p:txBody>
      </p:sp>
      <p:sp>
        <p:nvSpPr>
          <p:cNvPr id="25" name="Text 23"/>
          <p:cNvSpPr/>
          <p:nvPr/>
        </p:nvSpPr>
        <p:spPr>
          <a:xfrm>
            <a:off x="1051560" y="4297680"/>
            <a:ext cx="7680960" cy="329184"/>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Ranks items by total units sold within each store — identifies best performing products</a:t>
            </a:r>
            <a:endParaRPr lang="en-US" sz="1300" dirty="0"/>
          </a:p>
        </p:txBody>
      </p:sp>
      <p:sp>
        <p:nvSpPr>
          <p:cNvPr id="26" name="Text 24"/>
          <p:cNvSpPr/>
          <p:nvPr/>
        </p:nvSpPr>
        <p:spPr>
          <a:xfrm>
            <a:off x="8503920" y="4800600"/>
            <a:ext cx="457200" cy="274320"/>
          </a:xfrm>
          <a:prstGeom prst="rect">
            <a:avLst/>
          </a:prstGeom>
          <a:noFill/>
          <a:ln/>
        </p:spPr>
        <p:txBody>
          <a:bodyPr wrap="square" rtlCol="0" anchor="ctr"/>
          <a:lstStyle/>
          <a:p>
            <a:pPr algn="r" indent="0" marL="0">
              <a:buNone/>
            </a:pPr>
            <a:r>
              <a:rPr lang="en-US" sz="1400" b="1" dirty="0">
                <a:solidFill>
                  <a:srgbClr val="E8456A"/>
                </a:solidFill>
                <a:latin typeface="Calibri" pitchFamily="34" charset="0"/>
                <a:ea typeface="Calibri" pitchFamily="34" charset="-122"/>
                <a:cs typeface="Calibri"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5F7"/>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320040" y="137160"/>
            <a:ext cx="8503920" cy="621792"/>
          </a:xfrm>
          <a:prstGeom prst="rect">
            <a:avLst/>
          </a:prstGeom>
          <a:noFill/>
          <a:ln/>
        </p:spPr>
        <p:txBody>
          <a:bodyPr wrap="square" rtlCol="0" anchor="ctr"/>
          <a:lstStyle/>
          <a:p>
            <a:pPr indent="0" marL="0">
              <a:buNone/>
            </a:pPr>
            <a:r>
              <a:rPr lang="en-US" sz="3000" dirty="0">
                <a:solidFill>
                  <a:srgbClr val="1B6B7B"/>
                </a:solidFill>
                <a:latin typeface="Calibri" pitchFamily="34" charset="0"/>
                <a:ea typeface="Calibri" pitchFamily="34" charset="-122"/>
                <a:cs typeface="Calibri" pitchFamily="34" charset="-120"/>
              </a:rPr>
              <a:t>Evidence  —  End-to-End Join</a:t>
            </a:r>
            <a:endParaRPr lang="en-US" sz="3000" dirty="0"/>
          </a:p>
        </p:txBody>
      </p:sp>
      <p:sp>
        <p:nvSpPr>
          <p:cNvPr id="5" name="Text 3"/>
          <p:cNvSpPr/>
          <p:nvPr/>
        </p:nvSpPr>
        <p:spPr>
          <a:xfrm>
            <a:off x="320040" y="713232"/>
            <a:ext cx="8503920" cy="292608"/>
          </a:xfrm>
          <a:prstGeom prst="rect">
            <a:avLst/>
          </a:prstGeom>
          <a:noFill/>
          <a:ln/>
        </p:spPr>
        <p:txBody>
          <a:bodyPr wrap="square" rtlCol="0" anchor="ctr"/>
          <a:lstStyle/>
          <a:p>
            <a:pPr indent="0" marL="0">
              <a:buNone/>
            </a:pPr>
            <a:r>
              <a:rPr lang="en-US" sz="1300" dirty="0">
                <a:solidFill>
                  <a:srgbClr val="555555"/>
                </a:solidFill>
                <a:latin typeface="Calibri" pitchFamily="34" charset="0"/>
                <a:ea typeface="Calibri" pitchFamily="34" charset="-122"/>
                <a:cs typeface="Calibri" pitchFamily="34" charset="-120"/>
              </a:rPr>
              <a:t>Sales + Calendar + Prices — all three connected in one query</a:t>
            </a:r>
            <a:endParaRPr lang="en-US" sz="1300" dirty="0"/>
          </a:p>
        </p:txBody>
      </p:sp>
      <p:sp>
        <p:nvSpPr>
          <p:cNvPr id="6" name="Shape 4"/>
          <p:cNvSpPr/>
          <p:nvPr/>
        </p:nvSpPr>
        <p:spPr>
          <a:xfrm>
            <a:off x="274320" y="1078992"/>
            <a:ext cx="5029200" cy="2926080"/>
          </a:xfrm>
          <a:prstGeom prst="rect">
            <a:avLst/>
          </a:prstGeom>
          <a:solidFill>
            <a:srgbClr val="1E1E1E"/>
          </a:solidFill>
          <a:ln w="12700">
            <a:solidFill>
              <a:srgbClr val="333333"/>
            </a:solidFill>
            <a:prstDash val="solid"/>
          </a:ln>
        </p:spPr>
      </p:sp>
      <p:sp>
        <p:nvSpPr>
          <p:cNvPr id="7" name="Shape 5"/>
          <p:cNvSpPr/>
          <p:nvPr/>
        </p:nvSpPr>
        <p:spPr>
          <a:xfrm>
            <a:off x="274320" y="1078992"/>
            <a:ext cx="5029200" cy="320040"/>
          </a:xfrm>
          <a:prstGeom prst="rect">
            <a:avLst/>
          </a:prstGeom>
          <a:solidFill>
            <a:srgbClr val="333333"/>
          </a:solidFill>
          <a:ln w="12700">
            <a:solidFill>
              <a:srgbClr val="333333"/>
            </a:solidFill>
            <a:prstDash val="solid"/>
          </a:ln>
        </p:spPr>
      </p:sp>
      <p:sp>
        <p:nvSpPr>
          <p:cNvPr id="8" name="Text 6"/>
          <p:cNvSpPr/>
          <p:nvPr/>
        </p:nvSpPr>
        <p:spPr>
          <a:xfrm>
            <a:off x="274320" y="1078992"/>
            <a:ext cx="5029200" cy="320040"/>
          </a:xfrm>
          <a:prstGeom prst="rect">
            <a:avLst/>
          </a:prstGeom>
          <a:noFill/>
          <a:ln/>
        </p:spPr>
        <p:txBody>
          <a:bodyPr wrap="square" rtlCol="0" anchor="ctr"/>
          <a:lstStyle/>
          <a:p>
            <a:pPr algn="ctr" indent="0" marL="0">
              <a:buNone/>
            </a:pPr>
            <a:r>
              <a:rPr lang="en-US" sz="1100" dirty="0">
                <a:solidFill>
                  <a:srgbClr val="AAAAAA"/>
                </a:solidFill>
                <a:latin typeface="Consolas" pitchFamily="34" charset="0"/>
                <a:ea typeface="Consolas" pitchFamily="34" charset="-122"/>
                <a:cs typeface="Consolas" pitchFamily="34" charset="-120"/>
              </a:rPr>
              <a:t>SQL — End-to-End Join Query</a:t>
            </a:r>
            <a:endParaRPr lang="en-US" sz="1100" dirty="0"/>
          </a:p>
        </p:txBody>
      </p:sp>
      <p:sp>
        <p:nvSpPr>
          <p:cNvPr id="9" name="Text 7"/>
          <p:cNvSpPr/>
          <p:nvPr/>
        </p:nvSpPr>
        <p:spPr>
          <a:xfrm>
            <a:off x="411480" y="1426464"/>
            <a:ext cx="4754880" cy="2468880"/>
          </a:xfrm>
          <a:prstGeom prst="rect">
            <a:avLst/>
          </a:prstGeom>
          <a:noFill/>
          <a:ln/>
        </p:spPr>
        <p:txBody>
          <a:bodyPr wrap="square" rtlCol="0" anchor="ctr"/>
          <a:lstStyle/>
          <a:p>
            <a:pPr indent="0" marL="0">
              <a:buNone/>
            </a:pPr>
            <a:r>
              <a:rPr lang="en-US" sz="1100" dirty="0">
                <a:solidFill>
                  <a:srgbClr val="98C379"/>
                </a:solidFill>
                <a:latin typeface="Consolas" pitchFamily="34" charset="0"/>
                <a:ea typeface="Consolas" pitchFamily="34" charset="-122"/>
                <a:cs typeface="Consolas" pitchFamily="34" charset="-120"/>
              </a:rPr>
              <a:t>SELECT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f.item_id, f.store_id,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dd.date, dd.event_name_1,</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f.units_sold,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p.sell_price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FROM fact_sales_daily f</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JOIN dim_date dd ON dd.d = f.d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JOIN fact_price_weekly p</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ON p.item_id = f.item_id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AND p.store_id = f.store_id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AND p.wm_yr_wk = dd.wm_yr_wk</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WHERE dd.event_name_1 IS NOT NULL</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LIMIT 10;</a:t>
            </a:r>
            <a:endParaRPr lang="en-US" sz="1100" dirty="0"/>
          </a:p>
        </p:txBody>
      </p:sp>
      <p:sp>
        <p:nvSpPr>
          <p:cNvPr id="10" name="Shape 8"/>
          <p:cNvSpPr/>
          <p:nvPr/>
        </p:nvSpPr>
        <p:spPr>
          <a:xfrm>
            <a:off x="5486400" y="1078992"/>
            <a:ext cx="3383280" cy="2926080"/>
          </a:xfrm>
          <a:prstGeom prst="rect">
            <a:avLst/>
          </a:prstGeom>
          <a:solidFill>
            <a:srgbClr val="FFFFFF"/>
          </a:solidFill>
          <a:ln w="19050">
            <a:solidFill>
              <a:srgbClr val="1B6B7B"/>
            </a:solidFill>
            <a:prstDash val="solid"/>
          </a:ln>
        </p:spPr>
      </p:sp>
      <p:sp>
        <p:nvSpPr>
          <p:cNvPr id="11" name="Shape 9"/>
          <p:cNvSpPr/>
          <p:nvPr/>
        </p:nvSpPr>
        <p:spPr>
          <a:xfrm>
            <a:off x="5486400" y="1078992"/>
            <a:ext cx="3383280" cy="411480"/>
          </a:xfrm>
          <a:prstGeom prst="rect">
            <a:avLst/>
          </a:prstGeom>
          <a:solidFill>
            <a:srgbClr val="1B6B7B"/>
          </a:solidFill>
          <a:ln w="12700">
            <a:solidFill>
              <a:srgbClr val="1B6B7B"/>
            </a:solidFill>
            <a:prstDash val="solid"/>
          </a:ln>
        </p:spPr>
      </p:sp>
      <p:sp>
        <p:nvSpPr>
          <p:cNvPr id="12" name="Text 10"/>
          <p:cNvSpPr/>
          <p:nvPr/>
        </p:nvSpPr>
        <p:spPr>
          <a:xfrm>
            <a:off x="5486400" y="1078992"/>
            <a:ext cx="33832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This Proves</a:t>
            </a:r>
            <a:endParaRPr lang="en-US" sz="1400" dirty="0"/>
          </a:p>
        </p:txBody>
      </p:sp>
      <p:sp>
        <p:nvSpPr>
          <p:cNvPr id="13" name="Text 11"/>
          <p:cNvSpPr/>
          <p:nvPr/>
        </p:nvSpPr>
        <p:spPr>
          <a:xfrm>
            <a:off x="5623560" y="1554480"/>
            <a:ext cx="3108960" cy="54864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  Sales link to calendar</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via the d column</a:t>
            </a:r>
            <a:endParaRPr lang="en-US" sz="1300" dirty="0"/>
          </a:p>
        </p:txBody>
      </p:sp>
      <p:sp>
        <p:nvSpPr>
          <p:cNvPr id="14" name="Text 12"/>
          <p:cNvSpPr/>
          <p:nvPr/>
        </p:nvSpPr>
        <p:spPr>
          <a:xfrm>
            <a:off x="5623560" y="2167128"/>
            <a:ext cx="3108960" cy="54864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  Calendar links to prices</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via wm_yr_wk</a:t>
            </a:r>
            <a:endParaRPr lang="en-US" sz="1300" dirty="0"/>
          </a:p>
        </p:txBody>
      </p:sp>
      <p:sp>
        <p:nvSpPr>
          <p:cNvPr id="15" name="Text 13"/>
          <p:cNvSpPr/>
          <p:nvPr/>
        </p:nvSpPr>
        <p:spPr>
          <a:xfrm>
            <a:off x="5623560" y="2779776"/>
            <a:ext cx="3108960" cy="54864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  Holiday events visible</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in query results</a:t>
            </a:r>
            <a:endParaRPr lang="en-US" sz="1300" dirty="0"/>
          </a:p>
        </p:txBody>
      </p:sp>
      <p:sp>
        <p:nvSpPr>
          <p:cNvPr id="16" name="Text 14"/>
          <p:cNvSpPr/>
          <p:nvPr/>
        </p:nvSpPr>
        <p:spPr>
          <a:xfrm>
            <a:off x="5623560" y="3392424"/>
            <a:ext cx="3108960" cy="54864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  Full star schema</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working end-to-end</a:t>
            </a:r>
            <a:endParaRPr lang="en-US" sz="1300" dirty="0"/>
          </a:p>
        </p:txBody>
      </p:sp>
      <p:sp>
        <p:nvSpPr>
          <p:cNvPr id="17" name="Text 15"/>
          <p:cNvSpPr/>
          <p:nvPr/>
        </p:nvSpPr>
        <p:spPr>
          <a:xfrm>
            <a:off x="8503920" y="4800600"/>
            <a:ext cx="457200" cy="274320"/>
          </a:xfrm>
          <a:prstGeom prst="rect">
            <a:avLst/>
          </a:prstGeom>
          <a:noFill/>
          <a:ln/>
        </p:spPr>
        <p:txBody>
          <a:bodyPr wrap="square" rtlCol="0" anchor="ctr"/>
          <a:lstStyle/>
          <a:p>
            <a:pPr algn="r" indent="0" marL="0">
              <a:buNone/>
            </a:pPr>
            <a:r>
              <a:rPr lang="en-US" sz="1400" b="1" dirty="0">
                <a:solidFill>
                  <a:srgbClr val="E8456A"/>
                </a:solidFill>
                <a:latin typeface="Calibri" pitchFamily="34" charset="0"/>
                <a:ea typeface="Calibri" pitchFamily="34" charset="-122"/>
                <a:cs typeface="Calibri"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0" y="0"/>
            <a:ext cx="9144000" cy="1371600"/>
          </a:xfrm>
          <a:prstGeom prst="rect">
            <a:avLst/>
          </a:prstGeom>
          <a:solidFill>
            <a:srgbClr val="E8456A"/>
          </a:solidFill>
          <a:ln w="12700">
            <a:solidFill>
              <a:srgbClr val="E8456A"/>
            </a:solidFill>
            <a:prstDash val="solid"/>
          </a:ln>
        </p:spPr>
      </p:sp>
      <p:sp>
        <p:nvSpPr>
          <p:cNvPr id="3" name="Text 1"/>
          <p:cNvSpPr/>
          <p:nvPr/>
        </p:nvSpPr>
        <p:spPr>
          <a:xfrm>
            <a:off x="320040" y="73152"/>
            <a:ext cx="8503920" cy="713232"/>
          </a:xfrm>
          <a:prstGeom prst="rect">
            <a:avLst/>
          </a:prstGeom>
          <a:noFill/>
          <a:ln/>
        </p:spPr>
        <p:txBody>
          <a:bodyPr wrap="square" rtlCol="0" anchor="ctr"/>
          <a:lstStyle/>
          <a:p>
            <a:pPr indent="0" marL="0">
              <a:buNone/>
            </a:pPr>
            <a:r>
              <a:rPr lang="en-US" sz="3800" dirty="0">
                <a:solidFill>
                  <a:srgbClr val="FFFFFF"/>
                </a:solidFill>
                <a:latin typeface="Calibri" pitchFamily="34" charset="0"/>
                <a:ea typeface="Calibri" pitchFamily="34" charset="-122"/>
                <a:cs typeface="Calibri" pitchFamily="34" charset="-120"/>
              </a:rPr>
              <a:t>Blockers &amp; Risks</a:t>
            </a:r>
            <a:endParaRPr lang="en-US" sz="3800" dirty="0"/>
          </a:p>
        </p:txBody>
      </p:sp>
      <p:sp>
        <p:nvSpPr>
          <p:cNvPr id="4" name="Text 2"/>
          <p:cNvSpPr/>
          <p:nvPr/>
        </p:nvSpPr>
        <p:spPr>
          <a:xfrm>
            <a:off x="320040" y="777240"/>
            <a:ext cx="8503920" cy="438912"/>
          </a:xfrm>
          <a:prstGeom prst="rect">
            <a:avLst/>
          </a:prstGeom>
          <a:noFill/>
          <a:ln/>
        </p:spPr>
        <p:txBody>
          <a:bodyPr wrap="square" rtlCol="0" anchor="ctr"/>
          <a:lstStyle/>
          <a:p>
            <a:pPr indent="0" marL="0">
              <a:buNone/>
            </a:pPr>
            <a:r>
              <a:rPr lang="en-US" sz="1700" dirty="0">
                <a:solidFill>
                  <a:srgbClr val="FFD0DA"/>
                </a:solidFill>
                <a:latin typeface="Calibri" pitchFamily="34" charset="0"/>
                <a:ea typeface="Calibri" pitchFamily="34" charset="-122"/>
                <a:cs typeface="Calibri" pitchFamily="34" charset="-120"/>
              </a:rPr>
              <a:t>2 resolved  •  2 upcoming for Week 11</a:t>
            </a:r>
            <a:endParaRPr lang="en-US" sz="1700" dirty="0"/>
          </a:p>
        </p:txBody>
      </p:sp>
      <p:sp>
        <p:nvSpPr>
          <p:cNvPr id="5" name="Shape 3"/>
          <p:cNvSpPr/>
          <p:nvPr/>
        </p:nvSpPr>
        <p:spPr>
          <a:xfrm>
            <a:off x="182880" y="1508760"/>
            <a:ext cx="2057400" cy="3383280"/>
          </a:xfrm>
          <a:prstGeom prst="rect">
            <a:avLst/>
          </a:prstGeom>
          <a:solidFill>
            <a:srgbClr val="FFFFFF"/>
          </a:solidFill>
          <a:ln w="25400">
            <a:solidFill>
              <a:srgbClr val="22C55E"/>
            </a:solidFill>
            <a:prstDash val="solid"/>
          </a:ln>
        </p:spPr>
      </p:sp>
      <p:sp>
        <p:nvSpPr>
          <p:cNvPr id="6" name="Shape 4"/>
          <p:cNvSpPr/>
          <p:nvPr/>
        </p:nvSpPr>
        <p:spPr>
          <a:xfrm>
            <a:off x="182880" y="1508760"/>
            <a:ext cx="2057400" cy="749808"/>
          </a:xfrm>
          <a:prstGeom prst="rect">
            <a:avLst/>
          </a:prstGeom>
          <a:solidFill>
            <a:srgbClr val="22C55E"/>
          </a:solidFill>
          <a:ln w="12700">
            <a:solidFill>
              <a:srgbClr val="22C55E"/>
            </a:solidFill>
            <a:prstDash val="solid"/>
          </a:ln>
        </p:spPr>
      </p:sp>
      <p:sp>
        <p:nvSpPr>
          <p:cNvPr id="7" name="Text 5"/>
          <p:cNvSpPr/>
          <p:nvPr/>
        </p:nvSpPr>
        <p:spPr>
          <a:xfrm>
            <a:off x="182880" y="1527048"/>
            <a:ext cx="2057400" cy="713232"/>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8" name="Text 6"/>
          <p:cNvSpPr/>
          <p:nvPr/>
        </p:nvSpPr>
        <p:spPr>
          <a:xfrm>
            <a:off x="292608" y="2331720"/>
            <a:ext cx="1828800" cy="347472"/>
          </a:xfrm>
          <a:prstGeom prst="rect">
            <a:avLst/>
          </a:prstGeom>
          <a:noFill/>
          <a:ln/>
        </p:spPr>
        <p:txBody>
          <a:bodyPr wrap="square"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RESOLVED</a:t>
            </a:r>
            <a:endParaRPr lang="en-US" sz="1300" dirty="0"/>
          </a:p>
        </p:txBody>
      </p:sp>
      <p:sp>
        <p:nvSpPr>
          <p:cNvPr id="9" name="Text 7"/>
          <p:cNvSpPr/>
          <p:nvPr/>
        </p:nvSpPr>
        <p:spPr>
          <a:xfrm>
            <a:off x="292608" y="2734056"/>
            <a:ext cx="1828800" cy="137160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Duplicate key on fact_price_weekly</a:t>
            </a:r>
            <a:endParaRPr lang="en-US" sz="1200" dirty="0"/>
          </a:p>
          <a:p>
            <a:pPr indent="0" marL="0">
              <a:buNone/>
            </a:pPr>
            <a:r>
              <a:rPr lang="en-US" sz="1200" dirty="0">
                <a:solidFill>
                  <a:srgbClr val="555555"/>
                </a:solidFill>
                <a:latin typeface="Calibri" pitchFamily="34" charset="0"/>
                <a:ea typeface="Calibri" pitchFamily="34" charset="-122"/>
                <a:cs typeface="Calibri" pitchFamily="34" charset="-120"/>
              </a:rPr>
              <a:t>Fixed with ON CONFLICT DO NOTHING</a:t>
            </a:r>
            <a:endParaRPr lang="en-US" sz="1200" dirty="0"/>
          </a:p>
        </p:txBody>
      </p:sp>
      <p:sp>
        <p:nvSpPr>
          <p:cNvPr id="10" name="Text 8"/>
          <p:cNvSpPr/>
          <p:nvPr/>
        </p:nvSpPr>
        <p:spPr>
          <a:xfrm>
            <a:off x="292608" y="4462272"/>
            <a:ext cx="1828800" cy="320040"/>
          </a:xfrm>
          <a:prstGeom prst="rect">
            <a:avLst/>
          </a:prstGeom>
          <a:noFill/>
          <a:ln/>
        </p:spPr>
        <p:txBody>
          <a:bodyPr wrap="square" rtlCol="0" anchor="ctr"/>
          <a:lstStyle/>
          <a:p>
            <a:pPr indent="0" marL="0">
              <a:buNone/>
            </a:pPr>
            <a:r>
              <a:rPr lang="en-US" sz="1100" i="1" dirty="0">
                <a:solidFill>
                  <a:srgbClr val="22C55E"/>
                </a:solidFill>
                <a:latin typeface="Calibri" pitchFamily="34" charset="0"/>
                <a:ea typeface="Calibri" pitchFamily="34" charset="-122"/>
                <a:cs typeface="Calibri" pitchFamily="34" charset="-120"/>
              </a:rPr>
              <a:t>Owner: Chyna</a:t>
            </a:r>
            <a:endParaRPr lang="en-US" sz="1100" dirty="0"/>
          </a:p>
        </p:txBody>
      </p:sp>
      <p:sp>
        <p:nvSpPr>
          <p:cNvPr id="11" name="Shape 9"/>
          <p:cNvSpPr/>
          <p:nvPr/>
        </p:nvSpPr>
        <p:spPr>
          <a:xfrm>
            <a:off x="2395728" y="1508760"/>
            <a:ext cx="2057400" cy="3383280"/>
          </a:xfrm>
          <a:prstGeom prst="rect">
            <a:avLst/>
          </a:prstGeom>
          <a:solidFill>
            <a:srgbClr val="FFFFFF"/>
          </a:solidFill>
          <a:ln w="25400">
            <a:solidFill>
              <a:srgbClr val="22C55E"/>
            </a:solidFill>
            <a:prstDash val="solid"/>
          </a:ln>
        </p:spPr>
      </p:sp>
      <p:sp>
        <p:nvSpPr>
          <p:cNvPr id="12" name="Shape 10"/>
          <p:cNvSpPr/>
          <p:nvPr/>
        </p:nvSpPr>
        <p:spPr>
          <a:xfrm>
            <a:off x="2395728" y="1508760"/>
            <a:ext cx="2057400" cy="749808"/>
          </a:xfrm>
          <a:prstGeom prst="rect">
            <a:avLst/>
          </a:prstGeom>
          <a:solidFill>
            <a:srgbClr val="22C55E"/>
          </a:solidFill>
          <a:ln w="12700">
            <a:solidFill>
              <a:srgbClr val="22C55E"/>
            </a:solidFill>
            <a:prstDash val="solid"/>
          </a:ln>
        </p:spPr>
      </p:sp>
      <p:sp>
        <p:nvSpPr>
          <p:cNvPr id="13" name="Text 11"/>
          <p:cNvSpPr/>
          <p:nvPr/>
        </p:nvSpPr>
        <p:spPr>
          <a:xfrm>
            <a:off x="2395728" y="1527048"/>
            <a:ext cx="2057400" cy="713232"/>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14" name="Text 12"/>
          <p:cNvSpPr/>
          <p:nvPr/>
        </p:nvSpPr>
        <p:spPr>
          <a:xfrm>
            <a:off x="2505456" y="2331720"/>
            <a:ext cx="1828800" cy="347472"/>
          </a:xfrm>
          <a:prstGeom prst="rect">
            <a:avLst/>
          </a:prstGeom>
          <a:noFill/>
          <a:ln/>
        </p:spPr>
        <p:txBody>
          <a:bodyPr wrap="square"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RESOLVED</a:t>
            </a:r>
            <a:endParaRPr lang="en-US" sz="1300" dirty="0"/>
          </a:p>
        </p:txBody>
      </p:sp>
      <p:sp>
        <p:nvSpPr>
          <p:cNvPr id="15" name="Text 13"/>
          <p:cNvSpPr/>
          <p:nvPr/>
        </p:nvSpPr>
        <p:spPr>
          <a:xfrm>
            <a:off x="2505456" y="2734056"/>
            <a:ext cx="1828800" cy="137160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outputs/ blocked by .gitignore</a:t>
            </a:r>
            <a:endParaRPr lang="en-US" sz="1200" dirty="0"/>
          </a:p>
          <a:p>
            <a:pPr indent="0" marL="0">
              <a:buNone/>
            </a:pPr>
            <a:r>
              <a:rPr lang="en-US" sz="1200" dirty="0">
                <a:solidFill>
                  <a:srgbClr val="555555"/>
                </a:solidFill>
                <a:latin typeface="Calibri" pitchFamily="34" charset="0"/>
                <a:ea typeface="Calibri" pitchFamily="34" charset="-122"/>
                <a:cs typeface="Calibri" pitchFamily="34" charset="-120"/>
              </a:rPr>
              <a:t>Fixed using git add -f flag</a:t>
            </a:r>
            <a:endParaRPr lang="en-US" sz="1200" dirty="0"/>
          </a:p>
        </p:txBody>
      </p:sp>
      <p:sp>
        <p:nvSpPr>
          <p:cNvPr id="16" name="Text 14"/>
          <p:cNvSpPr/>
          <p:nvPr/>
        </p:nvSpPr>
        <p:spPr>
          <a:xfrm>
            <a:off x="2505456" y="4462272"/>
            <a:ext cx="1828800" cy="320040"/>
          </a:xfrm>
          <a:prstGeom prst="rect">
            <a:avLst/>
          </a:prstGeom>
          <a:noFill/>
          <a:ln/>
        </p:spPr>
        <p:txBody>
          <a:bodyPr wrap="square" rtlCol="0" anchor="ctr"/>
          <a:lstStyle/>
          <a:p>
            <a:pPr indent="0" marL="0">
              <a:buNone/>
            </a:pPr>
            <a:r>
              <a:rPr lang="en-US" sz="1100" i="1" dirty="0">
                <a:solidFill>
                  <a:srgbClr val="22C55E"/>
                </a:solidFill>
                <a:latin typeface="Calibri" pitchFamily="34" charset="0"/>
                <a:ea typeface="Calibri" pitchFamily="34" charset="-122"/>
                <a:cs typeface="Calibri" pitchFamily="34" charset="-120"/>
              </a:rPr>
              <a:t>Owner: Chyna</a:t>
            </a:r>
            <a:endParaRPr lang="en-US" sz="1100" dirty="0"/>
          </a:p>
        </p:txBody>
      </p:sp>
      <p:sp>
        <p:nvSpPr>
          <p:cNvPr id="17" name="Shape 15"/>
          <p:cNvSpPr/>
          <p:nvPr/>
        </p:nvSpPr>
        <p:spPr>
          <a:xfrm>
            <a:off x="4608576" y="1508760"/>
            <a:ext cx="2057400" cy="3383280"/>
          </a:xfrm>
          <a:prstGeom prst="rect">
            <a:avLst/>
          </a:prstGeom>
          <a:solidFill>
            <a:srgbClr val="FFFFFF"/>
          </a:solidFill>
          <a:ln w="25400">
            <a:solidFill>
              <a:srgbClr val="1B6B7B"/>
            </a:solidFill>
            <a:prstDash val="solid"/>
          </a:ln>
        </p:spPr>
      </p:sp>
      <p:sp>
        <p:nvSpPr>
          <p:cNvPr id="18" name="Shape 16"/>
          <p:cNvSpPr/>
          <p:nvPr/>
        </p:nvSpPr>
        <p:spPr>
          <a:xfrm>
            <a:off x="4608576" y="1508760"/>
            <a:ext cx="2057400" cy="749808"/>
          </a:xfrm>
          <a:prstGeom prst="rect">
            <a:avLst/>
          </a:prstGeom>
          <a:solidFill>
            <a:srgbClr val="1B6B7B"/>
          </a:solidFill>
          <a:ln w="12700">
            <a:solidFill>
              <a:srgbClr val="1B6B7B"/>
            </a:solidFill>
            <a:prstDash val="solid"/>
          </a:ln>
        </p:spPr>
      </p:sp>
      <p:sp>
        <p:nvSpPr>
          <p:cNvPr id="19" name="Text 17"/>
          <p:cNvSpPr/>
          <p:nvPr/>
        </p:nvSpPr>
        <p:spPr>
          <a:xfrm>
            <a:off x="4608576" y="1527048"/>
            <a:ext cx="2057400" cy="713232"/>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20" name="Text 18"/>
          <p:cNvSpPr/>
          <p:nvPr/>
        </p:nvSpPr>
        <p:spPr>
          <a:xfrm>
            <a:off x="4718304" y="2331720"/>
            <a:ext cx="1828800" cy="347472"/>
          </a:xfrm>
          <a:prstGeom prst="rect">
            <a:avLst/>
          </a:prstGeom>
          <a:noFill/>
          <a:ln/>
        </p:spPr>
        <p:txBody>
          <a:bodyPr wrap="square" rtlCol="0" anchor="ctr"/>
          <a:lstStyle/>
          <a:p>
            <a:pPr indent="0" marL="0">
              <a:buNone/>
            </a:pPr>
            <a:r>
              <a:rPr lang="en-US" sz="1300" b="1" dirty="0">
                <a:solidFill>
                  <a:srgbClr val="1B6B7B"/>
                </a:solidFill>
                <a:latin typeface="Calibri" pitchFamily="34" charset="0"/>
                <a:ea typeface="Calibri" pitchFamily="34" charset="-122"/>
                <a:cs typeface="Calibri" pitchFamily="34" charset="-120"/>
              </a:rPr>
              <a:t>WEEK 11</a:t>
            </a:r>
            <a:endParaRPr lang="en-US" sz="1300" dirty="0"/>
          </a:p>
        </p:txBody>
      </p:sp>
      <p:sp>
        <p:nvSpPr>
          <p:cNvPr id="21" name="Text 19"/>
          <p:cNvSpPr/>
          <p:nvPr/>
        </p:nvSpPr>
        <p:spPr>
          <a:xfrm>
            <a:off x="4718304" y="2734056"/>
            <a:ext cx="1828800" cy="137160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Feature engineering needed</a:t>
            </a:r>
            <a:endParaRPr lang="en-US" sz="1200" dirty="0"/>
          </a:p>
          <a:p>
            <a:pPr indent="0" marL="0">
              <a:buNone/>
            </a:pPr>
            <a:r>
              <a:rPr lang="en-US" sz="1200" dirty="0">
                <a:solidFill>
                  <a:srgbClr val="555555"/>
                </a:solidFill>
                <a:latin typeface="Calibri" pitchFamily="34" charset="0"/>
                <a:ea typeface="Calibri" pitchFamily="34" charset="-122"/>
                <a:cs typeface="Calibri" pitchFamily="34" charset="-120"/>
              </a:rPr>
              <a:t>Lag + rolling window features for ML</a:t>
            </a:r>
            <a:endParaRPr lang="en-US" sz="1200" dirty="0"/>
          </a:p>
        </p:txBody>
      </p:sp>
      <p:sp>
        <p:nvSpPr>
          <p:cNvPr id="22" name="Text 20"/>
          <p:cNvSpPr/>
          <p:nvPr/>
        </p:nvSpPr>
        <p:spPr>
          <a:xfrm>
            <a:off x="4718304" y="4462272"/>
            <a:ext cx="1828800" cy="320040"/>
          </a:xfrm>
          <a:prstGeom prst="rect">
            <a:avLst/>
          </a:prstGeom>
          <a:noFill/>
          <a:ln/>
        </p:spPr>
        <p:txBody>
          <a:bodyPr wrap="square" rtlCol="0" anchor="ctr"/>
          <a:lstStyle/>
          <a:p>
            <a:pPr indent="0" marL="0">
              <a:buNone/>
            </a:pPr>
            <a:r>
              <a:rPr lang="en-US" sz="1100" i="1" dirty="0">
                <a:solidFill>
                  <a:srgbClr val="1B6B7B"/>
                </a:solidFill>
                <a:latin typeface="Calibri" pitchFamily="34" charset="0"/>
                <a:ea typeface="Calibri" pitchFamily="34" charset="-122"/>
                <a:cs typeface="Calibri" pitchFamily="34" charset="-120"/>
              </a:rPr>
              <a:t>Owner: Chyna</a:t>
            </a:r>
            <a:endParaRPr lang="en-US" sz="1100" dirty="0"/>
          </a:p>
        </p:txBody>
      </p:sp>
      <p:sp>
        <p:nvSpPr>
          <p:cNvPr id="23" name="Shape 21"/>
          <p:cNvSpPr/>
          <p:nvPr/>
        </p:nvSpPr>
        <p:spPr>
          <a:xfrm>
            <a:off x="6821424" y="1508760"/>
            <a:ext cx="2057400" cy="3383280"/>
          </a:xfrm>
          <a:prstGeom prst="rect">
            <a:avLst/>
          </a:prstGeom>
          <a:solidFill>
            <a:srgbClr val="FFFFFF"/>
          </a:solidFill>
          <a:ln w="25400">
            <a:solidFill>
              <a:srgbClr val="1B6B7B"/>
            </a:solidFill>
            <a:prstDash val="solid"/>
          </a:ln>
        </p:spPr>
      </p:sp>
      <p:sp>
        <p:nvSpPr>
          <p:cNvPr id="24" name="Shape 22"/>
          <p:cNvSpPr/>
          <p:nvPr/>
        </p:nvSpPr>
        <p:spPr>
          <a:xfrm>
            <a:off x="6821424" y="1508760"/>
            <a:ext cx="2057400" cy="749808"/>
          </a:xfrm>
          <a:prstGeom prst="rect">
            <a:avLst/>
          </a:prstGeom>
          <a:solidFill>
            <a:srgbClr val="1B6B7B"/>
          </a:solidFill>
          <a:ln w="12700">
            <a:solidFill>
              <a:srgbClr val="1B6B7B"/>
            </a:solidFill>
            <a:prstDash val="solid"/>
          </a:ln>
        </p:spPr>
      </p:sp>
      <p:sp>
        <p:nvSpPr>
          <p:cNvPr id="25" name="Text 23"/>
          <p:cNvSpPr/>
          <p:nvPr/>
        </p:nvSpPr>
        <p:spPr>
          <a:xfrm>
            <a:off x="6821424" y="1527048"/>
            <a:ext cx="2057400" cy="713232"/>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26" name="Text 24"/>
          <p:cNvSpPr/>
          <p:nvPr/>
        </p:nvSpPr>
        <p:spPr>
          <a:xfrm>
            <a:off x="6931152" y="2331720"/>
            <a:ext cx="1828800" cy="347472"/>
          </a:xfrm>
          <a:prstGeom prst="rect">
            <a:avLst/>
          </a:prstGeom>
          <a:noFill/>
          <a:ln/>
        </p:spPr>
        <p:txBody>
          <a:bodyPr wrap="square" rtlCol="0" anchor="ctr"/>
          <a:lstStyle/>
          <a:p>
            <a:pPr indent="0" marL="0">
              <a:buNone/>
            </a:pPr>
            <a:r>
              <a:rPr lang="en-US" sz="1300" b="1" dirty="0">
                <a:solidFill>
                  <a:srgbClr val="1B6B7B"/>
                </a:solidFill>
                <a:latin typeface="Calibri" pitchFamily="34" charset="0"/>
                <a:ea typeface="Calibri" pitchFamily="34" charset="-122"/>
                <a:cs typeface="Calibri" pitchFamily="34" charset="-120"/>
              </a:rPr>
              <a:t>WEEK 11</a:t>
            </a:r>
            <a:endParaRPr lang="en-US" sz="1300" dirty="0"/>
          </a:p>
        </p:txBody>
      </p:sp>
      <p:sp>
        <p:nvSpPr>
          <p:cNvPr id="27" name="Text 25"/>
          <p:cNvSpPr/>
          <p:nvPr/>
        </p:nvSpPr>
        <p:spPr>
          <a:xfrm>
            <a:off x="6931152" y="2734056"/>
            <a:ext cx="1828800" cy="137160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Baseline forecast model needed</a:t>
            </a:r>
            <a:endParaRPr lang="en-US" sz="1200" dirty="0"/>
          </a:p>
          <a:p>
            <a:pPr indent="0" marL="0">
              <a:buNone/>
            </a:pPr>
            <a:r>
              <a:rPr lang="en-US" sz="1200" dirty="0">
                <a:solidFill>
                  <a:srgbClr val="555555"/>
                </a:solidFill>
                <a:latin typeface="Calibri" pitchFamily="34" charset="0"/>
                <a:ea typeface="Calibri" pitchFamily="34" charset="-122"/>
                <a:cs typeface="Calibri" pitchFamily="34" charset="-120"/>
              </a:rPr>
              <a:t>MAE + RMSE metrics required</a:t>
            </a:r>
            <a:endParaRPr lang="en-US" sz="1200" dirty="0"/>
          </a:p>
        </p:txBody>
      </p:sp>
      <p:sp>
        <p:nvSpPr>
          <p:cNvPr id="28" name="Text 26"/>
          <p:cNvSpPr/>
          <p:nvPr/>
        </p:nvSpPr>
        <p:spPr>
          <a:xfrm>
            <a:off x="6931152" y="4462272"/>
            <a:ext cx="1828800" cy="320040"/>
          </a:xfrm>
          <a:prstGeom prst="rect">
            <a:avLst/>
          </a:prstGeom>
          <a:noFill/>
          <a:ln/>
        </p:spPr>
        <p:txBody>
          <a:bodyPr wrap="square" rtlCol="0" anchor="ctr"/>
          <a:lstStyle/>
          <a:p>
            <a:pPr indent="0" marL="0">
              <a:buNone/>
            </a:pPr>
            <a:r>
              <a:rPr lang="en-US" sz="1100" i="1" dirty="0">
                <a:solidFill>
                  <a:srgbClr val="1B6B7B"/>
                </a:solidFill>
                <a:latin typeface="Calibri" pitchFamily="34" charset="0"/>
                <a:ea typeface="Calibri" pitchFamily="34" charset="-122"/>
                <a:cs typeface="Calibri" pitchFamily="34" charset="-120"/>
              </a:rPr>
              <a:t>Owner: Yanet</a:t>
            </a:r>
            <a:endParaRPr lang="en-US" sz="1100" dirty="0"/>
          </a:p>
        </p:txBody>
      </p:sp>
      <p:sp>
        <p:nvSpPr>
          <p:cNvPr id="29" name="Text 27"/>
          <p:cNvSpPr/>
          <p:nvPr/>
        </p:nvSpPr>
        <p:spPr>
          <a:xfrm>
            <a:off x="8503920" y="4800600"/>
            <a:ext cx="457200" cy="274320"/>
          </a:xfrm>
          <a:prstGeom prst="rect">
            <a:avLst/>
          </a:prstGeom>
          <a:noFill/>
          <a:ln/>
        </p:spPr>
        <p:txBody>
          <a:bodyPr wrap="square" rtlCol="0" anchor="ctr"/>
          <a:lstStyle/>
          <a:p>
            <a:pPr algn="r" indent="0" marL="0">
              <a:buNone/>
            </a:pPr>
            <a:r>
              <a:rPr lang="en-US" sz="1400" b="1" dirty="0">
                <a:solidFill>
                  <a:srgbClr val="E8456A"/>
                </a:solidFill>
                <a:latin typeface="Calibri" pitchFamily="34" charset="0"/>
                <a:ea typeface="Calibri" pitchFamily="34" charset="-122"/>
                <a:cs typeface="Calibri"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BF5F7"/>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320040" y="137160"/>
            <a:ext cx="8503920" cy="621792"/>
          </a:xfrm>
          <a:prstGeom prst="rect">
            <a:avLst/>
          </a:prstGeom>
          <a:noFill/>
          <a:ln/>
        </p:spPr>
        <p:txBody>
          <a:bodyPr wrap="square" rtlCol="0" anchor="ctr"/>
          <a:lstStyle/>
          <a:p>
            <a:pPr indent="0" marL="0">
              <a:buNone/>
            </a:pPr>
            <a:r>
              <a:rPr lang="en-US" sz="3000" dirty="0">
                <a:solidFill>
                  <a:srgbClr val="1B6B7B"/>
                </a:solidFill>
                <a:latin typeface="Calibri" pitchFamily="34" charset="0"/>
                <a:ea typeface="Calibri" pitchFamily="34" charset="-122"/>
                <a:cs typeface="Calibri" pitchFamily="34" charset="-120"/>
              </a:rPr>
              <a:t>Next Week Plan  —  Week 11</a:t>
            </a:r>
            <a:endParaRPr lang="en-US" sz="3000" dirty="0"/>
          </a:p>
        </p:txBody>
      </p:sp>
      <p:sp>
        <p:nvSpPr>
          <p:cNvPr id="5" name="Text 3"/>
          <p:cNvSpPr/>
          <p:nvPr/>
        </p:nvSpPr>
        <p:spPr>
          <a:xfrm>
            <a:off x="320040" y="713232"/>
            <a:ext cx="8503920" cy="292608"/>
          </a:xfrm>
          <a:prstGeom prst="rect">
            <a:avLst/>
          </a:prstGeom>
          <a:noFill/>
          <a:ln/>
        </p:spPr>
        <p:txBody>
          <a:bodyPr wrap="square" rtlCol="0" anchor="ctr"/>
          <a:lstStyle/>
          <a:p>
            <a:pPr indent="0" marL="0">
              <a:buNone/>
            </a:pPr>
            <a:r>
              <a:rPr lang="en-US" sz="1300" dirty="0">
                <a:solidFill>
                  <a:srgbClr val="555555"/>
                </a:solidFill>
                <a:latin typeface="Calibri" pitchFamily="34" charset="0"/>
                <a:ea typeface="Calibri" pitchFamily="34" charset="-122"/>
                <a:cs typeface="Calibri" pitchFamily="34" charset="-120"/>
              </a:rPr>
              <a:t>Feature engineering + baseline forecasting model</a:t>
            </a:r>
            <a:endParaRPr lang="en-US" sz="1300" dirty="0"/>
          </a:p>
        </p:txBody>
      </p:sp>
      <p:sp>
        <p:nvSpPr>
          <p:cNvPr id="6" name="Shape 4"/>
          <p:cNvSpPr/>
          <p:nvPr/>
        </p:nvSpPr>
        <p:spPr>
          <a:xfrm>
            <a:off x="274320" y="1078992"/>
            <a:ext cx="8595360" cy="411480"/>
          </a:xfrm>
          <a:prstGeom prst="rect">
            <a:avLst/>
          </a:prstGeom>
          <a:solidFill>
            <a:srgbClr val="1B6B7B"/>
          </a:solidFill>
          <a:ln w="12700">
            <a:solidFill>
              <a:srgbClr val="1B6B7B"/>
            </a:solidFill>
            <a:prstDash val="solid"/>
          </a:ln>
        </p:spPr>
      </p:sp>
      <p:sp>
        <p:nvSpPr>
          <p:cNvPr id="7" name="Text 5"/>
          <p:cNvSpPr/>
          <p:nvPr/>
        </p:nvSpPr>
        <p:spPr>
          <a:xfrm>
            <a:off x="320040" y="1078992"/>
            <a:ext cx="3657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777240" y="1078992"/>
            <a:ext cx="411480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Task</a:t>
            </a:r>
            <a:endParaRPr lang="en-US" sz="1300" dirty="0"/>
          </a:p>
        </p:txBody>
      </p:sp>
      <p:sp>
        <p:nvSpPr>
          <p:cNvPr id="9" name="Text 7"/>
          <p:cNvSpPr/>
          <p:nvPr/>
        </p:nvSpPr>
        <p:spPr>
          <a:xfrm>
            <a:off x="5029200" y="1078992"/>
            <a:ext cx="109728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Owner</a:t>
            </a:r>
            <a:endParaRPr lang="en-US" sz="1300" dirty="0"/>
          </a:p>
        </p:txBody>
      </p:sp>
      <p:sp>
        <p:nvSpPr>
          <p:cNvPr id="10" name="Text 8"/>
          <p:cNvSpPr/>
          <p:nvPr/>
        </p:nvSpPr>
        <p:spPr>
          <a:xfrm>
            <a:off x="6263640" y="1078992"/>
            <a:ext cx="251460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Expected Artifact</a:t>
            </a:r>
            <a:endParaRPr lang="en-US" sz="1300" dirty="0"/>
          </a:p>
        </p:txBody>
      </p:sp>
      <p:sp>
        <p:nvSpPr>
          <p:cNvPr id="11" name="Shape 9"/>
          <p:cNvSpPr/>
          <p:nvPr/>
        </p:nvSpPr>
        <p:spPr>
          <a:xfrm>
            <a:off x="274320" y="1563624"/>
            <a:ext cx="8595360" cy="566928"/>
          </a:xfrm>
          <a:prstGeom prst="rect">
            <a:avLst/>
          </a:prstGeom>
          <a:solidFill>
            <a:srgbClr val="FFFFFF"/>
          </a:solidFill>
          <a:ln w="6350">
            <a:solidFill>
              <a:srgbClr val="DDDDDD"/>
            </a:solidFill>
            <a:prstDash val="solid"/>
          </a:ln>
        </p:spPr>
      </p:sp>
      <p:sp>
        <p:nvSpPr>
          <p:cNvPr id="12" name="Shape 10"/>
          <p:cNvSpPr/>
          <p:nvPr/>
        </p:nvSpPr>
        <p:spPr>
          <a:xfrm>
            <a:off x="274320" y="1563624"/>
            <a:ext cx="365760" cy="566928"/>
          </a:xfrm>
          <a:prstGeom prst="rect">
            <a:avLst/>
          </a:prstGeom>
          <a:solidFill>
            <a:srgbClr val="E8456A"/>
          </a:solidFill>
          <a:ln w="12700">
            <a:solidFill>
              <a:srgbClr val="E8456A"/>
            </a:solidFill>
            <a:prstDash val="solid"/>
          </a:ln>
        </p:spPr>
      </p:sp>
      <p:sp>
        <p:nvSpPr>
          <p:cNvPr id="13" name="Text 11"/>
          <p:cNvSpPr/>
          <p:nvPr/>
        </p:nvSpPr>
        <p:spPr>
          <a:xfrm>
            <a:off x="274320" y="1700784"/>
            <a:ext cx="36576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2"/>
          <p:cNvSpPr/>
          <p:nvPr/>
        </p:nvSpPr>
        <p:spPr>
          <a:xfrm>
            <a:off x="777240" y="1673352"/>
            <a:ext cx="4114800" cy="347472"/>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Create ml_features_daily view or table</a:t>
            </a:r>
            <a:endParaRPr lang="en-US" sz="1300" dirty="0"/>
          </a:p>
        </p:txBody>
      </p:sp>
      <p:sp>
        <p:nvSpPr>
          <p:cNvPr id="15" name="Text 13"/>
          <p:cNvSpPr/>
          <p:nvPr/>
        </p:nvSpPr>
        <p:spPr>
          <a:xfrm>
            <a:off x="5029200" y="1673352"/>
            <a:ext cx="1097280" cy="347472"/>
          </a:xfrm>
          <a:prstGeom prst="rect">
            <a:avLst/>
          </a:prstGeom>
          <a:noFill/>
          <a:ln/>
        </p:spPr>
        <p:txBody>
          <a:bodyPr wrap="square" lIns="0" tIns="0" rIns="0" bIns="0" rtlCol="0" anchor="ctr"/>
          <a:lstStyle/>
          <a:p>
            <a:pPr indent="0" marL="0">
              <a:buNone/>
            </a:pPr>
            <a:r>
              <a:rPr lang="en-US" sz="1300" b="1" dirty="0">
                <a:solidFill>
                  <a:srgbClr val="E8456A"/>
                </a:solidFill>
                <a:latin typeface="Calibri" pitchFamily="34" charset="0"/>
                <a:ea typeface="Calibri" pitchFamily="34" charset="-122"/>
                <a:cs typeface="Calibri" pitchFamily="34" charset="-120"/>
              </a:rPr>
              <a:t>Chyna</a:t>
            </a:r>
            <a:endParaRPr lang="en-US" sz="1300" dirty="0"/>
          </a:p>
        </p:txBody>
      </p:sp>
      <p:sp>
        <p:nvSpPr>
          <p:cNvPr id="16" name="Text 14"/>
          <p:cNvSpPr/>
          <p:nvPr/>
        </p:nvSpPr>
        <p:spPr>
          <a:xfrm>
            <a:off x="6263640" y="1673352"/>
            <a:ext cx="2514600" cy="347472"/>
          </a:xfrm>
          <a:prstGeom prst="rect">
            <a:avLst/>
          </a:prstGeom>
          <a:noFill/>
          <a:ln/>
        </p:spPr>
        <p:txBody>
          <a:bodyPr wrap="square" lIns="0" tIns="0" rIns="0" bIns="0" rtlCol="0" anchor="ctr"/>
          <a:lstStyle/>
          <a:p>
            <a:pPr indent="0" marL="0">
              <a:buNone/>
            </a:pPr>
            <a:r>
              <a:rPr lang="en-US" sz="1100" i="1" dirty="0">
                <a:solidFill>
                  <a:srgbClr val="555555"/>
                </a:solidFill>
                <a:latin typeface="Calibri" pitchFamily="34" charset="0"/>
                <a:ea typeface="Calibri" pitchFamily="34" charset="-122"/>
                <a:cs typeface="Calibri" pitchFamily="34" charset="-120"/>
              </a:rPr>
              <a:t>Feature table in database</a:t>
            </a:r>
            <a:endParaRPr lang="en-US" sz="1100" dirty="0"/>
          </a:p>
        </p:txBody>
      </p:sp>
      <p:sp>
        <p:nvSpPr>
          <p:cNvPr id="17" name="Shape 15"/>
          <p:cNvSpPr/>
          <p:nvPr/>
        </p:nvSpPr>
        <p:spPr>
          <a:xfrm>
            <a:off x="274320" y="2221992"/>
            <a:ext cx="8595360" cy="566928"/>
          </a:xfrm>
          <a:prstGeom prst="rect">
            <a:avLst/>
          </a:prstGeom>
          <a:solidFill>
            <a:srgbClr val="FAF7F0"/>
          </a:solidFill>
          <a:ln w="6350">
            <a:solidFill>
              <a:srgbClr val="DDDDDD"/>
            </a:solidFill>
            <a:prstDash val="solid"/>
          </a:ln>
        </p:spPr>
      </p:sp>
      <p:sp>
        <p:nvSpPr>
          <p:cNvPr id="18" name="Shape 16"/>
          <p:cNvSpPr/>
          <p:nvPr/>
        </p:nvSpPr>
        <p:spPr>
          <a:xfrm>
            <a:off x="274320" y="2221992"/>
            <a:ext cx="365760" cy="566928"/>
          </a:xfrm>
          <a:prstGeom prst="rect">
            <a:avLst/>
          </a:prstGeom>
          <a:solidFill>
            <a:srgbClr val="E8456A"/>
          </a:solidFill>
          <a:ln w="12700">
            <a:solidFill>
              <a:srgbClr val="E8456A"/>
            </a:solidFill>
            <a:prstDash val="solid"/>
          </a:ln>
        </p:spPr>
      </p:sp>
      <p:sp>
        <p:nvSpPr>
          <p:cNvPr id="19" name="Text 17"/>
          <p:cNvSpPr/>
          <p:nvPr/>
        </p:nvSpPr>
        <p:spPr>
          <a:xfrm>
            <a:off x="274320" y="2359152"/>
            <a:ext cx="36576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Text 18"/>
          <p:cNvSpPr/>
          <p:nvPr/>
        </p:nvSpPr>
        <p:spPr>
          <a:xfrm>
            <a:off x="777240" y="2331720"/>
            <a:ext cx="4114800" cy="347472"/>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Add lag features (1, 7, 14, 28 days)</a:t>
            </a:r>
            <a:endParaRPr lang="en-US" sz="1300" dirty="0"/>
          </a:p>
        </p:txBody>
      </p:sp>
      <p:sp>
        <p:nvSpPr>
          <p:cNvPr id="21" name="Text 19"/>
          <p:cNvSpPr/>
          <p:nvPr/>
        </p:nvSpPr>
        <p:spPr>
          <a:xfrm>
            <a:off x="5029200" y="2331720"/>
            <a:ext cx="1097280" cy="347472"/>
          </a:xfrm>
          <a:prstGeom prst="rect">
            <a:avLst/>
          </a:prstGeom>
          <a:noFill/>
          <a:ln/>
        </p:spPr>
        <p:txBody>
          <a:bodyPr wrap="square" lIns="0" tIns="0" rIns="0" bIns="0" rtlCol="0" anchor="ctr"/>
          <a:lstStyle/>
          <a:p>
            <a:pPr indent="0" marL="0">
              <a:buNone/>
            </a:pPr>
            <a:r>
              <a:rPr lang="en-US" sz="1300" b="1" dirty="0">
                <a:solidFill>
                  <a:srgbClr val="E8456A"/>
                </a:solidFill>
                <a:latin typeface="Calibri" pitchFamily="34" charset="0"/>
                <a:ea typeface="Calibri" pitchFamily="34" charset="-122"/>
                <a:cs typeface="Calibri" pitchFamily="34" charset="-120"/>
              </a:rPr>
              <a:t>Chyna</a:t>
            </a:r>
            <a:endParaRPr lang="en-US" sz="1300" dirty="0"/>
          </a:p>
        </p:txBody>
      </p:sp>
      <p:sp>
        <p:nvSpPr>
          <p:cNvPr id="22" name="Text 20"/>
          <p:cNvSpPr/>
          <p:nvPr/>
        </p:nvSpPr>
        <p:spPr>
          <a:xfrm>
            <a:off x="6263640" y="2331720"/>
            <a:ext cx="2514600" cy="347472"/>
          </a:xfrm>
          <a:prstGeom prst="rect">
            <a:avLst/>
          </a:prstGeom>
          <a:noFill/>
          <a:ln/>
        </p:spPr>
        <p:txBody>
          <a:bodyPr wrap="square" lIns="0" tIns="0" rIns="0" bIns="0" rtlCol="0" anchor="ctr"/>
          <a:lstStyle/>
          <a:p>
            <a:pPr indent="0" marL="0">
              <a:buNone/>
            </a:pPr>
            <a:r>
              <a:rPr lang="en-US" sz="1100" i="1" dirty="0">
                <a:solidFill>
                  <a:srgbClr val="555555"/>
                </a:solidFill>
                <a:latin typeface="Calibri" pitchFamily="34" charset="0"/>
                <a:ea typeface="Calibri" pitchFamily="34" charset="-122"/>
                <a:cs typeface="Calibri" pitchFamily="34" charset="-120"/>
              </a:rPr>
              <a:t>No data leakage verified</a:t>
            </a:r>
            <a:endParaRPr lang="en-US" sz="1100" dirty="0"/>
          </a:p>
        </p:txBody>
      </p:sp>
      <p:sp>
        <p:nvSpPr>
          <p:cNvPr id="23" name="Shape 21"/>
          <p:cNvSpPr/>
          <p:nvPr/>
        </p:nvSpPr>
        <p:spPr>
          <a:xfrm>
            <a:off x="274320" y="2880360"/>
            <a:ext cx="8595360" cy="566928"/>
          </a:xfrm>
          <a:prstGeom prst="rect">
            <a:avLst/>
          </a:prstGeom>
          <a:solidFill>
            <a:srgbClr val="FFFFFF"/>
          </a:solidFill>
          <a:ln w="6350">
            <a:solidFill>
              <a:srgbClr val="DDDDDD"/>
            </a:solidFill>
            <a:prstDash val="solid"/>
          </a:ln>
        </p:spPr>
      </p:sp>
      <p:sp>
        <p:nvSpPr>
          <p:cNvPr id="24" name="Shape 22"/>
          <p:cNvSpPr/>
          <p:nvPr/>
        </p:nvSpPr>
        <p:spPr>
          <a:xfrm>
            <a:off x="274320" y="2880360"/>
            <a:ext cx="365760" cy="566928"/>
          </a:xfrm>
          <a:prstGeom prst="rect">
            <a:avLst/>
          </a:prstGeom>
          <a:solidFill>
            <a:srgbClr val="E8456A"/>
          </a:solidFill>
          <a:ln w="12700">
            <a:solidFill>
              <a:srgbClr val="E8456A"/>
            </a:solidFill>
            <a:prstDash val="solid"/>
          </a:ln>
        </p:spPr>
      </p:sp>
      <p:sp>
        <p:nvSpPr>
          <p:cNvPr id="25" name="Text 23"/>
          <p:cNvSpPr/>
          <p:nvPr/>
        </p:nvSpPr>
        <p:spPr>
          <a:xfrm>
            <a:off x="274320" y="3017520"/>
            <a:ext cx="36576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4"/>
          <p:cNvSpPr/>
          <p:nvPr/>
        </p:nvSpPr>
        <p:spPr>
          <a:xfrm>
            <a:off x="777240" y="2990088"/>
            <a:ext cx="4114800" cy="347472"/>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Add rolling window features (7, 28 days)</a:t>
            </a:r>
            <a:endParaRPr lang="en-US" sz="1300" dirty="0"/>
          </a:p>
        </p:txBody>
      </p:sp>
      <p:sp>
        <p:nvSpPr>
          <p:cNvPr id="27" name="Text 25"/>
          <p:cNvSpPr/>
          <p:nvPr/>
        </p:nvSpPr>
        <p:spPr>
          <a:xfrm>
            <a:off x="5029200" y="2990088"/>
            <a:ext cx="1097280" cy="347472"/>
          </a:xfrm>
          <a:prstGeom prst="rect">
            <a:avLst/>
          </a:prstGeom>
          <a:noFill/>
          <a:ln/>
        </p:spPr>
        <p:txBody>
          <a:bodyPr wrap="square" lIns="0" tIns="0" rIns="0" bIns="0" rtlCol="0" anchor="ctr"/>
          <a:lstStyle/>
          <a:p>
            <a:pPr indent="0" marL="0">
              <a:buNone/>
            </a:pPr>
            <a:r>
              <a:rPr lang="en-US" sz="1300" b="1" dirty="0">
                <a:solidFill>
                  <a:srgbClr val="E8456A"/>
                </a:solidFill>
                <a:latin typeface="Calibri" pitchFamily="34" charset="0"/>
                <a:ea typeface="Calibri" pitchFamily="34" charset="-122"/>
                <a:cs typeface="Calibri" pitchFamily="34" charset="-120"/>
              </a:rPr>
              <a:t>Chyna</a:t>
            </a:r>
            <a:endParaRPr lang="en-US" sz="1300" dirty="0"/>
          </a:p>
        </p:txBody>
      </p:sp>
      <p:sp>
        <p:nvSpPr>
          <p:cNvPr id="28" name="Text 26"/>
          <p:cNvSpPr/>
          <p:nvPr/>
        </p:nvSpPr>
        <p:spPr>
          <a:xfrm>
            <a:off x="6263640" y="2990088"/>
            <a:ext cx="2514600" cy="347472"/>
          </a:xfrm>
          <a:prstGeom prst="rect">
            <a:avLst/>
          </a:prstGeom>
          <a:noFill/>
          <a:ln/>
        </p:spPr>
        <p:txBody>
          <a:bodyPr wrap="square" lIns="0" tIns="0" rIns="0" bIns="0" rtlCol="0" anchor="ctr"/>
          <a:lstStyle/>
          <a:p>
            <a:pPr indent="0" marL="0">
              <a:buNone/>
            </a:pPr>
            <a:r>
              <a:rPr lang="en-US" sz="1100" i="1" dirty="0">
                <a:solidFill>
                  <a:srgbClr val="555555"/>
                </a:solidFill>
                <a:latin typeface="Calibri" pitchFamily="34" charset="0"/>
                <a:ea typeface="Calibri" pitchFamily="34" charset="-122"/>
                <a:cs typeface="Calibri" pitchFamily="34" charset="-120"/>
              </a:rPr>
              <a:t>Rolling average columns</a:t>
            </a:r>
            <a:endParaRPr lang="en-US" sz="1100" dirty="0"/>
          </a:p>
        </p:txBody>
      </p:sp>
      <p:sp>
        <p:nvSpPr>
          <p:cNvPr id="29" name="Shape 27"/>
          <p:cNvSpPr/>
          <p:nvPr/>
        </p:nvSpPr>
        <p:spPr>
          <a:xfrm>
            <a:off x="274320" y="3538728"/>
            <a:ext cx="8595360" cy="566928"/>
          </a:xfrm>
          <a:prstGeom prst="rect">
            <a:avLst/>
          </a:prstGeom>
          <a:solidFill>
            <a:srgbClr val="FAF7F0"/>
          </a:solidFill>
          <a:ln w="6350">
            <a:solidFill>
              <a:srgbClr val="DDDDDD"/>
            </a:solidFill>
            <a:prstDash val="solid"/>
          </a:ln>
        </p:spPr>
      </p:sp>
      <p:sp>
        <p:nvSpPr>
          <p:cNvPr id="30" name="Shape 28"/>
          <p:cNvSpPr/>
          <p:nvPr/>
        </p:nvSpPr>
        <p:spPr>
          <a:xfrm>
            <a:off x="274320" y="3538728"/>
            <a:ext cx="365760" cy="566928"/>
          </a:xfrm>
          <a:prstGeom prst="rect">
            <a:avLst/>
          </a:prstGeom>
          <a:solidFill>
            <a:srgbClr val="1B6B7B"/>
          </a:solidFill>
          <a:ln w="12700">
            <a:solidFill>
              <a:srgbClr val="1B6B7B"/>
            </a:solidFill>
            <a:prstDash val="solid"/>
          </a:ln>
        </p:spPr>
      </p:sp>
      <p:sp>
        <p:nvSpPr>
          <p:cNvPr id="31" name="Text 29"/>
          <p:cNvSpPr/>
          <p:nvPr/>
        </p:nvSpPr>
        <p:spPr>
          <a:xfrm>
            <a:off x="274320" y="3675888"/>
            <a:ext cx="36576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2" name="Text 30"/>
          <p:cNvSpPr/>
          <p:nvPr/>
        </p:nvSpPr>
        <p:spPr>
          <a:xfrm>
            <a:off x="777240" y="3648456"/>
            <a:ext cx="4114800" cy="347472"/>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Implement baseline forecast model</a:t>
            </a:r>
            <a:endParaRPr lang="en-US" sz="1300" dirty="0"/>
          </a:p>
        </p:txBody>
      </p:sp>
      <p:sp>
        <p:nvSpPr>
          <p:cNvPr id="33" name="Text 31"/>
          <p:cNvSpPr/>
          <p:nvPr/>
        </p:nvSpPr>
        <p:spPr>
          <a:xfrm>
            <a:off x="5029200" y="3648456"/>
            <a:ext cx="1097280" cy="347472"/>
          </a:xfrm>
          <a:prstGeom prst="rect">
            <a:avLst/>
          </a:prstGeom>
          <a:noFill/>
          <a:ln/>
        </p:spPr>
        <p:txBody>
          <a:bodyPr wrap="square" lIns="0" tIns="0" rIns="0" bIns="0" rtlCol="0" anchor="ctr"/>
          <a:lstStyle/>
          <a:p>
            <a:pPr indent="0" marL="0">
              <a:buNone/>
            </a:pPr>
            <a:r>
              <a:rPr lang="en-US" sz="1300" b="1" dirty="0">
                <a:solidFill>
                  <a:srgbClr val="1B6B7B"/>
                </a:solidFill>
                <a:latin typeface="Calibri" pitchFamily="34" charset="0"/>
                <a:ea typeface="Calibri" pitchFamily="34" charset="-122"/>
                <a:cs typeface="Calibri" pitchFamily="34" charset="-120"/>
              </a:rPr>
              <a:t>Yanet</a:t>
            </a:r>
            <a:endParaRPr lang="en-US" sz="1300" dirty="0"/>
          </a:p>
        </p:txBody>
      </p:sp>
      <p:sp>
        <p:nvSpPr>
          <p:cNvPr id="34" name="Text 32"/>
          <p:cNvSpPr/>
          <p:nvPr/>
        </p:nvSpPr>
        <p:spPr>
          <a:xfrm>
            <a:off x="6263640" y="3648456"/>
            <a:ext cx="2514600" cy="347472"/>
          </a:xfrm>
          <a:prstGeom prst="rect">
            <a:avLst/>
          </a:prstGeom>
          <a:noFill/>
          <a:ln/>
        </p:spPr>
        <p:txBody>
          <a:bodyPr wrap="square" lIns="0" tIns="0" rIns="0" bIns="0" rtlCol="0" anchor="ctr"/>
          <a:lstStyle/>
          <a:p>
            <a:pPr indent="0" marL="0">
              <a:buNone/>
            </a:pPr>
            <a:r>
              <a:rPr lang="en-US" sz="1100" i="1" dirty="0">
                <a:solidFill>
                  <a:srgbClr val="555555"/>
                </a:solidFill>
                <a:latin typeface="Calibri" pitchFamily="34" charset="0"/>
                <a:ea typeface="Calibri" pitchFamily="34" charset="-122"/>
                <a:cs typeface="Calibri" pitchFamily="34" charset="-120"/>
              </a:rPr>
              <a:t>MAE and RMSE metrics computed</a:t>
            </a:r>
            <a:endParaRPr lang="en-US" sz="1100" dirty="0"/>
          </a:p>
        </p:txBody>
      </p:sp>
      <p:sp>
        <p:nvSpPr>
          <p:cNvPr id="35" name="Shape 33"/>
          <p:cNvSpPr/>
          <p:nvPr/>
        </p:nvSpPr>
        <p:spPr>
          <a:xfrm>
            <a:off x="274320" y="4197096"/>
            <a:ext cx="8595360" cy="566928"/>
          </a:xfrm>
          <a:prstGeom prst="rect">
            <a:avLst/>
          </a:prstGeom>
          <a:solidFill>
            <a:srgbClr val="FFFFFF"/>
          </a:solidFill>
          <a:ln w="6350">
            <a:solidFill>
              <a:srgbClr val="DDDDDD"/>
            </a:solidFill>
            <a:prstDash val="solid"/>
          </a:ln>
        </p:spPr>
      </p:sp>
      <p:sp>
        <p:nvSpPr>
          <p:cNvPr id="36" name="Shape 34"/>
          <p:cNvSpPr/>
          <p:nvPr/>
        </p:nvSpPr>
        <p:spPr>
          <a:xfrm>
            <a:off x="274320" y="4197096"/>
            <a:ext cx="365760" cy="566928"/>
          </a:xfrm>
          <a:prstGeom prst="rect">
            <a:avLst/>
          </a:prstGeom>
          <a:solidFill>
            <a:srgbClr val="1B6B7B"/>
          </a:solidFill>
          <a:ln w="12700">
            <a:solidFill>
              <a:srgbClr val="1B6B7B"/>
            </a:solidFill>
            <a:prstDash val="solid"/>
          </a:ln>
        </p:spPr>
      </p:sp>
      <p:sp>
        <p:nvSpPr>
          <p:cNvPr id="37" name="Text 35"/>
          <p:cNvSpPr/>
          <p:nvPr/>
        </p:nvSpPr>
        <p:spPr>
          <a:xfrm>
            <a:off x="274320" y="4334256"/>
            <a:ext cx="36576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8" name="Text 36"/>
          <p:cNvSpPr/>
          <p:nvPr/>
        </p:nvSpPr>
        <p:spPr>
          <a:xfrm>
            <a:off x="777240" y="4306824"/>
            <a:ext cx="4114800" cy="347472"/>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Store predictions in predictions_daily</a:t>
            </a:r>
            <a:endParaRPr lang="en-US" sz="1300" dirty="0"/>
          </a:p>
        </p:txBody>
      </p:sp>
      <p:sp>
        <p:nvSpPr>
          <p:cNvPr id="39" name="Text 37"/>
          <p:cNvSpPr/>
          <p:nvPr/>
        </p:nvSpPr>
        <p:spPr>
          <a:xfrm>
            <a:off x="5029200" y="4306824"/>
            <a:ext cx="1097280" cy="347472"/>
          </a:xfrm>
          <a:prstGeom prst="rect">
            <a:avLst/>
          </a:prstGeom>
          <a:noFill/>
          <a:ln/>
        </p:spPr>
        <p:txBody>
          <a:bodyPr wrap="square" lIns="0" tIns="0" rIns="0" bIns="0" rtlCol="0" anchor="ctr"/>
          <a:lstStyle/>
          <a:p>
            <a:pPr indent="0" marL="0">
              <a:buNone/>
            </a:pPr>
            <a:r>
              <a:rPr lang="en-US" sz="1300" b="1" dirty="0">
                <a:solidFill>
                  <a:srgbClr val="1B6B7B"/>
                </a:solidFill>
                <a:latin typeface="Calibri" pitchFamily="34" charset="0"/>
                <a:ea typeface="Calibri" pitchFamily="34" charset="-122"/>
                <a:cs typeface="Calibri" pitchFamily="34" charset="-120"/>
              </a:rPr>
              <a:t>Yanet</a:t>
            </a:r>
            <a:endParaRPr lang="en-US" sz="1300" dirty="0"/>
          </a:p>
        </p:txBody>
      </p:sp>
      <p:sp>
        <p:nvSpPr>
          <p:cNvPr id="40" name="Text 38"/>
          <p:cNvSpPr/>
          <p:nvPr/>
        </p:nvSpPr>
        <p:spPr>
          <a:xfrm>
            <a:off x="6263640" y="4306824"/>
            <a:ext cx="2514600" cy="347472"/>
          </a:xfrm>
          <a:prstGeom prst="rect">
            <a:avLst/>
          </a:prstGeom>
          <a:noFill/>
          <a:ln/>
        </p:spPr>
        <p:txBody>
          <a:bodyPr wrap="square" lIns="0" tIns="0" rIns="0" bIns="0" rtlCol="0" anchor="ctr"/>
          <a:lstStyle/>
          <a:p>
            <a:pPr indent="0" marL="0">
              <a:buNone/>
            </a:pPr>
            <a:r>
              <a:rPr lang="en-US" sz="1100" i="1" dirty="0">
                <a:solidFill>
                  <a:srgbClr val="555555"/>
                </a:solidFill>
                <a:latin typeface="Calibri" pitchFamily="34" charset="0"/>
                <a:ea typeface="Calibri" pitchFamily="34" charset="-122"/>
                <a:cs typeface="Calibri" pitchFamily="34" charset="-120"/>
              </a:rPr>
              <a:t>predictions_daily populated</a:t>
            </a:r>
            <a:endParaRPr lang="en-US" sz="1100" dirty="0"/>
          </a:p>
        </p:txBody>
      </p:sp>
      <p:sp>
        <p:nvSpPr>
          <p:cNvPr id="41" name="Text 39"/>
          <p:cNvSpPr/>
          <p:nvPr/>
        </p:nvSpPr>
        <p:spPr>
          <a:xfrm>
            <a:off x="8503920" y="4800600"/>
            <a:ext cx="457200" cy="274320"/>
          </a:xfrm>
          <a:prstGeom prst="rect">
            <a:avLst/>
          </a:prstGeom>
          <a:noFill/>
          <a:ln/>
        </p:spPr>
        <p:txBody>
          <a:bodyPr wrap="square" rtlCol="0" anchor="ctr"/>
          <a:lstStyle/>
          <a:p>
            <a:pPr algn="r" indent="0" marL="0">
              <a:buNone/>
            </a:pPr>
            <a:r>
              <a:rPr lang="en-US" sz="1400" b="1" dirty="0">
                <a:solidFill>
                  <a:srgbClr val="E8456A"/>
                </a:solidFill>
                <a:latin typeface="Calibri" pitchFamily="34" charset="0"/>
                <a:ea typeface="Calibri" pitchFamily="34" charset="-122"/>
                <a:cs typeface="Calibri"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p:bgPr>
    </p:bg>
    <p:spTree>
      <p:nvGrpSpPr>
        <p:cNvPr id="1" name=""/>
        <p:cNvGrpSpPr/>
        <p:nvPr/>
      </p:nvGrpSpPr>
      <p:grpSpPr>
        <a:xfrm>
          <a:off x="0" y="0"/>
          <a:ext cx="0" cy="0"/>
          <a:chOff x="0" y="0"/>
          <a:chExt cx="0" cy="0"/>
        </a:xfrm>
      </p:grpSpPr>
      <p:sp>
        <p:nvSpPr>
          <p:cNvPr id="2" name="Shape 0"/>
          <p:cNvSpPr/>
          <p:nvPr/>
        </p:nvSpPr>
        <p:spPr>
          <a:xfrm rot="900000">
            <a:off x="1828800" y="274320"/>
            <a:ext cx="5486400" cy="4663440"/>
          </a:xfrm>
          <a:prstGeom prst="rect">
            <a:avLst/>
          </a:prstGeom>
          <a:solidFill>
            <a:srgbClr val="E8456A"/>
          </a:solidFill>
          <a:ln w="38100">
            <a:solidFill>
              <a:srgbClr val="C73058"/>
            </a:solidFill>
            <a:prstDash val="solid"/>
          </a:ln>
        </p:spPr>
      </p:sp>
      <p:sp>
        <p:nvSpPr>
          <p:cNvPr id="3" name="Shape 1"/>
          <p:cNvSpPr/>
          <p:nvPr/>
        </p:nvSpPr>
        <p:spPr>
          <a:xfrm rot="900000">
            <a:off x="2057400" y="502920"/>
            <a:ext cx="5029200" cy="4206240"/>
          </a:xfrm>
          <a:prstGeom prst="rect">
            <a:avLst/>
          </a:prstGeom>
          <a:ln w="19050">
            <a:solidFill>
              <a:srgbClr val="C73058"/>
            </a:solidFill>
            <a:prstDash val="solid"/>
          </a:ln>
        </p:spPr>
      </p:sp>
      <p:sp>
        <p:nvSpPr>
          <p:cNvPr id="4" name="Text 2"/>
          <p:cNvSpPr/>
          <p:nvPr/>
        </p:nvSpPr>
        <p:spPr>
          <a:xfrm>
            <a:off x="1828800" y="1371600"/>
            <a:ext cx="5486400" cy="2560320"/>
          </a:xfrm>
          <a:prstGeom prst="rect">
            <a:avLst/>
          </a:prstGeom>
          <a:noFill/>
          <a:ln/>
        </p:spPr>
        <p:txBody>
          <a:bodyPr wrap="square" rtlCol="0" anchor="ctr"/>
          <a:lstStyle/>
          <a:p>
            <a:pPr algn="ctr" indent="0" marL="0">
              <a:buNone/>
            </a:pPr>
            <a:r>
              <a:rPr lang="en-US" sz="7200" dirty="0">
                <a:solidFill>
                  <a:srgbClr val="FFFFFF"/>
                </a:solidFill>
                <a:latin typeface="Calibri" pitchFamily="34" charset="0"/>
                <a:ea typeface="Calibri" pitchFamily="34" charset="-122"/>
                <a:cs typeface="Calibri" pitchFamily="34" charset="-120"/>
              </a:rPr>
              <a:t>Thank</a:t>
            </a:r>
            <a:endParaRPr lang="en-US" sz="7200" dirty="0"/>
          </a:p>
          <a:p>
            <a:pPr algn="ctr" indent="0" marL="0">
              <a:buNone/>
            </a:pPr>
            <a:r>
              <a:rPr lang="en-US" sz="7200" dirty="0">
                <a:solidFill>
                  <a:srgbClr val="FFFFFF"/>
                </a:solidFill>
                <a:latin typeface="Calibri" pitchFamily="34" charset="0"/>
                <a:ea typeface="Calibri" pitchFamily="34" charset="-122"/>
                <a:cs typeface="Calibri" pitchFamily="34" charset="-120"/>
              </a:rPr>
              <a:t>You!</a:t>
            </a:r>
            <a:endParaRPr lang="en-US" sz="7200" dirty="0"/>
          </a:p>
        </p:txBody>
      </p:sp>
      <p:sp>
        <p:nvSpPr>
          <p:cNvPr id="5" name="Text 3"/>
          <p:cNvSpPr/>
          <p:nvPr/>
        </p:nvSpPr>
        <p:spPr>
          <a:xfrm>
            <a:off x="1828800" y="4023360"/>
            <a:ext cx="5486400" cy="45720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Chyna Adams  •  Yanet Assefa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2026-04-02T04:49:06Z</dcterms:created>
  <dcterms:modified xsi:type="dcterms:W3CDTF">2026-04-02T04:49:06Z</dcterms:modified>
</cp:coreProperties>
</file>