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735"/>
    <p:restoredTop sz="94610"/>
  </p:normalViewPr>
  <p:slideViewPr>
    <p:cSldViewPr snapToGrid="0" snapToObjects="1">
      <p:cViewPr varScale="1">
        <p:scale>
          <a:sx n="154" d="100"/>
          <a:sy n="154" d="100"/>
        </p:scale>
        <p:origin x="216" y="1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0770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 are Chyna Adams and Yanet Assefa presenting our progress on the M5 Walmart Demand Forecasting data warehouse project for Weeks 7, 8, and 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Chyna handled all database and warehouse implementation. Yanet handled data acquisition, profiling, quality checks, and documentation.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our sprint goals for Weeks 7 through 9. We accomplished all six of them successfully.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Pink rows are Chyna warehouse work. Teal rows are Yanet data preparation work.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complete star schema. Gold boxes are fact tables. Teal boxes are dimension tables. Every fact row connects to all dimensions through foreign keys.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Yanet ran profiling scripts on all three raw CSV files confirming exact row and column counts. The sales file has 1,919 columns — one per day — which is why transformation was required.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quality checks passed with zero issues. Duplicate check, negative values check, data type verification, and join key confirmation all came back clean.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calendar.csv data Yanet opened and verified. You can see the d column which links to daily sales data, the wm_yr_wk column which links to price data, and the event columns showing holidays like SuperBowl, Valentines Day, and Presidents Day. These events will be important features in our forecasting model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actual data dictionary file Yanet committed to our GitHub repository. On the right is a summary of the six key columns. These definitions are now part of our docs folder in the repo and serve as the reference for the whole team.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Yanet identified the wide format problem and documented the plan. Chyna implemented it with Python pandas melt, producing 58 million rows.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blockers fully resolved. Only open item is loading fact_price_weekly which is planned for Week 10.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10 plan with clear owners and deliverables. Pink rows are Chyna tasks completing the warehouse. Teal rows are Yanet tasks writing analytics queries.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answer any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rot="10800000">
            <a:off x="-91440" y="1645920"/>
            <a:ext cx="3657600" cy="3566160"/>
          </a:xfrm>
          <a:prstGeom prst="rtTriangle">
            <a:avLst/>
          </a:prstGeom>
          <a:solidFill>
            <a:srgbClr val="1B6B7B"/>
          </a:solidFill>
          <a:ln w="12700">
            <a:solidFill>
              <a:srgbClr val="1B6B7B"/>
            </a:solidFill>
            <a:prstDash val="solid"/>
          </a:ln>
        </p:spPr>
        <p:txBody>
          <a:bodyPr/>
          <a:lstStyle/>
          <a:p>
            <a:endParaRPr lang="en-US"/>
          </a:p>
        </p:txBody>
      </p:sp>
      <p:sp>
        <p:nvSpPr>
          <p:cNvPr id="3" name="Shape 1"/>
          <p:cNvSpPr/>
          <p:nvPr/>
        </p:nvSpPr>
        <p:spPr>
          <a:xfrm>
            <a:off x="2560320" y="201168"/>
            <a:ext cx="6309360" cy="4754880"/>
          </a:xfrm>
          <a:prstGeom prst="rect">
            <a:avLst/>
          </a:prstGeom>
          <a:ln w="38100">
            <a:solidFill>
              <a:srgbClr val="A07B1E"/>
            </a:solidFill>
            <a:prstDash val="solid"/>
          </a:ln>
        </p:spPr>
        <p:txBody>
          <a:bodyPr/>
          <a:lstStyle/>
          <a:p>
            <a:endParaRPr lang="en-US"/>
          </a:p>
        </p:txBody>
      </p:sp>
      <p:sp>
        <p:nvSpPr>
          <p:cNvPr id="4" name="Shape 2"/>
          <p:cNvSpPr/>
          <p:nvPr/>
        </p:nvSpPr>
        <p:spPr>
          <a:xfrm>
            <a:off x="2697480" y="338328"/>
            <a:ext cx="6035040" cy="4480560"/>
          </a:xfrm>
          <a:prstGeom prst="rect">
            <a:avLst/>
          </a:prstGeom>
          <a:ln w="12700">
            <a:solidFill>
              <a:srgbClr val="A07B1E"/>
            </a:solidFill>
            <a:prstDash val="solid"/>
          </a:ln>
        </p:spPr>
        <p:txBody>
          <a:bodyPr/>
          <a:lstStyle/>
          <a:p>
            <a:endParaRPr lang="en-US"/>
          </a:p>
        </p:txBody>
      </p:sp>
      <p:sp>
        <p:nvSpPr>
          <p:cNvPr id="5" name="Shape 3"/>
          <p:cNvSpPr/>
          <p:nvPr/>
        </p:nvSpPr>
        <p:spPr>
          <a:xfrm>
            <a:off x="2834640" y="457200"/>
            <a:ext cx="5760720" cy="4251960"/>
          </a:xfrm>
          <a:prstGeom prst="rect">
            <a:avLst/>
          </a:prstGeom>
          <a:solidFill>
            <a:srgbClr val="E8456A"/>
          </a:solidFill>
          <a:ln w="12700">
            <a:solidFill>
              <a:srgbClr val="E8456A"/>
            </a:solidFill>
            <a:prstDash val="solid"/>
          </a:ln>
        </p:spPr>
        <p:txBody>
          <a:bodyPr/>
          <a:lstStyle/>
          <a:p>
            <a:endParaRPr lang="en-US"/>
          </a:p>
        </p:txBody>
      </p:sp>
      <p:sp>
        <p:nvSpPr>
          <p:cNvPr id="6" name="Text 4"/>
          <p:cNvSpPr/>
          <p:nvPr/>
        </p:nvSpPr>
        <p:spPr>
          <a:xfrm>
            <a:off x="2834640" y="502920"/>
            <a:ext cx="5760720" cy="2194560"/>
          </a:xfrm>
          <a:prstGeom prst="rect">
            <a:avLst/>
          </a:prstGeom>
          <a:noFill/>
          <a:ln/>
        </p:spPr>
        <p:txBody>
          <a:bodyPr wrap="square" rtlCol="0" anchor="ctr"/>
          <a:lstStyle/>
          <a:p>
            <a:pPr marL="0" indent="0" algn="ctr">
              <a:buNone/>
            </a:pPr>
            <a:r>
              <a:rPr lang="en-US" sz="5600" b="1" dirty="0">
                <a:latin typeface="Times New Roman" panose="02020603050405020304" pitchFamily="18" charset="0"/>
                <a:ea typeface="Calibri" pitchFamily="34" charset="-122"/>
                <a:cs typeface="Times New Roman" panose="02020603050405020304" pitchFamily="18" charset="0"/>
              </a:rPr>
              <a:t>M5 Demand</a:t>
            </a:r>
            <a:endParaRPr lang="en-US" sz="5600" b="1" dirty="0">
              <a:latin typeface="Times New Roman" panose="02020603050405020304" pitchFamily="18" charset="0"/>
              <a:cs typeface="Times New Roman" panose="02020603050405020304" pitchFamily="18" charset="0"/>
            </a:endParaRPr>
          </a:p>
          <a:p>
            <a:pPr marL="0" indent="0" algn="ctr">
              <a:buNone/>
            </a:pPr>
            <a:r>
              <a:rPr lang="en-US" sz="5600" b="1" dirty="0">
                <a:latin typeface="Times New Roman" panose="02020603050405020304" pitchFamily="18" charset="0"/>
                <a:ea typeface="Calibri" pitchFamily="34" charset="-122"/>
                <a:cs typeface="Times New Roman" panose="02020603050405020304" pitchFamily="18" charset="0"/>
              </a:rPr>
              <a:t>Forecasting</a:t>
            </a:r>
            <a:endParaRPr lang="en-US" sz="5600" b="1" dirty="0">
              <a:latin typeface="Times New Roman" panose="02020603050405020304" pitchFamily="18" charset="0"/>
              <a:cs typeface="Times New Roman" panose="02020603050405020304" pitchFamily="18" charset="0"/>
            </a:endParaRPr>
          </a:p>
        </p:txBody>
      </p:sp>
      <p:sp>
        <p:nvSpPr>
          <p:cNvPr id="7" name="Text 5"/>
          <p:cNvSpPr/>
          <p:nvPr/>
        </p:nvSpPr>
        <p:spPr>
          <a:xfrm>
            <a:off x="2834640" y="2743200"/>
            <a:ext cx="5760720" cy="1828800"/>
          </a:xfrm>
          <a:prstGeom prst="rect">
            <a:avLst/>
          </a:prstGeom>
          <a:noFill/>
          <a:ln/>
        </p:spPr>
        <p:txBody>
          <a:bodyPr wrap="square" rtlCol="0" anchor="ctr"/>
          <a:lstStyle/>
          <a:p>
            <a:pPr marL="0" indent="0" algn="ctr">
              <a:buNone/>
            </a:pPr>
            <a:r>
              <a:rPr lang="en-US" sz="4800" b="1" dirty="0">
                <a:solidFill>
                  <a:srgbClr val="FFFFFF"/>
                </a:solidFill>
                <a:latin typeface="Times New Roman" panose="02020603050405020304" pitchFamily="18" charset="0"/>
                <a:ea typeface="Calibri" pitchFamily="34" charset="-122"/>
                <a:cs typeface="Times New Roman" panose="02020603050405020304" pitchFamily="18" charset="0"/>
              </a:rPr>
              <a:t>Weeks 7- 9</a:t>
            </a:r>
            <a:endParaRPr lang="en-US" sz="4800" b="1" dirty="0">
              <a:latin typeface="Times New Roman" panose="02020603050405020304" pitchFamily="18" charset="0"/>
              <a:cs typeface="Times New Roman" panose="02020603050405020304" pitchFamily="18" charset="0"/>
            </a:endParaRPr>
          </a:p>
          <a:p>
            <a:pPr marL="0" indent="0" algn="ctr">
              <a:buNone/>
            </a:pPr>
            <a:r>
              <a:rPr lang="en-US" sz="4800" b="1" dirty="0">
                <a:solidFill>
                  <a:srgbClr val="FFFFFF"/>
                </a:solidFill>
                <a:latin typeface="Times New Roman" panose="02020603050405020304" pitchFamily="18" charset="0"/>
                <a:ea typeface="Calibri" pitchFamily="34" charset="-122"/>
                <a:cs typeface="Times New Roman" panose="02020603050405020304" pitchFamily="18" charset="0"/>
              </a:rPr>
              <a:t>Chyna Adams  •  Yanet Assefa</a:t>
            </a:r>
            <a:endParaRPr lang="en-US" sz="4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47472" y="-292762"/>
            <a:ext cx="4114800" cy="2011680"/>
          </a:xfrm>
          <a:prstGeom prst="rect">
            <a:avLst/>
          </a:prstGeom>
          <a:noFill/>
          <a:ln/>
        </p:spPr>
        <p:txBody>
          <a:bodyPr wrap="square" rtlCol="0" anchor="ctr"/>
          <a:lstStyle/>
          <a:p>
            <a:pPr marL="0" indent="0">
              <a:buNone/>
            </a:pPr>
            <a:r>
              <a:rPr lang="en-US" sz="11500" dirty="0">
                <a:solidFill>
                  <a:srgbClr val="E8456A"/>
                </a:solidFill>
                <a:latin typeface="Calibri" pitchFamily="34" charset="0"/>
                <a:ea typeface="Calibri" pitchFamily="34" charset="-122"/>
                <a:cs typeface="Calibri" pitchFamily="34" charset="-120"/>
              </a:rPr>
              <a:t>Roles</a:t>
            </a:r>
            <a:endParaRPr lang="en-US" sz="11500" dirty="0"/>
          </a:p>
        </p:txBody>
      </p:sp>
      <p:sp>
        <p:nvSpPr>
          <p:cNvPr id="5" name="Text 3"/>
          <p:cNvSpPr/>
          <p:nvPr/>
        </p:nvSpPr>
        <p:spPr>
          <a:xfrm>
            <a:off x="159982" y="1885950"/>
            <a:ext cx="4114800" cy="1371600"/>
          </a:xfrm>
          <a:prstGeom prst="rect">
            <a:avLst/>
          </a:prstGeom>
          <a:noFill/>
          <a:ln/>
        </p:spPr>
        <p:txBody>
          <a:bodyPr wrap="square" rtlCol="0" anchor="ctr"/>
          <a:lstStyle/>
          <a:p>
            <a:pPr marL="0" indent="0">
              <a:buNone/>
            </a:pPr>
            <a:r>
              <a:rPr lang="en-US" sz="6000" b="1" dirty="0">
                <a:solidFill>
                  <a:srgbClr val="1A1A2E"/>
                </a:solidFill>
                <a:latin typeface="Calibri" pitchFamily="34" charset="0"/>
                <a:ea typeface="Calibri" pitchFamily="34" charset="-122"/>
                <a:cs typeface="Calibri" pitchFamily="34" charset="-120"/>
              </a:rPr>
              <a:t>Warehouse</a:t>
            </a:r>
            <a:endParaRPr lang="en-US" sz="6000" b="1" dirty="0"/>
          </a:p>
          <a:p>
            <a:pPr marL="0" indent="0">
              <a:buNone/>
            </a:pPr>
            <a:r>
              <a:rPr lang="en-US" sz="6000" b="1" dirty="0">
                <a:solidFill>
                  <a:srgbClr val="1A1A2E"/>
                </a:solidFill>
                <a:latin typeface="Calibri" pitchFamily="34" charset="0"/>
                <a:ea typeface="Calibri" pitchFamily="34" charset="-122"/>
                <a:cs typeface="Calibri" pitchFamily="34" charset="-120"/>
              </a:rPr>
              <a:t>Design Lead</a:t>
            </a:r>
            <a:endParaRPr lang="en-US" sz="6000" b="1" dirty="0"/>
          </a:p>
        </p:txBody>
      </p:sp>
      <p:sp>
        <p:nvSpPr>
          <p:cNvPr id="6" name="Text 4"/>
          <p:cNvSpPr/>
          <p:nvPr/>
        </p:nvSpPr>
        <p:spPr>
          <a:xfrm>
            <a:off x="127247" y="4064508"/>
            <a:ext cx="4114800" cy="640080"/>
          </a:xfrm>
          <a:prstGeom prst="rect">
            <a:avLst/>
          </a:prstGeom>
          <a:noFill/>
          <a:ln/>
        </p:spPr>
        <p:txBody>
          <a:bodyPr wrap="square" rtlCol="0" anchor="ctr"/>
          <a:lstStyle/>
          <a:p>
            <a:pPr marL="0" indent="0">
              <a:buNone/>
            </a:pPr>
            <a:r>
              <a:rPr lang="en-US" sz="5400" b="1" i="1" u="sng" dirty="0">
                <a:latin typeface="Calibri" pitchFamily="34" charset="0"/>
                <a:ea typeface="Calibri" pitchFamily="34" charset="-122"/>
                <a:cs typeface="Calibri" pitchFamily="34" charset="-120"/>
              </a:rPr>
              <a:t>Chyna Adams</a:t>
            </a:r>
            <a:endParaRPr lang="en-US" sz="5400" b="1" i="1" u="sng" dirty="0"/>
          </a:p>
        </p:txBody>
      </p:sp>
      <p:sp>
        <p:nvSpPr>
          <p:cNvPr id="7" name="Shape 5"/>
          <p:cNvSpPr/>
          <p:nvPr/>
        </p:nvSpPr>
        <p:spPr>
          <a:xfrm>
            <a:off x="4149378" y="378823"/>
            <a:ext cx="0" cy="4572000"/>
          </a:xfrm>
          <a:prstGeom prst="line">
            <a:avLst/>
          </a:prstGeom>
          <a:noFill/>
          <a:ln w="19050">
            <a:solidFill>
              <a:srgbClr val="F8D7DE"/>
            </a:solidFill>
            <a:prstDash val="solid"/>
          </a:ln>
        </p:spPr>
        <p:txBody>
          <a:bodyPr/>
          <a:lstStyle/>
          <a:p>
            <a:endParaRPr lang="en-US" sz="3600"/>
          </a:p>
        </p:txBody>
      </p:sp>
      <p:sp>
        <p:nvSpPr>
          <p:cNvPr id="8" name="Text 6"/>
          <p:cNvSpPr/>
          <p:nvPr/>
        </p:nvSpPr>
        <p:spPr>
          <a:xfrm>
            <a:off x="4158944" y="458314"/>
            <a:ext cx="4729446" cy="3651914"/>
          </a:xfrm>
          <a:prstGeom prst="rect">
            <a:avLst/>
          </a:prstGeom>
          <a:noFill/>
          <a:ln/>
        </p:spPr>
        <p:txBody>
          <a:bodyPr wrap="square" rtlCol="0" anchor="ctr"/>
          <a:lstStyle/>
          <a:p>
            <a:pPr marL="0" indent="0">
              <a:buNone/>
            </a:pPr>
            <a:r>
              <a:rPr lang="en-US" sz="5400" b="1" dirty="0">
                <a:solidFill>
                  <a:srgbClr val="1A1A2E"/>
                </a:solidFill>
                <a:latin typeface="Calibri" pitchFamily="34" charset="0"/>
                <a:ea typeface="Calibri" pitchFamily="34" charset="-122"/>
                <a:cs typeface="Calibri" pitchFamily="34" charset="-120"/>
              </a:rPr>
              <a:t>Data Acquisition</a:t>
            </a:r>
            <a:endParaRPr lang="en-US" sz="5400" b="1" dirty="0"/>
          </a:p>
          <a:p>
            <a:pPr marL="0" indent="0">
              <a:buNone/>
            </a:pPr>
            <a:r>
              <a:rPr lang="en-US" sz="5400" b="1" dirty="0">
                <a:solidFill>
                  <a:srgbClr val="1A1A2E"/>
                </a:solidFill>
                <a:latin typeface="Calibri" pitchFamily="34" charset="0"/>
                <a:ea typeface="Calibri" pitchFamily="34" charset="-122"/>
                <a:cs typeface="Calibri" pitchFamily="34" charset="-120"/>
              </a:rPr>
              <a:t>&amp; Profiling Lead</a:t>
            </a:r>
            <a:endParaRPr lang="en-US" sz="5400" b="1" dirty="0"/>
          </a:p>
        </p:txBody>
      </p:sp>
      <p:sp>
        <p:nvSpPr>
          <p:cNvPr id="9" name="Text 7"/>
          <p:cNvSpPr/>
          <p:nvPr/>
        </p:nvSpPr>
        <p:spPr>
          <a:xfrm>
            <a:off x="4860074" y="4155948"/>
            <a:ext cx="4023360" cy="640080"/>
          </a:xfrm>
          <a:prstGeom prst="rect">
            <a:avLst/>
          </a:prstGeom>
          <a:noFill/>
          <a:ln/>
        </p:spPr>
        <p:txBody>
          <a:bodyPr wrap="square" rtlCol="0" anchor="ctr"/>
          <a:lstStyle/>
          <a:p>
            <a:pPr marL="0" indent="0">
              <a:buNone/>
            </a:pPr>
            <a:r>
              <a:rPr lang="en-US" sz="5400" b="1" i="1" u="sng" dirty="0">
                <a:latin typeface="Calibri" pitchFamily="34" charset="0"/>
                <a:ea typeface="Calibri" pitchFamily="34" charset="-122"/>
                <a:cs typeface="Calibri" pitchFamily="34" charset="-120"/>
              </a:rPr>
              <a:t>Yanet Assefa</a:t>
            </a:r>
            <a:endParaRPr lang="en-US" sz="5400" b="1" i="1" u="sng" dirty="0"/>
          </a:p>
        </p:txBody>
      </p:sp>
      <p:sp>
        <p:nvSpPr>
          <p:cNvPr id="10" name="Text 8"/>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2</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additive="base">
                                        <p:cTn id="14"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anim calcmode="lin" valueType="num">
                                      <p:cBhvr additive="base">
                                        <p:cTn id="18"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 calcmode="lin" valueType="num">
                                      <p:cBhvr additive="base">
                                        <p:cTn id="2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5" presetClass="entr" presetSubtype="0" fill="hold" nodeType="clickEffect">
                                  <p:stCondLst>
                                    <p:cond delay="0"/>
                                  </p:stCondLst>
                                  <p:childTnLst>
                                    <p:set>
                                      <p:cBhvr>
                                        <p:cTn id="33" dur="1" fill="hold">
                                          <p:stCondLst>
                                            <p:cond delay="0"/>
                                          </p:stCondLst>
                                        </p:cTn>
                                        <p:tgtEl>
                                          <p:spTgt spid="9">
                                            <p:txEl>
                                              <p:pRg st="0" end="0"/>
                                            </p:txEl>
                                          </p:spTgt>
                                        </p:tgtEl>
                                        <p:attrNameLst>
                                          <p:attrName>style.visibility</p:attrName>
                                        </p:attrNameLst>
                                      </p:cBhvr>
                                      <p:to>
                                        <p:strVal val="visible"/>
                                      </p:to>
                                    </p:set>
                                    <p:animEffect transition="in" filter="fade">
                                      <p:cBhvr>
                                        <p:cTn id="34" dur="2000"/>
                                        <p:tgtEl>
                                          <p:spTgt spid="9">
                                            <p:txEl>
                                              <p:pRg st="0" end="0"/>
                                            </p:txEl>
                                          </p:spTgt>
                                        </p:tgtEl>
                                      </p:cBhvr>
                                    </p:animEffect>
                                    <p:anim calcmode="lin" valueType="num">
                                      <p:cBhvr>
                                        <p:cTn id="35" dur="2000" fill="hold"/>
                                        <p:tgtEl>
                                          <p:spTgt spid="9">
                                            <p:txEl>
                                              <p:pRg st="0" end="0"/>
                                            </p:txEl>
                                          </p:spTgt>
                                        </p:tgtEl>
                                        <p:attrNameLst>
                                          <p:attrName>ppt_w</p:attrName>
                                        </p:attrNameLst>
                                      </p:cBhvr>
                                      <p:tavLst>
                                        <p:tav tm="0" fmla="#ppt_w*sin(2.5*pi*$)">
                                          <p:val>
                                            <p:fltVal val="0"/>
                                          </p:val>
                                        </p:tav>
                                        <p:tav tm="100000">
                                          <p:val>
                                            <p:fltVal val="1"/>
                                          </p:val>
                                        </p:tav>
                                      </p:tavLst>
                                    </p:anim>
                                    <p:anim calcmode="lin" valueType="num">
                                      <p:cBhvr>
                                        <p:cTn id="36" dur="2000" fill="hold"/>
                                        <p:tgtEl>
                                          <p:spTgt spid="9">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0" y="0"/>
            <a:ext cx="6275070" cy="5205222"/>
          </a:xfrm>
          <a:prstGeom prst="rect">
            <a:avLst/>
          </a:prstGeom>
          <a:solidFill>
            <a:srgbClr val="E8456A"/>
          </a:solidFill>
          <a:ln w="12700">
            <a:solidFill>
              <a:srgbClr val="E8456A"/>
            </a:solidFill>
            <a:prstDash val="solid"/>
          </a:ln>
        </p:spPr>
        <p:txBody>
          <a:bodyPr/>
          <a:lstStyle/>
          <a:p>
            <a:endParaRPr lang="en-US" dirty="0"/>
          </a:p>
        </p:txBody>
      </p:sp>
      <p:sp>
        <p:nvSpPr>
          <p:cNvPr id="3" name="Shape 1"/>
          <p:cNvSpPr/>
          <p:nvPr/>
        </p:nvSpPr>
        <p:spPr>
          <a:xfrm>
            <a:off x="137160" y="137160"/>
            <a:ext cx="5989320" cy="4846320"/>
          </a:xfrm>
          <a:prstGeom prst="rect">
            <a:avLst/>
          </a:prstGeom>
          <a:ln w="19050">
            <a:solidFill>
              <a:srgbClr val="C73058"/>
            </a:solidFill>
            <a:prstDash val="solid"/>
          </a:ln>
        </p:spPr>
        <p:txBody>
          <a:bodyPr/>
          <a:lstStyle/>
          <a:p>
            <a:endParaRPr lang="en-US"/>
          </a:p>
        </p:txBody>
      </p:sp>
      <p:sp>
        <p:nvSpPr>
          <p:cNvPr id="4" name="Text 2"/>
          <p:cNvSpPr/>
          <p:nvPr/>
        </p:nvSpPr>
        <p:spPr>
          <a:xfrm>
            <a:off x="160020" y="-86868"/>
            <a:ext cx="6149340" cy="1645920"/>
          </a:xfrm>
          <a:prstGeom prst="rect">
            <a:avLst/>
          </a:prstGeom>
          <a:noFill/>
          <a:ln/>
        </p:spPr>
        <p:txBody>
          <a:bodyPr wrap="square" rtlCol="0" anchor="ctr"/>
          <a:lstStyle/>
          <a:p>
            <a:pPr marL="0" indent="0">
              <a:buNone/>
            </a:pPr>
            <a:r>
              <a:rPr lang="en-US" sz="8000" dirty="0">
                <a:latin typeface="Calibri" pitchFamily="34" charset="0"/>
                <a:ea typeface="Calibri" pitchFamily="34" charset="-122"/>
                <a:cs typeface="Calibri" pitchFamily="34" charset="-120"/>
              </a:rPr>
              <a:t>Sprint</a:t>
            </a:r>
            <a:r>
              <a:rPr lang="en-US" sz="8000" dirty="0"/>
              <a:t> </a:t>
            </a:r>
            <a:r>
              <a:rPr lang="en-US" sz="9600" dirty="0">
                <a:latin typeface="Calibri" pitchFamily="34" charset="0"/>
                <a:ea typeface="Calibri" pitchFamily="34" charset="-122"/>
                <a:cs typeface="Calibri" pitchFamily="34" charset="-120"/>
              </a:rPr>
              <a:t>goals</a:t>
            </a:r>
            <a:endParaRPr lang="en-US" sz="8000" dirty="0"/>
          </a:p>
        </p:txBody>
      </p:sp>
      <p:sp>
        <p:nvSpPr>
          <p:cNvPr id="5" name="Text 3"/>
          <p:cNvSpPr/>
          <p:nvPr/>
        </p:nvSpPr>
        <p:spPr>
          <a:xfrm>
            <a:off x="137160" y="2840288"/>
            <a:ext cx="6137910" cy="2230060"/>
          </a:xfrm>
          <a:prstGeom prst="rect">
            <a:avLst/>
          </a:prstGeom>
          <a:noFill/>
          <a:ln/>
        </p:spPr>
        <p:txBody>
          <a:bodyPr wrap="square" lIns="0" tIns="0" rIns="0" bIns="0" rtlCol="0" anchor="ctr"/>
          <a:lstStyle/>
          <a:p>
            <a:pPr marL="0" indent="0">
              <a:buNone/>
            </a:pPr>
            <a:r>
              <a:rPr lang="en-US" sz="3600" dirty="0">
                <a:solidFill>
                  <a:srgbClr val="FFFFFF"/>
                </a:solidFill>
                <a:latin typeface="Calibri" pitchFamily="34" charset="0"/>
                <a:ea typeface="Calibri" pitchFamily="34" charset="-122"/>
                <a:cs typeface="Calibri" pitchFamily="34" charset="-120"/>
              </a:rPr>
              <a:t>•  Create SQL Table Scripts</a:t>
            </a:r>
          </a:p>
          <a:p>
            <a:r>
              <a:rPr lang="en-US" sz="3600" dirty="0">
                <a:solidFill>
                  <a:srgbClr val="FFFFFF"/>
                </a:solidFill>
                <a:latin typeface="Calibri" pitchFamily="34" charset="0"/>
                <a:ea typeface="Calibri" pitchFamily="34" charset="-122"/>
                <a:cs typeface="Calibri" pitchFamily="34" charset="-120"/>
              </a:rPr>
              <a:t>•  Define Primary &amp; Foreign Keys</a:t>
            </a:r>
          </a:p>
          <a:p>
            <a:r>
              <a:rPr lang="en-US" sz="3600" dirty="0">
                <a:solidFill>
                  <a:srgbClr val="FFFFFF"/>
                </a:solidFill>
                <a:latin typeface="Calibri" pitchFamily="34" charset="0"/>
                <a:ea typeface="Calibri" pitchFamily="34" charset="-122"/>
                <a:cs typeface="Calibri" pitchFamily="34" charset="-120"/>
              </a:rPr>
              <a:t>•  Plan the ETL Workflow</a:t>
            </a:r>
          </a:p>
          <a:p>
            <a:r>
              <a:rPr lang="en-US" sz="3600" dirty="0">
                <a:solidFill>
                  <a:srgbClr val="FFFFFF"/>
                </a:solidFill>
                <a:latin typeface="Calibri" pitchFamily="34" charset="0"/>
                <a:ea typeface="Calibri" pitchFamily="34" charset="-122"/>
                <a:cs typeface="Calibri" pitchFamily="34" charset="-120"/>
              </a:rPr>
              <a:t>•  Reshape the Sales Dataset</a:t>
            </a:r>
          </a:p>
          <a:p>
            <a:r>
              <a:rPr lang="en-US" sz="3600" dirty="0">
                <a:solidFill>
                  <a:srgbClr val="FFFFFF"/>
                </a:solidFill>
                <a:latin typeface="Calibri" pitchFamily="34" charset="0"/>
                <a:ea typeface="Calibri" pitchFamily="34" charset="-122"/>
                <a:cs typeface="Calibri" pitchFamily="34" charset="-120"/>
              </a:rPr>
              <a:t>•  Expand the Data Dictionary</a:t>
            </a:r>
          </a:p>
          <a:p>
            <a:r>
              <a:rPr lang="en-US" sz="3600" dirty="0">
                <a:solidFill>
                  <a:srgbClr val="FFFFFF"/>
                </a:solidFill>
                <a:latin typeface="Calibri" pitchFamily="34" charset="0"/>
                <a:ea typeface="Calibri" pitchFamily="34" charset="-122"/>
                <a:cs typeface="Calibri" pitchFamily="34" charset="-120"/>
              </a:rPr>
              <a:t>•  Confirm Join Keys</a:t>
            </a:r>
            <a:endParaRPr lang="en-US" sz="3600" dirty="0"/>
          </a:p>
          <a:p>
            <a:endParaRPr lang="en-US" sz="1600" dirty="0"/>
          </a:p>
          <a:p>
            <a:endParaRPr lang="en-US" sz="1600" dirty="0"/>
          </a:p>
          <a:p>
            <a:endParaRPr lang="en-US" sz="1600" dirty="0"/>
          </a:p>
          <a:p>
            <a:endParaRPr lang="en-US" sz="1600" dirty="0"/>
          </a:p>
          <a:p>
            <a:pPr marL="0" indent="0">
              <a:buNone/>
            </a:pPr>
            <a:endParaRPr lang="en-US" sz="1600" dirty="0"/>
          </a:p>
        </p:txBody>
      </p:sp>
      <p:sp>
        <p:nvSpPr>
          <p:cNvPr id="11" name="Shape 9"/>
          <p:cNvSpPr/>
          <p:nvPr/>
        </p:nvSpPr>
        <p:spPr>
          <a:xfrm>
            <a:off x="6309360" y="0"/>
            <a:ext cx="2834640" cy="5143500"/>
          </a:xfrm>
          <a:prstGeom prst="rect">
            <a:avLst/>
          </a:prstGeom>
          <a:solidFill>
            <a:srgbClr val="EBF5F7"/>
          </a:solidFill>
          <a:ln w="12700">
            <a:solidFill>
              <a:srgbClr val="EBF5F7"/>
            </a:solidFill>
            <a:prstDash val="solid"/>
          </a:ln>
        </p:spPr>
        <p:txBody>
          <a:bodyPr/>
          <a:lstStyle/>
          <a:p>
            <a:endParaRPr lang="en-US"/>
          </a:p>
        </p:txBody>
      </p:sp>
      <p:sp>
        <p:nvSpPr>
          <p:cNvPr id="14" name="Shape 12"/>
          <p:cNvSpPr/>
          <p:nvPr/>
        </p:nvSpPr>
        <p:spPr>
          <a:xfrm>
            <a:off x="6309360" y="274320"/>
            <a:ext cx="457200" cy="320040"/>
          </a:xfrm>
          <a:prstGeom prst="rect">
            <a:avLst/>
          </a:prstGeom>
          <a:solidFill>
            <a:srgbClr val="1B6B7B"/>
          </a:solidFill>
          <a:ln w="3810">
            <a:solidFill>
              <a:srgbClr val="AAAAAA"/>
            </a:solidFill>
            <a:prstDash val="solid"/>
          </a:ln>
        </p:spPr>
        <p:txBody>
          <a:bodyPr/>
          <a:lstStyle/>
          <a:p>
            <a:endParaRPr lang="en-US"/>
          </a:p>
        </p:txBody>
      </p:sp>
      <p:sp>
        <p:nvSpPr>
          <p:cNvPr id="15" name="Shape 13"/>
          <p:cNvSpPr/>
          <p:nvPr/>
        </p:nvSpPr>
        <p:spPr>
          <a:xfrm>
            <a:off x="6858000" y="274320"/>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16" name="Shape 14"/>
          <p:cNvSpPr/>
          <p:nvPr/>
        </p:nvSpPr>
        <p:spPr>
          <a:xfrm>
            <a:off x="7406640" y="274320"/>
            <a:ext cx="457200" cy="320040"/>
          </a:xfrm>
          <a:prstGeom prst="rect">
            <a:avLst/>
          </a:prstGeom>
          <a:solidFill>
            <a:srgbClr val="1B6B7B"/>
          </a:solidFill>
          <a:ln w="3810">
            <a:solidFill>
              <a:srgbClr val="AAAAAA"/>
            </a:solidFill>
            <a:prstDash val="solid"/>
          </a:ln>
        </p:spPr>
        <p:txBody>
          <a:bodyPr/>
          <a:lstStyle/>
          <a:p>
            <a:endParaRPr lang="en-US"/>
          </a:p>
        </p:txBody>
      </p:sp>
      <p:sp>
        <p:nvSpPr>
          <p:cNvPr id="17" name="Shape 15"/>
          <p:cNvSpPr/>
          <p:nvPr/>
        </p:nvSpPr>
        <p:spPr>
          <a:xfrm>
            <a:off x="7955280" y="274320"/>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20" name="Shape 18"/>
          <p:cNvSpPr/>
          <p:nvPr/>
        </p:nvSpPr>
        <p:spPr>
          <a:xfrm>
            <a:off x="6309360" y="667512"/>
            <a:ext cx="457200" cy="320040"/>
          </a:xfrm>
          <a:prstGeom prst="rect">
            <a:avLst/>
          </a:prstGeom>
          <a:solidFill>
            <a:srgbClr val="C8E6EC"/>
          </a:solidFill>
          <a:ln w="3810">
            <a:solidFill>
              <a:srgbClr val="AAAAAA"/>
            </a:solidFill>
            <a:prstDash val="solid"/>
          </a:ln>
        </p:spPr>
        <p:txBody>
          <a:bodyPr/>
          <a:lstStyle/>
          <a:p>
            <a:endParaRPr lang="en-US"/>
          </a:p>
        </p:txBody>
      </p:sp>
      <p:sp>
        <p:nvSpPr>
          <p:cNvPr id="21" name="Shape 19"/>
          <p:cNvSpPr/>
          <p:nvPr/>
        </p:nvSpPr>
        <p:spPr>
          <a:xfrm>
            <a:off x="6858000" y="667512"/>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22" name="Shape 20"/>
          <p:cNvSpPr/>
          <p:nvPr/>
        </p:nvSpPr>
        <p:spPr>
          <a:xfrm>
            <a:off x="7406640" y="667512"/>
            <a:ext cx="457200" cy="320040"/>
          </a:xfrm>
          <a:prstGeom prst="rect">
            <a:avLst/>
          </a:prstGeom>
          <a:solidFill>
            <a:srgbClr val="C8E6EC"/>
          </a:solidFill>
          <a:ln w="3810">
            <a:solidFill>
              <a:srgbClr val="AAAAAA"/>
            </a:solidFill>
            <a:prstDash val="solid"/>
          </a:ln>
        </p:spPr>
        <p:txBody>
          <a:bodyPr/>
          <a:lstStyle/>
          <a:p>
            <a:endParaRPr lang="en-US"/>
          </a:p>
        </p:txBody>
      </p:sp>
      <p:sp>
        <p:nvSpPr>
          <p:cNvPr id="23" name="Shape 21"/>
          <p:cNvSpPr/>
          <p:nvPr/>
        </p:nvSpPr>
        <p:spPr>
          <a:xfrm>
            <a:off x="7955280" y="667512"/>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26" name="Shape 24"/>
          <p:cNvSpPr/>
          <p:nvPr/>
        </p:nvSpPr>
        <p:spPr>
          <a:xfrm>
            <a:off x="6309360" y="1060704"/>
            <a:ext cx="457200" cy="320040"/>
          </a:xfrm>
          <a:prstGeom prst="rect">
            <a:avLst/>
          </a:prstGeom>
          <a:solidFill>
            <a:srgbClr val="C8E6EC"/>
          </a:solidFill>
          <a:ln w="3810">
            <a:solidFill>
              <a:srgbClr val="AAAAAA"/>
            </a:solidFill>
            <a:prstDash val="solid"/>
          </a:ln>
        </p:spPr>
        <p:txBody>
          <a:bodyPr/>
          <a:lstStyle/>
          <a:p>
            <a:endParaRPr lang="en-US"/>
          </a:p>
        </p:txBody>
      </p:sp>
      <p:sp>
        <p:nvSpPr>
          <p:cNvPr id="27" name="Shape 25"/>
          <p:cNvSpPr/>
          <p:nvPr/>
        </p:nvSpPr>
        <p:spPr>
          <a:xfrm>
            <a:off x="6858000" y="1060704"/>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28" name="Shape 26"/>
          <p:cNvSpPr/>
          <p:nvPr/>
        </p:nvSpPr>
        <p:spPr>
          <a:xfrm>
            <a:off x="7406640" y="1060704"/>
            <a:ext cx="457200" cy="320040"/>
          </a:xfrm>
          <a:prstGeom prst="rect">
            <a:avLst/>
          </a:prstGeom>
          <a:solidFill>
            <a:srgbClr val="C8E6EC"/>
          </a:solidFill>
          <a:ln w="3810">
            <a:solidFill>
              <a:srgbClr val="AAAAAA"/>
            </a:solidFill>
            <a:prstDash val="solid"/>
          </a:ln>
        </p:spPr>
        <p:txBody>
          <a:bodyPr/>
          <a:lstStyle/>
          <a:p>
            <a:endParaRPr lang="en-US"/>
          </a:p>
        </p:txBody>
      </p:sp>
      <p:sp>
        <p:nvSpPr>
          <p:cNvPr id="29" name="Shape 27"/>
          <p:cNvSpPr/>
          <p:nvPr/>
        </p:nvSpPr>
        <p:spPr>
          <a:xfrm>
            <a:off x="7955280" y="1060704"/>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32" name="Shape 30"/>
          <p:cNvSpPr/>
          <p:nvPr/>
        </p:nvSpPr>
        <p:spPr>
          <a:xfrm>
            <a:off x="6309360" y="1453896"/>
            <a:ext cx="457200" cy="320040"/>
          </a:xfrm>
          <a:prstGeom prst="rect">
            <a:avLst/>
          </a:prstGeom>
          <a:solidFill>
            <a:srgbClr val="1B6B7B"/>
          </a:solidFill>
          <a:ln w="3810">
            <a:solidFill>
              <a:srgbClr val="AAAAAA"/>
            </a:solidFill>
            <a:prstDash val="solid"/>
          </a:ln>
        </p:spPr>
        <p:txBody>
          <a:bodyPr/>
          <a:lstStyle/>
          <a:p>
            <a:endParaRPr lang="en-US"/>
          </a:p>
        </p:txBody>
      </p:sp>
      <p:sp>
        <p:nvSpPr>
          <p:cNvPr id="33" name="Shape 31"/>
          <p:cNvSpPr/>
          <p:nvPr/>
        </p:nvSpPr>
        <p:spPr>
          <a:xfrm>
            <a:off x="6858000" y="1453896"/>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34" name="Shape 32"/>
          <p:cNvSpPr/>
          <p:nvPr/>
        </p:nvSpPr>
        <p:spPr>
          <a:xfrm>
            <a:off x="7406640" y="1453896"/>
            <a:ext cx="457200" cy="320040"/>
          </a:xfrm>
          <a:prstGeom prst="rect">
            <a:avLst/>
          </a:prstGeom>
          <a:solidFill>
            <a:srgbClr val="1B6B7B"/>
          </a:solidFill>
          <a:ln w="3810">
            <a:solidFill>
              <a:srgbClr val="AAAAAA"/>
            </a:solidFill>
            <a:prstDash val="solid"/>
          </a:ln>
        </p:spPr>
        <p:txBody>
          <a:bodyPr/>
          <a:lstStyle/>
          <a:p>
            <a:endParaRPr lang="en-US"/>
          </a:p>
        </p:txBody>
      </p:sp>
      <p:sp>
        <p:nvSpPr>
          <p:cNvPr id="35" name="Shape 33"/>
          <p:cNvSpPr/>
          <p:nvPr/>
        </p:nvSpPr>
        <p:spPr>
          <a:xfrm>
            <a:off x="7955280" y="1453896"/>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38" name="Shape 36"/>
          <p:cNvSpPr/>
          <p:nvPr/>
        </p:nvSpPr>
        <p:spPr>
          <a:xfrm>
            <a:off x="6309360" y="1847088"/>
            <a:ext cx="457200" cy="320040"/>
          </a:xfrm>
          <a:prstGeom prst="rect">
            <a:avLst/>
          </a:prstGeom>
          <a:solidFill>
            <a:srgbClr val="C8E6EC"/>
          </a:solidFill>
          <a:ln w="3810">
            <a:solidFill>
              <a:srgbClr val="AAAAAA"/>
            </a:solidFill>
            <a:prstDash val="solid"/>
          </a:ln>
        </p:spPr>
        <p:txBody>
          <a:bodyPr/>
          <a:lstStyle/>
          <a:p>
            <a:endParaRPr lang="en-US"/>
          </a:p>
        </p:txBody>
      </p:sp>
      <p:sp>
        <p:nvSpPr>
          <p:cNvPr id="39" name="Shape 37"/>
          <p:cNvSpPr/>
          <p:nvPr/>
        </p:nvSpPr>
        <p:spPr>
          <a:xfrm>
            <a:off x="6858000" y="1847088"/>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40" name="Shape 38"/>
          <p:cNvSpPr/>
          <p:nvPr/>
        </p:nvSpPr>
        <p:spPr>
          <a:xfrm>
            <a:off x="7406640" y="1847088"/>
            <a:ext cx="457200" cy="320040"/>
          </a:xfrm>
          <a:prstGeom prst="rect">
            <a:avLst/>
          </a:prstGeom>
          <a:solidFill>
            <a:srgbClr val="C8E6EC"/>
          </a:solidFill>
          <a:ln w="3810">
            <a:solidFill>
              <a:srgbClr val="AAAAAA"/>
            </a:solidFill>
            <a:prstDash val="solid"/>
          </a:ln>
        </p:spPr>
        <p:txBody>
          <a:bodyPr/>
          <a:lstStyle/>
          <a:p>
            <a:endParaRPr lang="en-US"/>
          </a:p>
        </p:txBody>
      </p:sp>
      <p:sp>
        <p:nvSpPr>
          <p:cNvPr id="41" name="Shape 39"/>
          <p:cNvSpPr/>
          <p:nvPr/>
        </p:nvSpPr>
        <p:spPr>
          <a:xfrm>
            <a:off x="7955280" y="1847088"/>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44" name="Shape 42"/>
          <p:cNvSpPr/>
          <p:nvPr/>
        </p:nvSpPr>
        <p:spPr>
          <a:xfrm>
            <a:off x="6309360" y="2240280"/>
            <a:ext cx="457200" cy="320040"/>
          </a:xfrm>
          <a:prstGeom prst="rect">
            <a:avLst/>
          </a:prstGeom>
          <a:solidFill>
            <a:srgbClr val="C8E6EC"/>
          </a:solidFill>
          <a:ln w="3810">
            <a:solidFill>
              <a:srgbClr val="AAAAAA"/>
            </a:solidFill>
            <a:prstDash val="solid"/>
          </a:ln>
        </p:spPr>
        <p:txBody>
          <a:bodyPr/>
          <a:lstStyle/>
          <a:p>
            <a:endParaRPr lang="en-US"/>
          </a:p>
        </p:txBody>
      </p:sp>
      <p:sp>
        <p:nvSpPr>
          <p:cNvPr id="45" name="Shape 43"/>
          <p:cNvSpPr/>
          <p:nvPr/>
        </p:nvSpPr>
        <p:spPr>
          <a:xfrm>
            <a:off x="6858000" y="2240280"/>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46" name="Shape 44"/>
          <p:cNvSpPr/>
          <p:nvPr/>
        </p:nvSpPr>
        <p:spPr>
          <a:xfrm>
            <a:off x="7406640" y="2240280"/>
            <a:ext cx="457200" cy="320040"/>
          </a:xfrm>
          <a:prstGeom prst="rect">
            <a:avLst/>
          </a:prstGeom>
          <a:solidFill>
            <a:srgbClr val="C8E6EC"/>
          </a:solidFill>
          <a:ln w="3810">
            <a:solidFill>
              <a:srgbClr val="AAAAAA"/>
            </a:solidFill>
            <a:prstDash val="solid"/>
          </a:ln>
        </p:spPr>
        <p:txBody>
          <a:bodyPr/>
          <a:lstStyle/>
          <a:p>
            <a:endParaRPr lang="en-US"/>
          </a:p>
        </p:txBody>
      </p:sp>
      <p:sp>
        <p:nvSpPr>
          <p:cNvPr id="47" name="Shape 45"/>
          <p:cNvSpPr/>
          <p:nvPr/>
        </p:nvSpPr>
        <p:spPr>
          <a:xfrm>
            <a:off x="7955280" y="2240280"/>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50" name="Shape 48"/>
          <p:cNvSpPr/>
          <p:nvPr/>
        </p:nvSpPr>
        <p:spPr>
          <a:xfrm>
            <a:off x="6309360" y="2633472"/>
            <a:ext cx="457200" cy="320040"/>
          </a:xfrm>
          <a:prstGeom prst="rect">
            <a:avLst/>
          </a:prstGeom>
          <a:solidFill>
            <a:srgbClr val="1B6B7B"/>
          </a:solidFill>
          <a:ln w="3810">
            <a:solidFill>
              <a:srgbClr val="AAAAAA"/>
            </a:solidFill>
            <a:prstDash val="solid"/>
          </a:ln>
        </p:spPr>
        <p:txBody>
          <a:bodyPr/>
          <a:lstStyle/>
          <a:p>
            <a:endParaRPr lang="en-US"/>
          </a:p>
        </p:txBody>
      </p:sp>
      <p:sp>
        <p:nvSpPr>
          <p:cNvPr id="51" name="Shape 49"/>
          <p:cNvSpPr/>
          <p:nvPr/>
        </p:nvSpPr>
        <p:spPr>
          <a:xfrm>
            <a:off x="6858000" y="2633472"/>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52" name="Shape 50"/>
          <p:cNvSpPr/>
          <p:nvPr/>
        </p:nvSpPr>
        <p:spPr>
          <a:xfrm>
            <a:off x="7406640" y="2633472"/>
            <a:ext cx="457200" cy="320040"/>
          </a:xfrm>
          <a:prstGeom prst="rect">
            <a:avLst/>
          </a:prstGeom>
          <a:solidFill>
            <a:srgbClr val="1B6B7B"/>
          </a:solidFill>
          <a:ln w="3810">
            <a:solidFill>
              <a:srgbClr val="AAAAAA"/>
            </a:solidFill>
            <a:prstDash val="solid"/>
          </a:ln>
        </p:spPr>
        <p:txBody>
          <a:bodyPr/>
          <a:lstStyle/>
          <a:p>
            <a:endParaRPr lang="en-US"/>
          </a:p>
        </p:txBody>
      </p:sp>
      <p:sp>
        <p:nvSpPr>
          <p:cNvPr id="53" name="Shape 51"/>
          <p:cNvSpPr/>
          <p:nvPr/>
        </p:nvSpPr>
        <p:spPr>
          <a:xfrm>
            <a:off x="7955280" y="2633472"/>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56" name="Shape 54"/>
          <p:cNvSpPr/>
          <p:nvPr/>
        </p:nvSpPr>
        <p:spPr>
          <a:xfrm>
            <a:off x="6309360" y="3026664"/>
            <a:ext cx="457200" cy="320040"/>
          </a:xfrm>
          <a:prstGeom prst="rect">
            <a:avLst/>
          </a:prstGeom>
          <a:solidFill>
            <a:srgbClr val="C8E6EC"/>
          </a:solidFill>
          <a:ln w="3810">
            <a:solidFill>
              <a:srgbClr val="AAAAAA"/>
            </a:solidFill>
            <a:prstDash val="solid"/>
          </a:ln>
        </p:spPr>
        <p:txBody>
          <a:bodyPr/>
          <a:lstStyle/>
          <a:p>
            <a:endParaRPr lang="en-US"/>
          </a:p>
        </p:txBody>
      </p:sp>
      <p:sp>
        <p:nvSpPr>
          <p:cNvPr id="57" name="Shape 55"/>
          <p:cNvSpPr/>
          <p:nvPr/>
        </p:nvSpPr>
        <p:spPr>
          <a:xfrm>
            <a:off x="6858000" y="3026664"/>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58" name="Shape 56"/>
          <p:cNvSpPr/>
          <p:nvPr/>
        </p:nvSpPr>
        <p:spPr>
          <a:xfrm>
            <a:off x="7406640" y="3026664"/>
            <a:ext cx="457200" cy="320040"/>
          </a:xfrm>
          <a:prstGeom prst="rect">
            <a:avLst/>
          </a:prstGeom>
          <a:solidFill>
            <a:srgbClr val="C8E6EC"/>
          </a:solidFill>
          <a:ln w="3810">
            <a:solidFill>
              <a:srgbClr val="AAAAAA"/>
            </a:solidFill>
            <a:prstDash val="solid"/>
          </a:ln>
        </p:spPr>
        <p:txBody>
          <a:bodyPr/>
          <a:lstStyle/>
          <a:p>
            <a:endParaRPr lang="en-US"/>
          </a:p>
        </p:txBody>
      </p:sp>
      <p:sp>
        <p:nvSpPr>
          <p:cNvPr id="59" name="Shape 57"/>
          <p:cNvSpPr/>
          <p:nvPr/>
        </p:nvSpPr>
        <p:spPr>
          <a:xfrm>
            <a:off x="7955280" y="3026664"/>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62" name="Shape 60"/>
          <p:cNvSpPr/>
          <p:nvPr/>
        </p:nvSpPr>
        <p:spPr>
          <a:xfrm>
            <a:off x="6309360" y="3419856"/>
            <a:ext cx="457200" cy="320040"/>
          </a:xfrm>
          <a:prstGeom prst="rect">
            <a:avLst/>
          </a:prstGeom>
          <a:solidFill>
            <a:srgbClr val="C8E6EC"/>
          </a:solidFill>
          <a:ln w="3810">
            <a:solidFill>
              <a:srgbClr val="AAAAAA"/>
            </a:solidFill>
            <a:prstDash val="solid"/>
          </a:ln>
        </p:spPr>
        <p:txBody>
          <a:bodyPr/>
          <a:lstStyle/>
          <a:p>
            <a:endParaRPr lang="en-US"/>
          </a:p>
        </p:txBody>
      </p:sp>
      <p:sp>
        <p:nvSpPr>
          <p:cNvPr id="63" name="Shape 61"/>
          <p:cNvSpPr/>
          <p:nvPr/>
        </p:nvSpPr>
        <p:spPr>
          <a:xfrm>
            <a:off x="6858000" y="3419856"/>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64" name="Shape 62"/>
          <p:cNvSpPr/>
          <p:nvPr/>
        </p:nvSpPr>
        <p:spPr>
          <a:xfrm>
            <a:off x="7406640" y="3419856"/>
            <a:ext cx="457200" cy="320040"/>
          </a:xfrm>
          <a:prstGeom prst="rect">
            <a:avLst/>
          </a:prstGeom>
          <a:solidFill>
            <a:srgbClr val="C8E6EC"/>
          </a:solidFill>
          <a:ln w="3810">
            <a:solidFill>
              <a:srgbClr val="AAAAAA"/>
            </a:solidFill>
            <a:prstDash val="solid"/>
          </a:ln>
        </p:spPr>
        <p:txBody>
          <a:bodyPr/>
          <a:lstStyle/>
          <a:p>
            <a:endParaRPr lang="en-US"/>
          </a:p>
        </p:txBody>
      </p:sp>
      <p:sp>
        <p:nvSpPr>
          <p:cNvPr id="65" name="Shape 63"/>
          <p:cNvSpPr/>
          <p:nvPr/>
        </p:nvSpPr>
        <p:spPr>
          <a:xfrm>
            <a:off x="7955280" y="3419856"/>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68" name="Shape 66"/>
          <p:cNvSpPr/>
          <p:nvPr/>
        </p:nvSpPr>
        <p:spPr>
          <a:xfrm>
            <a:off x="6309360" y="3813048"/>
            <a:ext cx="457200" cy="320040"/>
          </a:xfrm>
          <a:prstGeom prst="rect">
            <a:avLst/>
          </a:prstGeom>
          <a:solidFill>
            <a:srgbClr val="1B6B7B"/>
          </a:solidFill>
          <a:ln w="3810">
            <a:solidFill>
              <a:srgbClr val="AAAAAA"/>
            </a:solidFill>
            <a:prstDash val="solid"/>
          </a:ln>
        </p:spPr>
        <p:txBody>
          <a:bodyPr/>
          <a:lstStyle/>
          <a:p>
            <a:endParaRPr lang="en-US"/>
          </a:p>
        </p:txBody>
      </p:sp>
      <p:sp>
        <p:nvSpPr>
          <p:cNvPr id="69" name="Shape 67"/>
          <p:cNvSpPr/>
          <p:nvPr/>
        </p:nvSpPr>
        <p:spPr>
          <a:xfrm>
            <a:off x="6858000" y="3813048"/>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70" name="Shape 68"/>
          <p:cNvSpPr/>
          <p:nvPr/>
        </p:nvSpPr>
        <p:spPr>
          <a:xfrm>
            <a:off x="7406640" y="3813048"/>
            <a:ext cx="457200" cy="320040"/>
          </a:xfrm>
          <a:prstGeom prst="rect">
            <a:avLst/>
          </a:prstGeom>
          <a:solidFill>
            <a:srgbClr val="1B6B7B"/>
          </a:solidFill>
          <a:ln w="3810">
            <a:solidFill>
              <a:srgbClr val="AAAAAA"/>
            </a:solidFill>
            <a:prstDash val="solid"/>
          </a:ln>
        </p:spPr>
        <p:txBody>
          <a:bodyPr/>
          <a:lstStyle/>
          <a:p>
            <a:endParaRPr lang="en-US"/>
          </a:p>
        </p:txBody>
      </p:sp>
      <p:sp>
        <p:nvSpPr>
          <p:cNvPr id="71" name="Shape 69"/>
          <p:cNvSpPr/>
          <p:nvPr/>
        </p:nvSpPr>
        <p:spPr>
          <a:xfrm>
            <a:off x="7955280" y="3813048"/>
            <a:ext cx="457200" cy="320040"/>
          </a:xfrm>
          <a:prstGeom prst="rect">
            <a:avLst/>
          </a:prstGeom>
          <a:solidFill>
            <a:srgbClr val="1B6B7B">
              <a:alpha val="50000"/>
            </a:srgbClr>
          </a:solidFill>
          <a:ln w="3810">
            <a:solidFill>
              <a:srgbClr val="AAAAAA"/>
            </a:solidFill>
            <a:prstDash val="solid"/>
          </a:ln>
        </p:spPr>
        <p:txBody>
          <a:bodyPr/>
          <a:lstStyle/>
          <a:p>
            <a:endParaRPr lang="en-US"/>
          </a:p>
        </p:txBody>
      </p:sp>
      <p:sp>
        <p:nvSpPr>
          <p:cNvPr id="74" name="Shape 72"/>
          <p:cNvSpPr/>
          <p:nvPr/>
        </p:nvSpPr>
        <p:spPr>
          <a:xfrm>
            <a:off x="6309360" y="4206240"/>
            <a:ext cx="457200" cy="320040"/>
          </a:xfrm>
          <a:prstGeom prst="rect">
            <a:avLst/>
          </a:prstGeom>
          <a:solidFill>
            <a:srgbClr val="C8E6EC"/>
          </a:solidFill>
          <a:ln w="3810">
            <a:solidFill>
              <a:srgbClr val="AAAAAA"/>
            </a:solidFill>
            <a:prstDash val="solid"/>
          </a:ln>
        </p:spPr>
        <p:txBody>
          <a:bodyPr/>
          <a:lstStyle/>
          <a:p>
            <a:endParaRPr lang="en-US"/>
          </a:p>
        </p:txBody>
      </p:sp>
      <p:sp>
        <p:nvSpPr>
          <p:cNvPr id="75" name="Shape 73"/>
          <p:cNvSpPr/>
          <p:nvPr/>
        </p:nvSpPr>
        <p:spPr>
          <a:xfrm>
            <a:off x="6858000" y="4206240"/>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76" name="Shape 74"/>
          <p:cNvSpPr/>
          <p:nvPr/>
        </p:nvSpPr>
        <p:spPr>
          <a:xfrm>
            <a:off x="7406640" y="4206240"/>
            <a:ext cx="457200" cy="320040"/>
          </a:xfrm>
          <a:prstGeom prst="rect">
            <a:avLst/>
          </a:prstGeom>
          <a:solidFill>
            <a:srgbClr val="C8E6EC"/>
          </a:solidFill>
          <a:ln w="3810">
            <a:solidFill>
              <a:srgbClr val="AAAAAA"/>
            </a:solidFill>
            <a:prstDash val="solid"/>
          </a:ln>
        </p:spPr>
        <p:txBody>
          <a:bodyPr/>
          <a:lstStyle/>
          <a:p>
            <a:endParaRPr lang="en-US"/>
          </a:p>
        </p:txBody>
      </p:sp>
      <p:sp>
        <p:nvSpPr>
          <p:cNvPr id="77" name="Shape 75"/>
          <p:cNvSpPr/>
          <p:nvPr/>
        </p:nvSpPr>
        <p:spPr>
          <a:xfrm>
            <a:off x="7955280" y="4206240"/>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80" name="Shape 78"/>
          <p:cNvSpPr/>
          <p:nvPr/>
        </p:nvSpPr>
        <p:spPr>
          <a:xfrm>
            <a:off x="6309360" y="4599432"/>
            <a:ext cx="457200" cy="320040"/>
          </a:xfrm>
          <a:prstGeom prst="rect">
            <a:avLst/>
          </a:prstGeom>
          <a:solidFill>
            <a:srgbClr val="C8E6EC"/>
          </a:solidFill>
          <a:ln w="3810">
            <a:solidFill>
              <a:srgbClr val="AAAAAA"/>
            </a:solidFill>
            <a:prstDash val="solid"/>
          </a:ln>
        </p:spPr>
        <p:txBody>
          <a:bodyPr/>
          <a:lstStyle/>
          <a:p>
            <a:endParaRPr lang="en-US"/>
          </a:p>
        </p:txBody>
      </p:sp>
      <p:sp>
        <p:nvSpPr>
          <p:cNvPr id="81" name="Shape 79"/>
          <p:cNvSpPr/>
          <p:nvPr/>
        </p:nvSpPr>
        <p:spPr>
          <a:xfrm>
            <a:off x="6858000" y="4599432"/>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
        <p:nvSpPr>
          <p:cNvPr id="82" name="Shape 80"/>
          <p:cNvSpPr/>
          <p:nvPr/>
        </p:nvSpPr>
        <p:spPr>
          <a:xfrm>
            <a:off x="7406640" y="4599432"/>
            <a:ext cx="457200" cy="320040"/>
          </a:xfrm>
          <a:prstGeom prst="rect">
            <a:avLst/>
          </a:prstGeom>
          <a:solidFill>
            <a:srgbClr val="C8E6EC"/>
          </a:solidFill>
          <a:ln w="3810">
            <a:solidFill>
              <a:srgbClr val="AAAAAA"/>
            </a:solidFill>
            <a:prstDash val="solid"/>
          </a:ln>
        </p:spPr>
        <p:txBody>
          <a:bodyPr/>
          <a:lstStyle/>
          <a:p>
            <a:endParaRPr lang="en-US"/>
          </a:p>
        </p:txBody>
      </p:sp>
      <p:sp>
        <p:nvSpPr>
          <p:cNvPr id="83" name="Shape 81"/>
          <p:cNvSpPr/>
          <p:nvPr/>
        </p:nvSpPr>
        <p:spPr>
          <a:xfrm>
            <a:off x="7955280" y="4599432"/>
            <a:ext cx="457200" cy="320040"/>
          </a:xfrm>
          <a:prstGeom prst="rect">
            <a:avLst/>
          </a:prstGeom>
          <a:solidFill>
            <a:srgbClr val="C8E6EC">
              <a:alpha val="50000"/>
            </a:srgbClr>
          </a:solidFill>
          <a:ln w="3810">
            <a:solidFill>
              <a:srgbClr val="AAAAAA"/>
            </a:solidFill>
            <a:prstDash val="soli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p:cTn id="15"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5">
                                            <p:txEl>
                                              <p:pRg st="0" end="0"/>
                                            </p:txEl>
                                          </p:spTgt>
                                        </p:tgtEl>
                                        <p:attrNameLst>
                                          <p:attrName>ppt_h</p:attrName>
                                        </p:attrNameLst>
                                      </p:cBhvr>
                                      <p:tavLst>
                                        <p:tav tm="0">
                                          <p:val>
                                            <p:fltVal val="0"/>
                                          </p:val>
                                        </p:tav>
                                        <p:tav tm="100000">
                                          <p:val>
                                            <p:strVal val="#ppt_h"/>
                                          </p:val>
                                        </p:tav>
                                      </p:tavLst>
                                    </p:anim>
                                    <p:anim calcmode="lin" valueType="num">
                                      <p:cBhvr>
                                        <p:cTn id="17" dur="500" fill="hold"/>
                                        <p:tgtEl>
                                          <p:spTgt spid="5">
                                            <p:txEl>
                                              <p:pRg st="0" end="0"/>
                                            </p:txEl>
                                          </p:spTgt>
                                        </p:tgtEl>
                                        <p:attrNameLst>
                                          <p:attrName>style.rotation</p:attrName>
                                        </p:attrNameLst>
                                      </p:cBhvr>
                                      <p:tavLst>
                                        <p:tav tm="0">
                                          <p:val>
                                            <p:fltVal val="360"/>
                                          </p:val>
                                        </p:tav>
                                        <p:tav tm="100000">
                                          <p:val>
                                            <p:fltVal val="0"/>
                                          </p:val>
                                        </p:tav>
                                      </p:tavLst>
                                    </p:anim>
                                    <p:animEffect transition="in" filter="fade">
                                      <p:cBhvr>
                                        <p:cTn id="18" dur="500"/>
                                        <p:tgtEl>
                                          <p:spTgt spid="5">
                                            <p:txEl>
                                              <p:pRg st="0" end="0"/>
                                            </p:txEl>
                                          </p:spTgt>
                                        </p:tgtEl>
                                      </p:cBhvr>
                                    </p:animEffect>
                                  </p:childTnLst>
                                </p:cTn>
                              </p:par>
                              <p:par>
                                <p:cTn id="19" presetID="49" presetClass="entr" presetSubtype="0" decel="100000" fill="hold"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p:cTn id="21"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1" end="1"/>
                                            </p:txEl>
                                          </p:spTgt>
                                        </p:tgtEl>
                                        <p:attrNameLst>
                                          <p:attrName>ppt_h</p:attrName>
                                        </p:attrNameLst>
                                      </p:cBhvr>
                                      <p:tavLst>
                                        <p:tav tm="0">
                                          <p:val>
                                            <p:fltVal val="0"/>
                                          </p:val>
                                        </p:tav>
                                        <p:tav tm="100000">
                                          <p:val>
                                            <p:strVal val="#ppt_h"/>
                                          </p:val>
                                        </p:tav>
                                      </p:tavLst>
                                    </p:anim>
                                    <p:anim calcmode="lin" valueType="num">
                                      <p:cBhvr>
                                        <p:cTn id="23" dur="500" fill="hold"/>
                                        <p:tgtEl>
                                          <p:spTgt spid="5">
                                            <p:txEl>
                                              <p:pRg st="1" end="1"/>
                                            </p:txEl>
                                          </p:spTgt>
                                        </p:tgtEl>
                                        <p:attrNameLst>
                                          <p:attrName>style.rotation</p:attrName>
                                        </p:attrNameLst>
                                      </p:cBhvr>
                                      <p:tavLst>
                                        <p:tav tm="0">
                                          <p:val>
                                            <p:fltVal val="360"/>
                                          </p:val>
                                        </p:tav>
                                        <p:tav tm="100000">
                                          <p:val>
                                            <p:fltVal val="0"/>
                                          </p:val>
                                        </p:tav>
                                      </p:tavLst>
                                    </p:anim>
                                    <p:animEffect transition="in" filter="fade">
                                      <p:cBhvr>
                                        <p:cTn id="24" dur="500"/>
                                        <p:tgtEl>
                                          <p:spTgt spid="5">
                                            <p:txEl>
                                              <p:pRg st="1" end="1"/>
                                            </p:txEl>
                                          </p:spTgt>
                                        </p:tgtEl>
                                      </p:cBhvr>
                                    </p:animEffect>
                                  </p:childTnLst>
                                </p:cTn>
                              </p:par>
                              <p:par>
                                <p:cTn id="25" presetID="49" presetClass="entr" presetSubtype="0" decel="100000" fill="hold"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 calcmode="lin" valueType="num">
                                      <p:cBhvr>
                                        <p:cTn id="27" dur="500" fill="hold"/>
                                        <p:tgtEl>
                                          <p:spTgt spid="5">
                                            <p:txEl>
                                              <p:pRg st="2" end="2"/>
                                            </p:txEl>
                                          </p:spTgt>
                                        </p:tgtEl>
                                        <p:attrNameLst>
                                          <p:attrName>ppt_w</p:attrName>
                                        </p:attrNameLst>
                                      </p:cBhvr>
                                      <p:tavLst>
                                        <p:tav tm="0">
                                          <p:val>
                                            <p:fltVal val="0"/>
                                          </p:val>
                                        </p:tav>
                                        <p:tav tm="100000">
                                          <p:val>
                                            <p:strVal val="#ppt_w"/>
                                          </p:val>
                                        </p:tav>
                                      </p:tavLst>
                                    </p:anim>
                                    <p:anim calcmode="lin" valueType="num">
                                      <p:cBhvr>
                                        <p:cTn id="28" dur="500" fill="hold"/>
                                        <p:tgtEl>
                                          <p:spTgt spid="5">
                                            <p:txEl>
                                              <p:pRg st="2" end="2"/>
                                            </p:txEl>
                                          </p:spTgt>
                                        </p:tgtEl>
                                        <p:attrNameLst>
                                          <p:attrName>ppt_h</p:attrName>
                                        </p:attrNameLst>
                                      </p:cBhvr>
                                      <p:tavLst>
                                        <p:tav tm="0">
                                          <p:val>
                                            <p:fltVal val="0"/>
                                          </p:val>
                                        </p:tav>
                                        <p:tav tm="100000">
                                          <p:val>
                                            <p:strVal val="#ppt_h"/>
                                          </p:val>
                                        </p:tav>
                                      </p:tavLst>
                                    </p:anim>
                                    <p:anim calcmode="lin" valueType="num">
                                      <p:cBhvr>
                                        <p:cTn id="29" dur="500" fill="hold"/>
                                        <p:tgtEl>
                                          <p:spTgt spid="5">
                                            <p:txEl>
                                              <p:pRg st="2" end="2"/>
                                            </p:txEl>
                                          </p:spTgt>
                                        </p:tgtEl>
                                        <p:attrNameLst>
                                          <p:attrName>style.rotation</p:attrName>
                                        </p:attrNameLst>
                                      </p:cBhvr>
                                      <p:tavLst>
                                        <p:tav tm="0">
                                          <p:val>
                                            <p:fltVal val="360"/>
                                          </p:val>
                                        </p:tav>
                                        <p:tav tm="100000">
                                          <p:val>
                                            <p:fltVal val="0"/>
                                          </p:val>
                                        </p:tav>
                                      </p:tavLst>
                                    </p:anim>
                                    <p:animEffect transition="in" filter="fade">
                                      <p:cBhvr>
                                        <p:cTn id="30" dur="500"/>
                                        <p:tgtEl>
                                          <p:spTgt spid="5">
                                            <p:txEl>
                                              <p:pRg st="2" end="2"/>
                                            </p:txEl>
                                          </p:spTgt>
                                        </p:tgtEl>
                                      </p:cBhvr>
                                    </p:animEffect>
                                  </p:childTnLst>
                                </p:cTn>
                              </p:par>
                              <p:par>
                                <p:cTn id="31" presetID="49" presetClass="entr" presetSubtype="0" decel="100000" fill="hold" nodeType="withEffect">
                                  <p:stCondLst>
                                    <p:cond delay="0"/>
                                  </p:stCondLst>
                                  <p:childTnLst>
                                    <p:set>
                                      <p:cBhvr>
                                        <p:cTn id="32" dur="1" fill="hold">
                                          <p:stCondLst>
                                            <p:cond delay="0"/>
                                          </p:stCondLst>
                                        </p:cTn>
                                        <p:tgtEl>
                                          <p:spTgt spid="5">
                                            <p:txEl>
                                              <p:pRg st="3" end="3"/>
                                            </p:txEl>
                                          </p:spTgt>
                                        </p:tgtEl>
                                        <p:attrNameLst>
                                          <p:attrName>style.visibility</p:attrName>
                                        </p:attrNameLst>
                                      </p:cBhvr>
                                      <p:to>
                                        <p:strVal val="visible"/>
                                      </p:to>
                                    </p:set>
                                    <p:anim calcmode="lin" valueType="num">
                                      <p:cBhvr>
                                        <p:cTn id="33" dur="500" fill="hold"/>
                                        <p:tgtEl>
                                          <p:spTgt spid="5">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5">
                                            <p:txEl>
                                              <p:pRg st="3" end="3"/>
                                            </p:txEl>
                                          </p:spTgt>
                                        </p:tgtEl>
                                        <p:attrNameLst>
                                          <p:attrName>ppt_h</p:attrName>
                                        </p:attrNameLst>
                                      </p:cBhvr>
                                      <p:tavLst>
                                        <p:tav tm="0">
                                          <p:val>
                                            <p:fltVal val="0"/>
                                          </p:val>
                                        </p:tav>
                                        <p:tav tm="100000">
                                          <p:val>
                                            <p:strVal val="#ppt_h"/>
                                          </p:val>
                                        </p:tav>
                                      </p:tavLst>
                                    </p:anim>
                                    <p:anim calcmode="lin" valueType="num">
                                      <p:cBhvr>
                                        <p:cTn id="35" dur="500" fill="hold"/>
                                        <p:tgtEl>
                                          <p:spTgt spid="5">
                                            <p:txEl>
                                              <p:pRg st="3" end="3"/>
                                            </p:txEl>
                                          </p:spTgt>
                                        </p:tgtEl>
                                        <p:attrNameLst>
                                          <p:attrName>style.rotation</p:attrName>
                                        </p:attrNameLst>
                                      </p:cBhvr>
                                      <p:tavLst>
                                        <p:tav tm="0">
                                          <p:val>
                                            <p:fltVal val="360"/>
                                          </p:val>
                                        </p:tav>
                                        <p:tav tm="100000">
                                          <p:val>
                                            <p:fltVal val="0"/>
                                          </p:val>
                                        </p:tav>
                                      </p:tavLst>
                                    </p:anim>
                                    <p:animEffect transition="in" filter="fade">
                                      <p:cBhvr>
                                        <p:cTn id="36" dur="500"/>
                                        <p:tgtEl>
                                          <p:spTgt spid="5">
                                            <p:txEl>
                                              <p:pRg st="3" end="3"/>
                                            </p:txEl>
                                          </p:spTgt>
                                        </p:tgtEl>
                                      </p:cBhvr>
                                    </p:animEffect>
                                  </p:childTnLst>
                                </p:cTn>
                              </p:par>
                              <p:par>
                                <p:cTn id="37" presetID="49" presetClass="entr" presetSubtype="0" decel="10000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 calcmode="lin" valueType="num">
                                      <p:cBhvr>
                                        <p:cTn id="39" dur="500" fill="hold"/>
                                        <p:tgtEl>
                                          <p:spTgt spid="5">
                                            <p:txEl>
                                              <p:pRg st="4" end="4"/>
                                            </p:txEl>
                                          </p:spTgt>
                                        </p:tgtEl>
                                        <p:attrNameLst>
                                          <p:attrName>ppt_w</p:attrName>
                                        </p:attrNameLst>
                                      </p:cBhvr>
                                      <p:tavLst>
                                        <p:tav tm="0">
                                          <p:val>
                                            <p:fltVal val="0"/>
                                          </p:val>
                                        </p:tav>
                                        <p:tav tm="100000">
                                          <p:val>
                                            <p:strVal val="#ppt_w"/>
                                          </p:val>
                                        </p:tav>
                                      </p:tavLst>
                                    </p:anim>
                                    <p:anim calcmode="lin" valueType="num">
                                      <p:cBhvr>
                                        <p:cTn id="40" dur="500" fill="hold"/>
                                        <p:tgtEl>
                                          <p:spTgt spid="5">
                                            <p:txEl>
                                              <p:pRg st="4" end="4"/>
                                            </p:txEl>
                                          </p:spTgt>
                                        </p:tgtEl>
                                        <p:attrNameLst>
                                          <p:attrName>ppt_h</p:attrName>
                                        </p:attrNameLst>
                                      </p:cBhvr>
                                      <p:tavLst>
                                        <p:tav tm="0">
                                          <p:val>
                                            <p:fltVal val="0"/>
                                          </p:val>
                                        </p:tav>
                                        <p:tav tm="100000">
                                          <p:val>
                                            <p:strVal val="#ppt_h"/>
                                          </p:val>
                                        </p:tav>
                                      </p:tavLst>
                                    </p:anim>
                                    <p:anim calcmode="lin" valueType="num">
                                      <p:cBhvr>
                                        <p:cTn id="41" dur="500" fill="hold"/>
                                        <p:tgtEl>
                                          <p:spTgt spid="5">
                                            <p:txEl>
                                              <p:pRg st="4" end="4"/>
                                            </p:txEl>
                                          </p:spTgt>
                                        </p:tgtEl>
                                        <p:attrNameLst>
                                          <p:attrName>style.rotation</p:attrName>
                                        </p:attrNameLst>
                                      </p:cBhvr>
                                      <p:tavLst>
                                        <p:tav tm="0">
                                          <p:val>
                                            <p:fltVal val="360"/>
                                          </p:val>
                                        </p:tav>
                                        <p:tav tm="100000">
                                          <p:val>
                                            <p:fltVal val="0"/>
                                          </p:val>
                                        </p:tav>
                                      </p:tavLst>
                                    </p:anim>
                                    <p:animEffect transition="in" filter="fade">
                                      <p:cBhvr>
                                        <p:cTn id="42" dur="500"/>
                                        <p:tgtEl>
                                          <p:spTgt spid="5">
                                            <p:txEl>
                                              <p:pRg st="4" end="4"/>
                                            </p:txEl>
                                          </p:spTgt>
                                        </p:tgtEl>
                                      </p:cBhvr>
                                    </p:animEffect>
                                  </p:childTnLst>
                                </p:cTn>
                              </p:par>
                              <p:par>
                                <p:cTn id="43" presetID="49" presetClass="entr" presetSubtype="0" decel="100000" fill="hold" nodeType="withEffect">
                                  <p:stCondLst>
                                    <p:cond delay="0"/>
                                  </p:stCondLst>
                                  <p:childTnLst>
                                    <p:set>
                                      <p:cBhvr>
                                        <p:cTn id="44" dur="1" fill="hold">
                                          <p:stCondLst>
                                            <p:cond delay="0"/>
                                          </p:stCondLst>
                                        </p:cTn>
                                        <p:tgtEl>
                                          <p:spTgt spid="5">
                                            <p:txEl>
                                              <p:pRg st="5" end="5"/>
                                            </p:txEl>
                                          </p:spTgt>
                                        </p:tgtEl>
                                        <p:attrNameLst>
                                          <p:attrName>style.visibility</p:attrName>
                                        </p:attrNameLst>
                                      </p:cBhvr>
                                      <p:to>
                                        <p:strVal val="visible"/>
                                      </p:to>
                                    </p:set>
                                    <p:anim calcmode="lin" valueType="num">
                                      <p:cBhvr>
                                        <p:cTn id="45" dur="500" fill="hold"/>
                                        <p:tgtEl>
                                          <p:spTgt spid="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5">
                                            <p:txEl>
                                              <p:pRg st="5" end="5"/>
                                            </p:txEl>
                                          </p:spTgt>
                                        </p:tgtEl>
                                        <p:attrNameLst>
                                          <p:attrName>ppt_h</p:attrName>
                                        </p:attrNameLst>
                                      </p:cBhvr>
                                      <p:tavLst>
                                        <p:tav tm="0">
                                          <p:val>
                                            <p:fltVal val="0"/>
                                          </p:val>
                                        </p:tav>
                                        <p:tav tm="100000">
                                          <p:val>
                                            <p:strVal val="#ppt_h"/>
                                          </p:val>
                                        </p:tav>
                                      </p:tavLst>
                                    </p:anim>
                                    <p:anim calcmode="lin" valueType="num">
                                      <p:cBhvr>
                                        <p:cTn id="47" dur="500" fill="hold"/>
                                        <p:tgtEl>
                                          <p:spTgt spid="5">
                                            <p:txEl>
                                              <p:pRg st="5" end="5"/>
                                            </p:txEl>
                                          </p:spTgt>
                                        </p:tgtEl>
                                        <p:attrNameLst>
                                          <p:attrName>style.rotation</p:attrName>
                                        </p:attrNameLst>
                                      </p:cBhvr>
                                      <p:tavLst>
                                        <p:tav tm="0">
                                          <p:val>
                                            <p:fltVal val="360"/>
                                          </p:val>
                                        </p:tav>
                                        <p:tav tm="100000">
                                          <p:val>
                                            <p:fltVal val="0"/>
                                          </p:val>
                                        </p:tav>
                                      </p:tavLst>
                                    </p:anim>
                                    <p:animEffect transition="in" filter="fade">
                                      <p:cBhvr>
                                        <p:cTn id="48"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82880"/>
            <a:ext cx="8503920" cy="777240"/>
          </a:xfrm>
          <a:prstGeom prst="rect">
            <a:avLst/>
          </a:prstGeom>
          <a:noFill/>
          <a:ln/>
        </p:spPr>
        <p:txBody>
          <a:bodyPr wrap="square" rtlCol="0" anchor="ctr"/>
          <a:lstStyle/>
          <a:p>
            <a:pPr marL="0" indent="0">
              <a:buNone/>
            </a:pPr>
            <a:r>
              <a:rPr lang="en-US" sz="4400" dirty="0">
                <a:solidFill>
                  <a:srgbClr val="1A1A2E"/>
                </a:solidFill>
                <a:latin typeface="Calibri" pitchFamily="34" charset="0"/>
                <a:ea typeface="Calibri" pitchFamily="34" charset="-122"/>
                <a:cs typeface="Calibri" pitchFamily="34" charset="-120"/>
              </a:rPr>
              <a:t>What we accomplished</a:t>
            </a:r>
            <a:endParaRPr lang="en-US" sz="4400" dirty="0"/>
          </a:p>
        </p:txBody>
      </p:sp>
      <p:sp>
        <p:nvSpPr>
          <p:cNvPr id="5" name="Shape 3"/>
          <p:cNvSpPr/>
          <p:nvPr/>
        </p:nvSpPr>
        <p:spPr>
          <a:xfrm>
            <a:off x="274320" y="1051560"/>
            <a:ext cx="8595360" cy="512064"/>
          </a:xfrm>
          <a:prstGeom prst="rect">
            <a:avLst/>
          </a:prstGeom>
          <a:solidFill>
            <a:srgbClr val="FDE8ED"/>
          </a:solidFill>
          <a:ln w="12700">
            <a:solidFill>
              <a:srgbClr val="E8456A"/>
            </a:solidFill>
            <a:prstDash val="solid"/>
          </a:ln>
        </p:spPr>
        <p:txBody>
          <a:bodyPr/>
          <a:lstStyle/>
          <a:p>
            <a:endParaRPr lang="en-US"/>
          </a:p>
        </p:txBody>
      </p:sp>
      <p:sp>
        <p:nvSpPr>
          <p:cNvPr id="6" name="Shape 4"/>
          <p:cNvSpPr/>
          <p:nvPr/>
        </p:nvSpPr>
        <p:spPr>
          <a:xfrm>
            <a:off x="274320" y="1051560"/>
            <a:ext cx="822960" cy="512064"/>
          </a:xfrm>
          <a:prstGeom prst="rect">
            <a:avLst/>
          </a:prstGeom>
          <a:solidFill>
            <a:srgbClr val="E8456A"/>
          </a:solidFill>
          <a:ln w="12700">
            <a:solidFill>
              <a:srgbClr val="E8456A"/>
            </a:solidFill>
            <a:prstDash val="solid"/>
          </a:ln>
        </p:spPr>
        <p:txBody>
          <a:bodyPr/>
          <a:lstStyle/>
          <a:p>
            <a:endParaRPr lang="en-US"/>
          </a:p>
        </p:txBody>
      </p:sp>
      <p:sp>
        <p:nvSpPr>
          <p:cNvPr id="7" name="Text 5"/>
          <p:cNvSpPr/>
          <p:nvPr/>
        </p:nvSpPr>
        <p:spPr>
          <a:xfrm>
            <a:off x="274320" y="1170432"/>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Chyna</a:t>
            </a:r>
            <a:endParaRPr lang="en-US" sz="1200" dirty="0"/>
          </a:p>
        </p:txBody>
      </p:sp>
      <p:sp>
        <p:nvSpPr>
          <p:cNvPr id="8" name="Text 6"/>
          <p:cNvSpPr/>
          <p:nvPr/>
        </p:nvSpPr>
        <p:spPr>
          <a:xfrm>
            <a:off x="1234440" y="1143000"/>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PostgreSQL schema — 2 staging, 3 dimension, 2 fact tables with PKs, FKs &amp; indexes</a:t>
            </a:r>
            <a:endParaRPr lang="en-US" sz="1400" dirty="0"/>
          </a:p>
        </p:txBody>
      </p:sp>
      <p:sp>
        <p:nvSpPr>
          <p:cNvPr id="9" name="Shape 7"/>
          <p:cNvSpPr/>
          <p:nvPr/>
        </p:nvSpPr>
        <p:spPr>
          <a:xfrm>
            <a:off x="274320" y="1664208"/>
            <a:ext cx="8595360" cy="512064"/>
          </a:xfrm>
          <a:prstGeom prst="rect">
            <a:avLst/>
          </a:prstGeom>
          <a:solidFill>
            <a:srgbClr val="FDE8ED"/>
          </a:solidFill>
          <a:ln w="12700">
            <a:solidFill>
              <a:srgbClr val="E8456A"/>
            </a:solidFill>
            <a:prstDash val="solid"/>
          </a:ln>
        </p:spPr>
        <p:txBody>
          <a:bodyPr/>
          <a:lstStyle/>
          <a:p>
            <a:endParaRPr lang="en-US"/>
          </a:p>
        </p:txBody>
      </p:sp>
      <p:sp>
        <p:nvSpPr>
          <p:cNvPr id="10" name="Shape 8"/>
          <p:cNvSpPr/>
          <p:nvPr/>
        </p:nvSpPr>
        <p:spPr>
          <a:xfrm>
            <a:off x="274320" y="1664208"/>
            <a:ext cx="822960" cy="512064"/>
          </a:xfrm>
          <a:prstGeom prst="rect">
            <a:avLst/>
          </a:prstGeom>
          <a:solidFill>
            <a:srgbClr val="E8456A"/>
          </a:solidFill>
          <a:ln w="12700">
            <a:solidFill>
              <a:srgbClr val="E8456A"/>
            </a:solidFill>
            <a:prstDash val="solid"/>
          </a:ln>
        </p:spPr>
        <p:txBody>
          <a:bodyPr/>
          <a:lstStyle/>
          <a:p>
            <a:endParaRPr lang="en-US"/>
          </a:p>
        </p:txBody>
      </p:sp>
      <p:sp>
        <p:nvSpPr>
          <p:cNvPr id="11" name="Text 9"/>
          <p:cNvSpPr/>
          <p:nvPr/>
        </p:nvSpPr>
        <p:spPr>
          <a:xfrm>
            <a:off x="274320" y="1783080"/>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Chyna</a:t>
            </a:r>
            <a:endParaRPr lang="en-US" sz="1200" dirty="0"/>
          </a:p>
        </p:txBody>
      </p:sp>
      <p:sp>
        <p:nvSpPr>
          <p:cNvPr id="12" name="Text 10"/>
          <p:cNvSpPr/>
          <p:nvPr/>
        </p:nvSpPr>
        <p:spPr>
          <a:xfrm>
            <a:off x="1234440" y="1755648"/>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Loaded calendar.csv (1,969 rows) and sell_prices.csv (6.8M rows) into staging tables</a:t>
            </a:r>
            <a:endParaRPr lang="en-US" sz="1400" dirty="0"/>
          </a:p>
        </p:txBody>
      </p:sp>
      <p:sp>
        <p:nvSpPr>
          <p:cNvPr id="13" name="Shape 11"/>
          <p:cNvSpPr/>
          <p:nvPr/>
        </p:nvSpPr>
        <p:spPr>
          <a:xfrm>
            <a:off x="274320" y="2276856"/>
            <a:ext cx="8595360" cy="512064"/>
          </a:xfrm>
          <a:prstGeom prst="rect">
            <a:avLst/>
          </a:prstGeom>
          <a:solidFill>
            <a:srgbClr val="FDE8ED"/>
          </a:solidFill>
          <a:ln w="12700">
            <a:solidFill>
              <a:srgbClr val="E8456A"/>
            </a:solidFill>
            <a:prstDash val="solid"/>
          </a:ln>
        </p:spPr>
        <p:txBody>
          <a:bodyPr/>
          <a:lstStyle/>
          <a:p>
            <a:endParaRPr lang="en-US"/>
          </a:p>
        </p:txBody>
      </p:sp>
      <p:sp>
        <p:nvSpPr>
          <p:cNvPr id="14" name="Shape 12"/>
          <p:cNvSpPr/>
          <p:nvPr/>
        </p:nvSpPr>
        <p:spPr>
          <a:xfrm>
            <a:off x="274320" y="2276856"/>
            <a:ext cx="822960" cy="512064"/>
          </a:xfrm>
          <a:prstGeom prst="rect">
            <a:avLst/>
          </a:prstGeom>
          <a:solidFill>
            <a:srgbClr val="E8456A"/>
          </a:solidFill>
          <a:ln w="12700">
            <a:solidFill>
              <a:srgbClr val="E8456A"/>
            </a:solidFill>
            <a:prstDash val="solid"/>
          </a:ln>
        </p:spPr>
        <p:txBody>
          <a:bodyPr/>
          <a:lstStyle/>
          <a:p>
            <a:endParaRPr lang="en-US"/>
          </a:p>
        </p:txBody>
      </p:sp>
      <p:sp>
        <p:nvSpPr>
          <p:cNvPr id="15" name="Text 13"/>
          <p:cNvSpPr/>
          <p:nvPr/>
        </p:nvSpPr>
        <p:spPr>
          <a:xfrm>
            <a:off x="274320" y="2395728"/>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Chyna</a:t>
            </a:r>
            <a:endParaRPr lang="en-US" sz="1200" dirty="0"/>
          </a:p>
        </p:txBody>
      </p:sp>
      <p:sp>
        <p:nvSpPr>
          <p:cNvPr id="16" name="Text 14"/>
          <p:cNvSpPr/>
          <p:nvPr/>
        </p:nvSpPr>
        <p:spPr>
          <a:xfrm>
            <a:off x="1234440" y="2368296"/>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Python ETL script — unpivoted and loaded 58,327,370 rows into fact_sales_daily</a:t>
            </a:r>
            <a:endParaRPr lang="en-US" sz="1400" dirty="0"/>
          </a:p>
        </p:txBody>
      </p:sp>
      <p:sp>
        <p:nvSpPr>
          <p:cNvPr id="17" name="Shape 15"/>
          <p:cNvSpPr/>
          <p:nvPr/>
        </p:nvSpPr>
        <p:spPr>
          <a:xfrm>
            <a:off x="274320" y="2889504"/>
            <a:ext cx="8595360" cy="512064"/>
          </a:xfrm>
          <a:prstGeom prst="rect">
            <a:avLst/>
          </a:prstGeom>
          <a:solidFill>
            <a:srgbClr val="E8F4F7"/>
          </a:solidFill>
          <a:ln w="12700">
            <a:solidFill>
              <a:srgbClr val="1B6B7B"/>
            </a:solidFill>
            <a:prstDash val="solid"/>
          </a:ln>
        </p:spPr>
        <p:txBody>
          <a:bodyPr/>
          <a:lstStyle/>
          <a:p>
            <a:endParaRPr lang="en-US"/>
          </a:p>
        </p:txBody>
      </p:sp>
      <p:sp>
        <p:nvSpPr>
          <p:cNvPr id="18" name="Shape 16"/>
          <p:cNvSpPr/>
          <p:nvPr/>
        </p:nvSpPr>
        <p:spPr>
          <a:xfrm>
            <a:off x="274320" y="2889504"/>
            <a:ext cx="822960" cy="512064"/>
          </a:xfrm>
          <a:prstGeom prst="rect">
            <a:avLst/>
          </a:prstGeom>
          <a:solidFill>
            <a:srgbClr val="1B6B7B"/>
          </a:solidFill>
          <a:ln w="12700">
            <a:solidFill>
              <a:srgbClr val="1B6B7B"/>
            </a:solidFill>
            <a:prstDash val="solid"/>
          </a:ln>
        </p:spPr>
        <p:txBody>
          <a:bodyPr/>
          <a:lstStyle/>
          <a:p>
            <a:endParaRPr lang="en-US"/>
          </a:p>
        </p:txBody>
      </p:sp>
      <p:sp>
        <p:nvSpPr>
          <p:cNvPr id="19" name="Text 17"/>
          <p:cNvSpPr/>
          <p:nvPr/>
        </p:nvSpPr>
        <p:spPr>
          <a:xfrm>
            <a:off x="274320" y="3008376"/>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Yanet</a:t>
            </a:r>
            <a:endParaRPr lang="en-US" sz="1200" dirty="0"/>
          </a:p>
        </p:txBody>
      </p:sp>
      <p:sp>
        <p:nvSpPr>
          <p:cNvPr id="20" name="Text 18"/>
          <p:cNvSpPr/>
          <p:nvPr/>
        </p:nvSpPr>
        <p:spPr>
          <a:xfrm>
            <a:off x="1234440" y="2980944"/>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Profiled all 3 raw CSV files — verified row counts, column counts, and file sizes</a:t>
            </a:r>
            <a:endParaRPr lang="en-US" sz="1400" dirty="0"/>
          </a:p>
        </p:txBody>
      </p:sp>
      <p:sp>
        <p:nvSpPr>
          <p:cNvPr id="21" name="Shape 19"/>
          <p:cNvSpPr/>
          <p:nvPr/>
        </p:nvSpPr>
        <p:spPr>
          <a:xfrm>
            <a:off x="274320" y="3502152"/>
            <a:ext cx="8595360" cy="512064"/>
          </a:xfrm>
          <a:prstGeom prst="rect">
            <a:avLst/>
          </a:prstGeom>
          <a:solidFill>
            <a:srgbClr val="E8F4F7"/>
          </a:solidFill>
          <a:ln w="12700">
            <a:solidFill>
              <a:srgbClr val="1B6B7B"/>
            </a:solidFill>
            <a:prstDash val="solid"/>
          </a:ln>
        </p:spPr>
        <p:txBody>
          <a:bodyPr/>
          <a:lstStyle/>
          <a:p>
            <a:endParaRPr lang="en-US"/>
          </a:p>
        </p:txBody>
      </p:sp>
      <p:sp>
        <p:nvSpPr>
          <p:cNvPr id="22" name="Shape 20"/>
          <p:cNvSpPr/>
          <p:nvPr/>
        </p:nvSpPr>
        <p:spPr>
          <a:xfrm>
            <a:off x="274320" y="3502152"/>
            <a:ext cx="822960" cy="512064"/>
          </a:xfrm>
          <a:prstGeom prst="rect">
            <a:avLst/>
          </a:prstGeom>
          <a:solidFill>
            <a:srgbClr val="1B6B7B"/>
          </a:solidFill>
          <a:ln w="12700">
            <a:solidFill>
              <a:srgbClr val="1B6B7B"/>
            </a:solidFill>
            <a:prstDash val="solid"/>
          </a:ln>
        </p:spPr>
        <p:txBody>
          <a:bodyPr/>
          <a:lstStyle/>
          <a:p>
            <a:endParaRPr lang="en-US"/>
          </a:p>
        </p:txBody>
      </p:sp>
      <p:sp>
        <p:nvSpPr>
          <p:cNvPr id="23" name="Text 21"/>
          <p:cNvSpPr/>
          <p:nvPr/>
        </p:nvSpPr>
        <p:spPr>
          <a:xfrm>
            <a:off x="274320" y="3621024"/>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Yanet</a:t>
            </a:r>
            <a:endParaRPr lang="en-US" sz="1200" dirty="0"/>
          </a:p>
        </p:txBody>
      </p:sp>
      <p:sp>
        <p:nvSpPr>
          <p:cNvPr id="24" name="Text 22"/>
          <p:cNvSpPr/>
          <p:nvPr/>
        </p:nvSpPr>
        <p:spPr>
          <a:xfrm>
            <a:off x="1234440" y="3593592"/>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Zero nulls, duplicates, negative values, or type mismatches found across all files</a:t>
            </a:r>
            <a:endParaRPr lang="en-US" sz="1400" dirty="0"/>
          </a:p>
        </p:txBody>
      </p:sp>
      <p:sp>
        <p:nvSpPr>
          <p:cNvPr id="25" name="Shape 23"/>
          <p:cNvSpPr/>
          <p:nvPr/>
        </p:nvSpPr>
        <p:spPr>
          <a:xfrm>
            <a:off x="274320" y="4114800"/>
            <a:ext cx="8595360" cy="512064"/>
          </a:xfrm>
          <a:prstGeom prst="rect">
            <a:avLst/>
          </a:prstGeom>
          <a:solidFill>
            <a:srgbClr val="E8F4F7"/>
          </a:solidFill>
          <a:ln w="12700">
            <a:solidFill>
              <a:srgbClr val="1B6B7B"/>
            </a:solidFill>
            <a:prstDash val="solid"/>
          </a:ln>
        </p:spPr>
        <p:txBody>
          <a:bodyPr/>
          <a:lstStyle/>
          <a:p>
            <a:endParaRPr lang="en-US"/>
          </a:p>
        </p:txBody>
      </p:sp>
      <p:sp>
        <p:nvSpPr>
          <p:cNvPr id="26" name="Shape 24"/>
          <p:cNvSpPr/>
          <p:nvPr/>
        </p:nvSpPr>
        <p:spPr>
          <a:xfrm>
            <a:off x="274320" y="4114800"/>
            <a:ext cx="822960" cy="512064"/>
          </a:xfrm>
          <a:prstGeom prst="rect">
            <a:avLst/>
          </a:prstGeom>
          <a:solidFill>
            <a:srgbClr val="1B6B7B"/>
          </a:solidFill>
          <a:ln w="12700">
            <a:solidFill>
              <a:srgbClr val="1B6B7B"/>
            </a:solidFill>
            <a:prstDash val="solid"/>
          </a:ln>
        </p:spPr>
        <p:txBody>
          <a:bodyPr/>
          <a:lstStyle/>
          <a:p>
            <a:endParaRPr lang="en-US"/>
          </a:p>
        </p:txBody>
      </p:sp>
      <p:sp>
        <p:nvSpPr>
          <p:cNvPr id="27" name="Text 25"/>
          <p:cNvSpPr/>
          <p:nvPr/>
        </p:nvSpPr>
        <p:spPr>
          <a:xfrm>
            <a:off x="274320" y="4233672"/>
            <a:ext cx="82296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Yanet</a:t>
            </a:r>
            <a:endParaRPr lang="en-US" sz="1200" dirty="0"/>
          </a:p>
        </p:txBody>
      </p:sp>
      <p:sp>
        <p:nvSpPr>
          <p:cNvPr id="28" name="Text 26"/>
          <p:cNvSpPr/>
          <p:nvPr/>
        </p:nvSpPr>
        <p:spPr>
          <a:xfrm>
            <a:off x="1234440" y="4206240"/>
            <a:ext cx="7543800" cy="329184"/>
          </a:xfrm>
          <a:prstGeom prst="rect">
            <a:avLst/>
          </a:prstGeom>
          <a:noFill/>
          <a:ln/>
        </p:spPr>
        <p:txBody>
          <a:bodyPr wrap="square" lIns="0" tIns="0" rIns="0" bIns="0" rtlCol="0" anchor="ctr"/>
          <a:lstStyle/>
          <a:p>
            <a:pPr marL="0" indent="0">
              <a:buNone/>
            </a:pPr>
            <a:r>
              <a:rPr lang="en-US" sz="1400" dirty="0">
                <a:solidFill>
                  <a:srgbClr val="1A1A2E"/>
                </a:solidFill>
                <a:latin typeface="Calibri" pitchFamily="34" charset="0"/>
                <a:ea typeface="Calibri" pitchFamily="34" charset="-122"/>
                <a:cs typeface="Calibri" pitchFamily="34" charset="-120"/>
              </a:rPr>
              <a:t>Updated data dictionary in GitHub with all 6 key column definitions</a:t>
            </a:r>
            <a:endParaRPr lang="en-US" sz="1400" dirty="0"/>
          </a:p>
        </p:txBody>
      </p:sp>
      <p:sp>
        <p:nvSpPr>
          <p:cNvPr id="29" name="Text 27"/>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4</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p:tgtEl>
                                          <p:spTgt spid="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F5F7"/>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58368"/>
          </a:xfrm>
          <a:prstGeom prst="rect">
            <a:avLst/>
          </a:prstGeom>
          <a:noFill/>
          <a:ln/>
        </p:spPr>
        <p:txBody>
          <a:bodyPr wrap="square" rtlCol="0" anchor="ctr"/>
          <a:lstStyle/>
          <a:p>
            <a:pPr marL="0" indent="0">
              <a:buNone/>
            </a:pPr>
            <a:r>
              <a:rPr lang="en-US" sz="3400" b="1" dirty="0">
                <a:latin typeface="Calibri" pitchFamily="34" charset="0"/>
                <a:ea typeface="Calibri" pitchFamily="34" charset="-122"/>
                <a:cs typeface="Calibri" pitchFamily="34" charset="-120"/>
              </a:rPr>
              <a:t>Star Schema Design</a:t>
            </a:r>
            <a:endParaRPr lang="en-US" sz="3400" b="1" dirty="0"/>
          </a:p>
        </p:txBody>
      </p:sp>
      <p:sp>
        <p:nvSpPr>
          <p:cNvPr id="5" name="Text 3"/>
          <p:cNvSpPr/>
          <p:nvPr/>
        </p:nvSpPr>
        <p:spPr>
          <a:xfrm>
            <a:off x="320040" y="749808"/>
            <a:ext cx="8503920" cy="292608"/>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Chyna  —  5 tables, 2 facts, 3 dimensions</a:t>
            </a:r>
            <a:endParaRPr lang="en-US" sz="1300" dirty="0"/>
          </a:p>
        </p:txBody>
      </p:sp>
      <p:sp>
        <p:nvSpPr>
          <p:cNvPr id="6" name="Shape 4"/>
          <p:cNvSpPr/>
          <p:nvPr/>
        </p:nvSpPr>
        <p:spPr>
          <a:xfrm>
            <a:off x="228600" y="1143000"/>
            <a:ext cx="2148840" cy="3566160"/>
          </a:xfrm>
          <a:prstGeom prst="rect">
            <a:avLst/>
          </a:prstGeom>
          <a:solidFill>
            <a:srgbClr val="FFFFFF"/>
          </a:solidFill>
          <a:ln w="25400">
            <a:solidFill>
              <a:srgbClr val="1B6B7B"/>
            </a:solidFill>
            <a:prstDash val="solid"/>
          </a:ln>
        </p:spPr>
        <p:txBody>
          <a:bodyPr/>
          <a:lstStyle/>
          <a:p>
            <a:endParaRPr lang="en-US"/>
          </a:p>
        </p:txBody>
      </p:sp>
      <p:sp>
        <p:nvSpPr>
          <p:cNvPr id="7" name="Shape 5"/>
          <p:cNvSpPr/>
          <p:nvPr/>
        </p:nvSpPr>
        <p:spPr>
          <a:xfrm>
            <a:off x="228600" y="1143000"/>
            <a:ext cx="2148840" cy="457200"/>
          </a:xfrm>
          <a:prstGeom prst="rect">
            <a:avLst/>
          </a:prstGeom>
          <a:solidFill>
            <a:srgbClr val="1B6B7B"/>
          </a:solidFill>
          <a:ln w="12700">
            <a:solidFill>
              <a:srgbClr val="1B6B7B"/>
            </a:solidFill>
            <a:prstDash val="solid"/>
          </a:ln>
        </p:spPr>
        <p:txBody>
          <a:bodyPr/>
          <a:lstStyle/>
          <a:p>
            <a:endParaRPr lang="en-US"/>
          </a:p>
        </p:txBody>
      </p:sp>
      <p:sp>
        <p:nvSpPr>
          <p:cNvPr id="8" name="Text 6"/>
          <p:cNvSpPr/>
          <p:nvPr/>
        </p:nvSpPr>
        <p:spPr>
          <a:xfrm>
            <a:off x="228600" y="1143000"/>
            <a:ext cx="21488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dim_date</a:t>
            </a:r>
            <a:endParaRPr lang="en-US" sz="1400" dirty="0"/>
          </a:p>
        </p:txBody>
      </p:sp>
      <p:sp>
        <p:nvSpPr>
          <p:cNvPr id="9" name="Text 7"/>
          <p:cNvSpPr/>
          <p:nvPr/>
        </p:nvSpPr>
        <p:spPr>
          <a:xfrm>
            <a:off x="320040" y="1664208"/>
            <a:ext cx="1920240" cy="2926080"/>
          </a:xfrm>
          <a:prstGeom prst="rect">
            <a:avLst/>
          </a:prstGeom>
          <a:noFill/>
          <a:ln/>
        </p:spPr>
        <p:txBody>
          <a:bodyPr wrap="square" rtlCol="0" anchor="ctr"/>
          <a:lstStyle/>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PK  d</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date</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wm_yr_wk</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weekday</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month / year</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event_name_1</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event_type_1</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snap_CA</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snap_TX</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snap_WI</a:t>
            </a:r>
            <a:endParaRPr lang="en-US" sz="1200" dirty="0"/>
          </a:p>
        </p:txBody>
      </p:sp>
      <p:sp>
        <p:nvSpPr>
          <p:cNvPr id="10" name="Shape 8"/>
          <p:cNvSpPr/>
          <p:nvPr/>
        </p:nvSpPr>
        <p:spPr>
          <a:xfrm>
            <a:off x="3200400" y="1143000"/>
            <a:ext cx="2743200" cy="1920240"/>
          </a:xfrm>
          <a:prstGeom prst="rect">
            <a:avLst/>
          </a:prstGeom>
          <a:solidFill>
            <a:srgbClr val="FFF8E1"/>
          </a:solidFill>
          <a:ln w="31750">
            <a:solidFill>
              <a:srgbClr val="E6A817"/>
            </a:solidFill>
            <a:prstDash val="solid"/>
          </a:ln>
        </p:spPr>
        <p:txBody>
          <a:bodyPr/>
          <a:lstStyle/>
          <a:p>
            <a:endParaRPr lang="en-US"/>
          </a:p>
        </p:txBody>
      </p:sp>
      <p:sp>
        <p:nvSpPr>
          <p:cNvPr id="11" name="Shape 9"/>
          <p:cNvSpPr/>
          <p:nvPr/>
        </p:nvSpPr>
        <p:spPr>
          <a:xfrm>
            <a:off x="3200400" y="1143000"/>
            <a:ext cx="2743200" cy="457200"/>
          </a:xfrm>
          <a:prstGeom prst="rect">
            <a:avLst/>
          </a:prstGeom>
          <a:solidFill>
            <a:srgbClr val="E6A817"/>
          </a:solidFill>
          <a:ln w="12700">
            <a:solidFill>
              <a:srgbClr val="E6A817"/>
            </a:solidFill>
            <a:prstDash val="solid"/>
          </a:ln>
        </p:spPr>
        <p:txBody>
          <a:bodyPr/>
          <a:lstStyle/>
          <a:p>
            <a:endParaRPr lang="en-US"/>
          </a:p>
        </p:txBody>
      </p:sp>
      <p:sp>
        <p:nvSpPr>
          <p:cNvPr id="12" name="Text 10"/>
          <p:cNvSpPr/>
          <p:nvPr/>
        </p:nvSpPr>
        <p:spPr>
          <a:xfrm>
            <a:off x="3200400" y="1143000"/>
            <a:ext cx="2743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fact_sales_daily</a:t>
            </a:r>
            <a:endParaRPr lang="en-US" sz="1400" dirty="0"/>
          </a:p>
        </p:txBody>
      </p:sp>
      <p:sp>
        <p:nvSpPr>
          <p:cNvPr id="13" name="Text 11"/>
          <p:cNvSpPr/>
          <p:nvPr/>
        </p:nvSpPr>
        <p:spPr>
          <a:xfrm>
            <a:off x="3310128" y="1664208"/>
            <a:ext cx="2523744" cy="1298448"/>
          </a:xfrm>
          <a:prstGeom prst="rect">
            <a:avLst/>
          </a:prstGeom>
          <a:noFill/>
          <a:ln/>
        </p:spPr>
        <p:txBody>
          <a:bodyPr wrap="square" rtlCol="0" anchor="ctr"/>
          <a:lstStyle/>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PK  item_id + store_id + d</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FK → dim_item</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FK → dim_store</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FK → dim_date</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units_sold ≥ 0</a:t>
            </a:r>
            <a:endParaRPr lang="en-US" sz="1200" dirty="0"/>
          </a:p>
        </p:txBody>
      </p:sp>
      <p:sp>
        <p:nvSpPr>
          <p:cNvPr id="14" name="Shape 12"/>
          <p:cNvSpPr/>
          <p:nvPr/>
        </p:nvSpPr>
        <p:spPr>
          <a:xfrm>
            <a:off x="3200400" y="3246120"/>
            <a:ext cx="2743200" cy="1554480"/>
          </a:xfrm>
          <a:prstGeom prst="rect">
            <a:avLst/>
          </a:prstGeom>
          <a:solidFill>
            <a:srgbClr val="FFF8E1"/>
          </a:solidFill>
          <a:ln w="31750">
            <a:solidFill>
              <a:srgbClr val="E6A817"/>
            </a:solidFill>
            <a:prstDash val="solid"/>
          </a:ln>
        </p:spPr>
        <p:txBody>
          <a:bodyPr/>
          <a:lstStyle/>
          <a:p>
            <a:endParaRPr lang="en-US"/>
          </a:p>
        </p:txBody>
      </p:sp>
      <p:sp>
        <p:nvSpPr>
          <p:cNvPr id="15" name="Shape 13"/>
          <p:cNvSpPr/>
          <p:nvPr/>
        </p:nvSpPr>
        <p:spPr>
          <a:xfrm>
            <a:off x="3200400" y="3246120"/>
            <a:ext cx="2743200" cy="457200"/>
          </a:xfrm>
          <a:prstGeom prst="rect">
            <a:avLst/>
          </a:prstGeom>
          <a:solidFill>
            <a:srgbClr val="E6A817"/>
          </a:solidFill>
          <a:ln w="12700">
            <a:solidFill>
              <a:srgbClr val="E6A817"/>
            </a:solidFill>
            <a:prstDash val="solid"/>
          </a:ln>
        </p:spPr>
        <p:txBody>
          <a:bodyPr/>
          <a:lstStyle/>
          <a:p>
            <a:endParaRPr lang="en-US"/>
          </a:p>
        </p:txBody>
      </p:sp>
      <p:sp>
        <p:nvSpPr>
          <p:cNvPr id="16" name="Text 14"/>
          <p:cNvSpPr/>
          <p:nvPr/>
        </p:nvSpPr>
        <p:spPr>
          <a:xfrm>
            <a:off x="3200400" y="3246120"/>
            <a:ext cx="2743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fact_price_weekly</a:t>
            </a:r>
            <a:endParaRPr lang="en-US" sz="1400" dirty="0"/>
          </a:p>
        </p:txBody>
      </p:sp>
      <p:sp>
        <p:nvSpPr>
          <p:cNvPr id="17" name="Text 15"/>
          <p:cNvSpPr/>
          <p:nvPr/>
        </p:nvSpPr>
        <p:spPr>
          <a:xfrm>
            <a:off x="3310128" y="3767328"/>
            <a:ext cx="2523744" cy="914400"/>
          </a:xfrm>
          <a:prstGeom prst="rect">
            <a:avLst/>
          </a:prstGeom>
          <a:noFill/>
          <a:ln/>
        </p:spPr>
        <p:txBody>
          <a:bodyPr wrap="square" rtlCol="0" anchor="ctr"/>
          <a:lstStyle/>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PK  item_id + store_id + wm_yr_wk</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FK → dim_item  •  FK → dim_store</a:t>
            </a:r>
            <a:endParaRPr lang="en-US" sz="1200" dirty="0"/>
          </a:p>
          <a:p>
            <a:pPr marL="0" indent="0">
              <a:spcAft>
                <a:spcPts val="300"/>
              </a:spcAft>
              <a:buNone/>
            </a:pPr>
            <a:r>
              <a:rPr lang="en-US" sz="1200" dirty="0">
                <a:solidFill>
                  <a:srgbClr val="1A1A2E"/>
                </a:solidFill>
                <a:latin typeface="Calibri" pitchFamily="34" charset="0"/>
                <a:ea typeface="Calibri" pitchFamily="34" charset="-122"/>
                <a:cs typeface="Calibri" pitchFamily="34" charset="-120"/>
              </a:rPr>
              <a:t>sell_price &gt; 0</a:t>
            </a:r>
            <a:endParaRPr lang="en-US" sz="1200" dirty="0"/>
          </a:p>
        </p:txBody>
      </p:sp>
      <p:sp>
        <p:nvSpPr>
          <p:cNvPr id="18" name="Shape 16"/>
          <p:cNvSpPr/>
          <p:nvPr/>
        </p:nvSpPr>
        <p:spPr>
          <a:xfrm>
            <a:off x="6766560" y="1143000"/>
            <a:ext cx="2148840" cy="1554480"/>
          </a:xfrm>
          <a:prstGeom prst="rect">
            <a:avLst/>
          </a:prstGeom>
          <a:solidFill>
            <a:srgbClr val="FFFFFF"/>
          </a:solidFill>
          <a:ln w="25400">
            <a:solidFill>
              <a:srgbClr val="1B6B7B"/>
            </a:solidFill>
            <a:prstDash val="solid"/>
          </a:ln>
        </p:spPr>
        <p:txBody>
          <a:bodyPr/>
          <a:lstStyle/>
          <a:p>
            <a:endParaRPr lang="en-US"/>
          </a:p>
        </p:txBody>
      </p:sp>
      <p:sp>
        <p:nvSpPr>
          <p:cNvPr id="19" name="Shape 17"/>
          <p:cNvSpPr/>
          <p:nvPr/>
        </p:nvSpPr>
        <p:spPr>
          <a:xfrm>
            <a:off x="6766560" y="1143000"/>
            <a:ext cx="2148840" cy="457200"/>
          </a:xfrm>
          <a:prstGeom prst="rect">
            <a:avLst/>
          </a:prstGeom>
          <a:solidFill>
            <a:srgbClr val="1B6B7B"/>
          </a:solidFill>
          <a:ln w="12700">
            <a:solidFill>
              <a:srgbClr val="1B6B7B"/>
            </a:solidFill>
            <a:prstDash val="solid"/>
          </a:ln>
        </p:spPr>
        <p:txBody>
          <a:bodyPr/>
          <a:lstStyle/>
          <a:p>
            <a:endParaRPr lang="en-US"/>
          </a:p>
        </p:txBody>
      </p:sp>
      <p:sp>
        <p:nvSpPr>
          <p:cNvPr id="20" name="Text 18"/>
          <p:cNvSpPr/>
          <p:nvPr/>
        </p:nvSpPr>
        <p:spPr>
          <a:xfrm>
            <a:off x="6766560" y="1143000"/>
            <a:ext cx="21488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dim_item</a:t>
            </a:r>
            <a:endParaRPr lang="en-US" sz="1400" dirty="0"/>
          </a:p>
        </p:txBody>
      </p:sp>
      <p:sp>
        <p:nvSpPr>
          <p:cNvPr id="21" name="Text 19"/>
          <p:cNvSpPr/>
          <p:nvPr/>
        </p:nvSpPr>
        <p:spPr>
          <a:xfrm>
            <a:off x="6876288" y="1664208"/>
            <a:ext cx="1920240" cy="914400"/>
          </a:xfrm>
          <a:prstGeom prst="rect">
            <a:avLst/>
          </a:prstGeom>
          <a:noFill/>
          <a:ln/>
        </p:spPr>
        <p:txBody>
          <a:bodyPr wrap="square"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PK  item_id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dept_id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cat_id</a:t>
            </a:r>
            <a:endParaRPr lang="en-US" sz="1200" dirty="0"/>
          </a:p>
        </p:txBody>
      </p:sp>
      <p:sp>
        <p:nvSpPr>
          <p:cNvPr id="22" name="Shape 20"/>
          <p:cNvSpPr/>
          <p:nvPr/>
        </p:nvSpPr>
        <p:spPr>
          <a:xfrm>
            <a:off x="6766560" y="2880360"/>
            <a:ext cx="2148840" cy="1371600"/>
          </a:xfrm>
          <a:prstGeom prst="rect">
            <a:avLst/>
          </a:prstGeom>
          <a:solidFill>
            <a:srgbClr val="FFFFFF"/>
          </a:solidFill>
          <a:ln w="25400">
            <a:solidFill>
              <a:srgbClr val="1B6B7B"/>
            </a:solidFill>
            <a:prstDash val="solid"/>
          </a:ln>
        </p:spPr>
        <p:txBody>
          <a:bodyPr/>
          <a:lstStyle/>
          <a:p>
            <a:endParaRPr lang="en-US"/>
          </a:p>
        </p:txBody>
      </p:sp>
      <p:sp>
        <p:nvSpPr>
          <p:cNvPr id="23" name="Shape 21"/>
          <p:cNvSpPr/>
          <p:nvPr/>
        </p:nvSpPr>
        <p:spPr>
          <a:xfrm>
            <a:off x="6766560" y="2880360"/>
            <a:ext cx="2148840" cy="457200"/>
          </a:xfrm>
          <a:prstGeom prst="rect">
            <a:avLst/>
          </a:prstGeom>
          <a:solidFill>
            <a:srgbClr val="1B6B7B"/>
          </a:solidFill>
          <a:ln w="12700">
            <a:solidFill>
              <a:srgbClr val="1B6B7B"/>
            </a:solidFill>
            <a:prstDash val="solid"/>
          </a:ln>
        </p:spPr>
        <p:txBody>
          <a:bodyPr/>
          <a:lstStyle/>
          <a:p>
            <a:endParaRPr lang="en-US"/>
          </a:p>
        </p:txBody>
      </p:sp>
      <p:sp>
        <p:nvSpPr>
          <p:cNvPr id="24" name="Text 22"/>
          <p:cNvSpPr/>
          <p:nvPr/>
        </p:nvSpPr>
        <p:spPr>
          <a:xfrm>
            <a:off x="6766560" y="2880360"/>
            <a:ext cx="214884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dim_store</a:t>
            </a:r>
            <a:endParaRPr lang="en-US" sz="1400" dirty="0"/>
          </a:p>
        </p:txBody>
      </p:sp>
      <p:sp>
        <p:nvSpPr>
          <p:cNvPr id="25" name="Text 23"/>
          <p:cNvSpPr/>
          <p:nvPr/>
        </p:nvSpPr>
        <p:spPr>
          <a:xfrm>
            <a:off x="6876288" y="3401568"/>
            <a:ext cx="1920240" cy="749808"/>
          </a:xfrm>
          <a:prstGeom prst="rect">
            <a:avLst/>
          </a:prstGeom>
          <a:noFill/>
          <a:ln/>
        </p:spPr>
        <p:txBody>
          <a:bodyPr wrap="square" rtlCol="0" anchor="ctr"/>
          <a:lstStyle/>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PK  store_id</a:t>
            </a:r>
            <a:endParaRPr lang="en-US" sz="1200" dirty="0"/>
          </a:p>
          <a:p>
            <a:pPr marL="0" indent="0">
              <a:spcAft>
                <a:spcPts val="400"/>
              </a:spcAft>
              <a:buNone/>
            </a:pPr>
            <a:r>
              <a:rPr lang="en-US" sz="1200" dirty="0">
                <a:solidFill>
                  <a:srgbClr val="1A1A2E"/>
                </a:solidFill>
                <a:latin typeface="Calibri" pitchFamily="34" charset="0"/>
                <a:ea typeface="Calibri" pitchFamily="34" charset="-122"/>
                <a:cs typeface="Calibri" pitchFamily="34" charset="-120"/>
              </a:rPr>
              <a:t>state_id</a:t>
            </a:r>
            <a:endParaRPr lang="en-US" sz="1200" dirty="0"/>
          </a:p>
        </p:txBody>
      </p:sp>
      <p:sp>
        <p:nvSpPr>
          <p:cNvPr id="26" name="Shape 24"/>
          <p:cNvSpPr/>
          <p:nvPr/>
        </p:nvSpPr>
        <p:spPr>
          <a:xfrm>
            <a:off x="2395728" y="2286000"/>
            <a:ext cx="804672" cy="0"/>
          </a:xfrm>
          <a:prstGeom prst="line">
            <a:avLst/>
          </a:prstGeom>
          <a:noFill/>
          <a:ln w="19050">
            <a:solidFill>
              <a:srgbClr val="555555"/>
            </a:solidFill>
            <a:prstDash val="solid"/>
          </a:ln>
        </p:spPr>
        <p:txBody>
          <a:bodyPr/>
          <a:lstStyle/>
          <a:p>
            <a:endParaRPr lang="en-US"/>
          </a:p>
        </p:txBody>
      </p:sp>
      <p:sp>
        <p:nvSpPr>
          <p:cNvPr id="27" name="Shape 25"/>
          <p:cNvSpPr/>
          <p:nvPr/>
        </p:nvSpPr>
        <p:spPr>
          <a:xfrm>
            <a:off x="5943600" y="1828800"/>
            <a:ext cx="822960" cy="0"/>
          </a:xfrm>
          <a:prstGeom prst="line">
            <a:avLst/>
          </a:prstGeom>
          <a:noFill/>
          <a:ln w="19050">
            <a:solidFill>
              <a:srgbClr val="555555"/>
            </a:solidFill>
            <a:prstDash val="solid"/>
          </a:ln>
        </p:spPr>
        <p:txBody>
          <a:bodyPr/>
          <a:lstStyle/>
          <a:p>
            <a:endParaRPr lang="en-US"/>
          </a:p>
        </p:txBody>
      </p:sp>
      <p:sp>
        <p:nvSpPr>
          <p:cNvPr id="28" name="Shape 26"/>
          <p:cNvSpPr/>
          <p:nvPr/>
        </p:nvSpPr>
        <p:spPr>
          <a:xfrm>
            <a:off x="5943600" y="3566160"/>
            <a:ext cx="822960" cy="0"/>
          </a:xfrm>
          <a:prstGeom prst="line">
            <a:avLst/>
          </a:prstGeom>
          <a:noFill/>
          <a:ln w="19050">
            <a:solidFill>
              <a:srgbClr val="555555"/>
            </a:solidFill>
            <a:prstDash val="solid"/>
          </a:ln>
        </p:spPr>
        <p:txBody>
          <a:bodyPr/>
          <a:lstStyle/>
          <a:p>
            <a:endParaRPr lang="en-US"/>
          </a:p>
        </p:txBody>
      </p:sp>
      <p:sp>
        <p:nvSpPr>
          <p:cNvPr id="29" name="Text 27"/>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5</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4">
                                            <p:txEl>
                                              <p:pRg st="0" end="0"/>
                                            </p:txEl>
                                          </p:spTgt>
                                        </p:tgtEl>
                                        <p:attrNameLst>
                                          <p:attrName>style.color</p:attrName>
                                        </p:attrNameLst>
                                      </p:cBhvr>
                                      <p:to>
                                        <p:clrVal>
                                          <a:schemeClr val="accent2"/>
                                        </p:clrVal>
                                      </p:to>
                                    </p:set>
                                    <p:set>
                                      <p:cBhvr>
                                        <p:cTn id="7" dur="500" fill="hold"/>
                                        <p:tgtEl>
                                          <p:spTgt spid="4">
                                            <p:txEl>
                                              <p:pRg st="0" end="0"/>
                                            </p:txEl>
                                          </p:spTgt>
                                        </p:tgtEl>
                                        <p:attrNameLst>
                                          <p:attrName>fillcolor</p:attrName>
                                        </p:attrNameLst>
                                      </p:cBhvr>
                                      <p:to>
                                        <p:clrVal>
                                          <a:schemeClr val="accent2"/>
                                        </p:clrVal>
                                      </p:to>
                                    </p:set>
                                    <p:set>
                                      <p:cBhvr>
                                        <p:cTn id="8" dur="500" fill="hold"/>
                                        <p:tgtEl>
                                          <p:spTgt spid="4">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40080"/>
          </a:xfrm>
          <a:prstGeom prst="rect">
            <a:avLst/>
          </a:prstGeom>
          <a:noFill/>
          <a:ln/>
        </p:spPr>
        <p:txBody>
          <a:bodyPr wrap="square" rtlCol="0" anchor="ctr"/>
          <a:lstStyle/>
          <a:p>
            <a:pPr marL="0" indent="0">
              <a:buNone/>
            </a:pPr>
            <a:r>
              <a:rPr lang="en-US" sz="5400" b="1" dirty="0">
                <a:latin typeface="Calibri" pitchFamily="34" charset="0"/>
                <a:ea typeface="Calibri" pitchFamily="34" charset="-122"/>
                <a:cs typeface="Calibri" pitchFamily="34" charset="-120"/>
              </a:rPr>
              <a:t>Evidence  —  File Profiling</a:t>
            </a:r>
            <a:endParaRPr lang="en-US" sz="5400" b="1" dirty="0"/>
          </a:p>
        </p:txBody>
      </p:sp>
      <p:sp>
        <p:nvSpPr>
          <p:cNvPr id="5" name="Text 3"/>
          <p:cNvSpPr/>
          <p:nvPr/>
        </p:nvSpPr>
        <p:spPr>
          <a:xfrm>
            <a:off x="320040" y="731520"/>
            <a:ext cx="8503920" cy="292608"/>
          </a:xfrm>
          <a:prstGeom prst="rect">
            <a:avLst/>
          </a:prstGeom>
          <a:noFill/>
          <a:ln/>
        </p:spPr>
        <p:txBody>
          <a:bodyPr wrap="square" rtlCol="0" anchor="ctr"/>
          <a:lstStyle/>
          <a:p>
            <a:pPr marL="0" indent="0">
              <a:buNone/>
            </a:pPr>
            <a:r>
              <a:rPr lang="en-US" b="1" i="1" dirty="0">
                <a:latin typeface="Calibri" pitchFamily="34" charset="0"/>
                <a:ea typeface="Calibri" pitchFamily="34" charset="-122"/>
                <a:cs typeface="Calibri" pitchFamily="34" charset="-120"/>
              </a:rPr>
              <a:t>Chyna profiled all 3 raw CSV files — confirmed row counts and column counts</a:t>
            </a:r>
            <a:endParaRPr lang="en-US" b="1" i="1" dirty="0"/>
          </a:p>
        </p:txBody>
      </p:sp>
      <p:pic>
        <p:nvPicPr>
          <p:cNvPr id="6" name="Image 0" descr="preencoded.png"/>
          <p:cNvPicPr>
            <a:picLocks noChangeAspect="1"/>
          </p:cNvPicPr>
          <p:nvPr/>
        </p:nvPicPr>
        <p:blipFill>
          <a:blip r:embed="rId3"/>
          <a:srcRect l="7280" t="24546" r="33650" b="46595"/>
          <a:stretch>
            <a:fillRect/>
          </a:stretch>
        </p:blipFill>
        <p:spPr>
          <a:xfrm>
            <a:off x="136908" y="1097280"/>
            <a:ext cx="5600952" cy="3383280"/>
          </a:xfrm>
          <a:prstGeom prst="rect">
            <a:avLst/>
          </a:prstGeom>
        </p:spPr>
      </p:pic>
      <p:sp>
        <p:nvSpPr>
          <p:cNvPr id="8" name="Shape 4"/>
          <p:cNvSpPr/>
          <p:nvPr/>
        </p:nvSpPr>
        <p:spPr>
          <a:xfrm>
            <a:off x="5806440" y="1097280"/>
            <a:ext cx="1417320" cy="1600200"/>
          </a:xfrm>
          <a:prstGeom prst="rect">
            <a:avLst/>
          </a:prstGeom>
          <a:solidFill>
            <a:srgbClr val="FFFFFF"/>
          </a:solidFill>
          <a:ln w="19050">
            <a:solidFill>
              <a:srgbClr val="1B6B7B"/>
            </a:solidFill>
            <a:prstDash val="solid"/>
          </a:ln>
        </p:spPr>
        <p:txBody>
          <a:bodyPr/>
          <a:lstStyle/>
          <a:p>
            <a:endParaRPr lang="en-US"/>
          </a:p>
        </p:txBody>
      </p:sp>
      <p:sp>
        <p:nvSpPr>
          <p:cNvPr id="9" name="Shape 5"/>
          <p:cNvSpPr/>
          <p:nvPr/>
        </p:nvSpPr>
        <p:spPr>
          <a:xfrm>
            <a:off x="5806440" y="1097280"/>
            <a:ext cx="1417320" cy="109728"/>
          </a:xfrm>
          <a:prstGeom prst="rect">
            <a:avLst/>
          </a:prstGeom>
          <a:solidFill>
            <a:srgbClr val="1B6B7B"/>
          </a:solidFill>
          <a:ln w="12700">
            <a:solidFill>
              <a:srgbClr val="1B6B7B"/>
            </a:solidFill>
            <a:prstDash val="solid"/>
          </a:ln>
        </p:spPr>
        <p:txBody>
          <a:bodyPr/>
          <a:lstStyle/>
          <a:p>
            <a:endParaRPr lang="en-US"/>
          </a:p>
        </p:txBody>
      </p:sp>
      <p:sp>
        <p:nvSpPr>
          <p:cNvPr id="10" name="Text 6"/>
          <p:cNvSpPr/>
          <p:nvPr/>
        </p:nvSpPr>
        <p:spPr>
          <a:xfrm>
            <a:off x="5806440" y="1261872"/>
            <a:ext cx="1417320" cy="731520"/>
          </a:xfrm>
          <a:prstGeom prst="rect">
            <a:avLst/>
          </a:prstGeom>
          <a:noFill/>
          <a:ln/>
        </p:spPr>
        <p:txBody>
          <a:bodyPr wrap="square" rtlCol="0" anchor="ctr"/>
          <a:lstStyle/>
          <a:p>
            <a:pPr marL="0" indent="0" algn="ctr">
              <a:buNone/>
            </a:pPr>
            <a:r>
              <a:rPr lang="en-US" sz="2200" b="1" dirty="0">
                <a:solidFill>
                  <a:srgbClr val="1B6B7B"/>
                </a:solidFill>
                <a:latin typeface="Calibri" pitchFamily="34" charset="0"/>
                <a:ea typeface="Calibri" pitchFamily="34" charset="-122"/>
                <a:cs typeface="Calibri" pitchFamily="34" charset="-120"/>
              </a:rPr>
              <a:t>1,969</a:t>
            </a:r>
            <a:endParaRPr lang="en-US" sz="2200" dirty="0"/>
          </a:p>
        </p:txBody>
      </p:sp>
      <p:sp>
        <p:nvSpPr>
          <p:cNvPr id="11" name="Text 7"/>
          <p:cNvSpPr/>
          <p:nvPr/>
        </p:nvSpPr>
        <p:spPr>
          <a:xfrm>
            <a:off x="5806440" y="2029968"/>
            <a:ext cx="1417320" cy="54864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Calendar</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rows</a:t>
            </a:r>
            <a:endParaRPr lang="en-US" sz="1100" dirty="0"/>
          </a:p>
        </p:txBody>
      </p:sp>
      <p:sp>
        <p:nvSpPr>
          <p:cNvPr id="12" name="Shape 8"/>
          <p:cNvSpPr/>
          <p:nvPr/>
        </p:nvSpPr>
        <p:spPr>
          <a:xfrm>
            <a:off x="7360920" y="1097280"/>
            <a:ext cx="1417320" cy="1600200"/>
          </a:xfrm>
          <a:prstGeom prst="rect">
            <a:avLst/>
          </a:prstGeom>
          <a:solidFill>
            <a:srgbClr val="FFFFFF"/>
          </a:solidFill>
          <a:ln w="19050">
            <a:solidFill>
              <a:srgbClr val="1B6B7B"/>
            </a:solidFill>
            <a:prstDash val="solid"/>
          </a:ln>
        </p:spPr>
        <p:txBody>
          <a:bodyPr/>
          <a:lstStyle/>
          <a:p>
            <a:endParaRPr lang="en-US"/>
          </a:p>
        </p:txBody>
      </p:sp>
      <p:sp>
        <p:nvSpPr>
          <p:cNvPr id="13" name="Shape 9"/>
          <p:cNvSpPr/>
          <p:nvPr/>
        </p:nvSpPr>
        <p:spPr>
          <a:xfrm>
            <a:off x="7360920" y="1097280"/>
            <a:ext cx="1417320" cy="109728"/>
          </a:xfrm>
          <a:prstGeom prst="rect">
            <a:avLst/>
          </a:prstGeom>
          <a:solidFill>
            <a:srgbClr val="1B6B7B"/>
          </a:solidFill>
          <a:ln w="12700">
            <a:solidFill>
              <a:srgbClr val="1B6B7B"/>
            </a:solidFill>
            <a:prstDash val="solid"/>
          </a:ln>
        </p:spPr>
        <p:txBody>
          <a:bodyPr/>
          <a:lstStyle/>
          <a:p>
            <a:endParaRPr lang="en-US"/>
          </a:p>
        </p:txBody>
      </p:sp>
      <p:sp>
        <p:nvSpPr>
          <p:cNvPr id="14" name="Text 10"/>
          <p:cNvSpPr/>
          <p:nvPr/>
        </p:nvSpPr>
        <p:spPr>
          <a:xfrm>
            <a:off x="7360920" y="1261872"/>
            <a:ext cx="1417320" cy="731520"/>
          </a:xfrm>
          <a:prstGeom prst="rect">
            <a:avLst/>
          </a:prstGeom>
          <a:noFill/>
          <a:ln/>
        </p:spPr>
        <p:txBody>
          <a:bodyPr wrap="square" rtlCol="0" anchor="ctr"/>
          <a:lstStyle/>
          <a:p>
            <a:pPr marL="0" indent="0" algn="ctr">
              <a:buNone/>
            </a:pPr>
            <a:r>
              <a:rPr lang="en-US" sz="2200" b="1" dirty="0">
                <a:solidFill>
                  <a:srgbClr val="1B6B7B"/>
                </a:solidFill>
                <a:latin typeface="Calibri" pitchFamily="34" charset="0"/>
                <a:ea typeface="Calibri" pitchFamily="34" charset="-122"/>
                <a:cs typeface="Calibri" pitchFamily="34" charset="-120"/>
              </a:rPr>
              <a:t>6.8M</a:t>
            </a:r>
            <a:endParaRPr lang="en-US" sz="2200" dirty="0"/>
          </a:p>
        </p:txBody>
      </p:sp>
      <p:sp>
        <p:nvSpPr>
          <p:cNvPr id="15" name="Text 11"/>
          <p:cNvSpPr/>
          <p:nvPr/>
        </p:nvSpPr>
        <p:spPr>
          <a:xfrm>
            <a:off x="7360920" y="2029968"/>
            <a:ext cx="1417320" cy="54864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Price</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records</a:t>
            </a:r>
            <a:endParaRPr lang="en-US" sz="1100" dirty="0"/>
          </a:p>
        </p:txBody>
      </p:sp>
      <p:sp>
        <p:nvSpPr>
          <p:cNvPr id="16" name="Shape 12"/>
          <p:cNvSpPr/>
          <p:nvPr/>
        </p:nvSpPr>
        <p:spPr>
          <a:xfrm>
            <a:off x="5806440" y="2880360"/>
            <a:ext cx="1417320" cy="1600200"/>
          </a:xfrm>
          <a:prstGeom prst="rect">
            <a:avLst/>
          </a:prstGeom>
          <a:solidFill>
            <a:srgbClr val="FFFFFF"/>
          </a:solidFill>
          <a:ln w="19050">
            <a:solidFill>
              <a:srgbClr val="E8456A"/>
            </a:solidFill>
            <a:prstDash val="solid"/>
          </a:ln>
        </p:spPr>
        <p:txBody>
          <a:bodyPr/>
          <a:lstStyle/>
          <a:p>
            <a:endParaRPr lang="en-US"/>
          </a:p>
        </p:txBody>
      </p:sp>
      <p:sp>
        <p:nvSpPr>
          <p:cNvPr id="17" name="Shape 13"/>
          <p:cNvSpPr/>
          <p:nvPr/>
        </p:nvSpPr>
        <p:spPr>
          <a:xfrm>
            <a:off x="5806440" y="2880360"/>
            <a:ext cx="1417320" cy="109728"/>
          </a:xfrm>
          <a:prstGeom prst="rect">
            <a:avLst/>
          </a:prstGeom>
          <a:solidFill>
            <a:srgbClr val="E8456A"/>
          </a:solidFill>
          <a:ln w="12700">
            <a:solidFill>
              <a:srgbClr val="E8456A"/>
            </a:solidFill>
            <a:prstDash val="solid"/>
          </a:ln>
        </p:spPr>
        <p:txBody>
          <a:bodyPr/>
          <a:lstStyle/>
          <a:p>
            <a:endParaRPr lang="en-US"/>
          </a:p>
        </p:txBody>
      </p:sp>
      <p:sp>
        <p:nvSpPr>
          <p:cNvPr id="18" name="Text 14"/>
          <p:cNvSpPr/>
          <p:nvPr/>
        </p:nvSpPr>
        <p:spPr>
          <a:xfrm>
            <a:off x="5806440" y="3044952"/>
            <a:ext cx="1417320" cy="731520"/>
          </a:xfrm>
          <a:prstGeom prst="rect">
            <a:avLst/>
          </a:prstGeom>
          <a:noFill/>
          <a:ln/>
        </p:spPr>
        <p:txBody>
          <a:bodyPr wrap="square" rtlCol="0" anchor="ctr"/>
          <a:lstStyle/>
          <a:p>
            <a:pPr marL="0" indent="0" algn="ctr">
              <a:buNone/>
            </a:pPr>
            <a:r>
              <a:rPr lang="en-US" sz="2200" b="1" dirty="0">
                <a:solidFill>
                  <a:srgbClr val="E8456A"/>
                </a:solidFill>
                <a:latin typeface="Calibri" pitchFamily="34" charset="0"/>
                <a:ea typeface="Calibri" pitchFamily="34" charset="-122"/>
                <a:cs typeface="Calibri" pitchFamily="34" charset="-120"/>
              </a:rPr>
              <a:t>30,490</a:t>
            </a:r>
            <a:endParaRPr lang="en-US" sz="2200" dirty="0"/>
          </a:p>
        </p:txBody>
      </p:sp>
      <p:sp>
        <p:nvSpPr>
          <p:cNvPr id="19" name="Text 15"/>
          <p:cNvSpPr/>
          <p:nvPr/>
        </p:nvSpPr>
        <p:spPr>
          <a:xfrm>
            <a:off x="5806440" y="3813048"/>
            <a:ext cx="1417320" cy="54864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Sales rows</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(wide)</a:t>
            </a:r>
            <a:endParaRPr lang="en-US" sz="1100" dirty="0"/>
          </a:p>
        </p:txBody>
      </p:sp>
      <p:sp>
        <p:nvSpPr>
          <p:cNvPr id="20" name="Shape 16"/>
          <p:cNvSpPr/>
          <p:nvPr/>
        </p:nvSpPr>
        <p:spPr>
          <a:xfrm>
            <a:off x="7360920" y="2880360"/>
            <a:ext cx="1417320" cy="1600200"/>
          </a:xfrm>
          <a:prstGeom prst="rect">
            <a:avLst/>
          </a:prstGeom>
          <a:solidFill>
            <a:srgbClr val="FFFFFF"/>
          </a:solidFill>
          <a:ln w="19050">
            <a:solidFill>
              <a:srgbClr val="E8456A"/>
            </a:solidFill>
            <a:prstDash val="solid"/>
          </a:ln>
        </p:spPr>
        <p:txBody>
          <a:bodyPr/>
          <a:lstStyle/>
          <a:p>
            <a:endParaRPr lang="en-US"/>
          </a:p>
        </p:txBody>
      </p:sp>
      <p:sp>
        <p:nvSpPr>
          <p:cNvPr id="21" name="Shape 17"/>
          <p:cNvSpPr/>
          <p:nvPr/>
        </p:nvSpPr>
        <p:spPr>
          <a:xfrm>
            <a:off x="7360920" y="2880360"/>
            <a:ext cx="1417320" cy="109728"/>
          </a:xfrm>
          <a:prstGeom prst="rect">
            <a:avLst/>
          </a:prstGeom>
          <a:solidFill>
            <a:srgbClr val="E8456A"/>
          </a:solidFill>
          <a:ln w="12700">
            <a:solidFill>
              <a:srgbClr val="E8456A"/>
            </a:solidFill>
            <a:prstDash val="solid"/>
          </a:ln>
        </p:spPr>
        <p:txBody>
          <a:bodyPr/>
          <a:lstStyle/>
          <a:p>
            <a:endParaRPr lang="en-US"/>
          </a:p>
        </p:txBody>
      </p:sp>
      <p:sp>
        <p:nvSpPr>
          <p:cNvPr id="22" name="Text 18"/>
          <p:cNvSpPr/>
          <p:nvPr/>
        </p:nvSpPr>
        <p:spPr>
          <a:xfrm>
            <a:off x="7360920" y="3044952"/>
            <a:ext cx="1417320" cy="731520"/>
          </a:xfrm>
          <a:prstGeom prst="rect">
            <a:avLst/>
          </a:prstGeom>
          <a:noFill/>
          <a:ln/>
        </p:spPr>
        <p:txBody>
          <a:bodyPr wrap="square" rtlCol="0" anchor="ctr"/>
          <a:lstStyle/>
          <a:p>
            <a:pPr marL="0" indent="0" algn="ctr">
              <a:buNone/>
            </a:pPr>
            <a:r>
              <a:rPr lang="en-US" sz="2200" b="1" dirty="0">
                <a:solidFill>
                  <a:srgbClr val="E8456A"/>
                </a:solidFill>
                <a:latin typeface="Calibri" pitchFamily="34" charset="0"/>
                <a:ea typeface="Calibri" pitchFamily="34" charset="-122"/>
                <a:cs typeface="Calibri" pitchFamily="34" charset="-120"/>
              </a:rPr>
              <a:t>1,919</a:t>
            </a:r>
            <a:endParaRPr lang="en-US" sz="2200" dirty="0"/>
          </a:p>
        </p:txBody>
      </p:sp>
      <p:sp>
        <p:nvSpPr>
          <p:cNvPr id="23" name="Text 19"/>
          <p:cNvSpPr/>
          <p:nvPr/>
        </p:nvSpPr>
        <p:spPr>
          <a:xfrm>
            <a:off x="7360920" y="3813048"/>
            <a:ext cx="1417320" cy="548640"/>
          </a:xfrm>
          <a:prstGeom prst="rect">
            <a:avLst/>
          </a:prstGeom>
          <a:noFill/>
          <a:ln/>
        </p:spPr>
        <p:txBody>
          <a:bodyPr wrap="square" rtlCol="0" anchor="ctr"/>
          <a:lstStyle/>
          <a:p>
            <a:pPr marL="0" indent="0" algn="ctr">
              <a:buNone/>
            </a:pPr>
            <a:r>
              <a:rPr lang="en-US" sz="1100" dirty="0">
                <a:solidFill>
                  <a:srgbClr val="555555"/>
                </a:solidFill>
                <a:latin typeface="Calibri" pitchFamily="34" charset="0"/>
                <a:ea typeface="Calibri" pitchFamily="34" charset="-122"/>
                <a:cs typeface="Calibri" pitchFamily="34" charset="-120"/>
              </a:rPr>
              <a:t>Day</a:t>
            </a:r>
            <a:endParaRPr lang="en-US" sz="1100" dirty="0"/>
          </a:p>
          <a:p>
            <a:pPr marL="0" indent="0" algn="ctr">
              <a:buNone/>
            </a:pPr>
            <a:r>
              <a:rPr lang="en-US" sz="1100" dirty="0">
                <a:solidFill>
                  <a:srgbClr val="555555"/>
                </a:solidFill>
                <a:latin typeface="Calibri" pitchFamily="34" charset="0"/>
                <a:ea typeface="Calibri" pitchFamily="34" charset="-122"/>
                <a:cs typeface="Calibri" pitchFamily="34" charset="-120"/>
              </a:rPr>
              <a:t>columns</a:t>
            </a:r>
            <a:endParaRPr lang="en-US" sz="1100" dirty="0"/>
          </a:p>
        </p:txBody>
      </p:sp>
      <p:sp>
        <p:nvSpPr>
          <p:cNvPr id="24" name="Text 20"/>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6</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40080"/>
          </a:xfrm>
          <a:prstGeom prst="rect">
            <a:avLst/>
          </a:prstGeom>
          <a:noFill/>
          <a:ln/>
        </p:spPr>
        <p:txBody>
          <a:bodyPr wrap="square" rtlCol="0" anchor="ctr"/>
          <a:lstStyle/>
          <a:p>
            <a:pPr marL="0" indent="0">
              <a:buNone/>
            </a:pPr>
            <a:r>
              <a:rPr lang="en-US" sz="3600" dirty="0">
                <a:latin typeface="Calibri" pitchFamily="34" charset="0"/>
                <a:ea typeface="Calibri" pitchFamily="34" charset="-122"/>
                <a:cs typeface="Calibri" pitchFamily="34" charset="-120"/>
              </a:rPr>
              <a:t>Evidence  — Chyna’s Quality Checks</a:t>
            </a:r>
            <a:endParaRPr lang="en-US" sz="3600" dirty="0"/>
          </a:p>
        </p:txBody>
      </p:sp>
      <p:sp>
        <p:nvSpPr>
          <p:cNvPr id="5" name="Text 3"/>
          <p:cNvSpPr/>
          <p:nvPr/>
        </p:nvSpPr>
        <p:spPr>
          <a:xfrm>
            <a:off x="320040" y="694944"/>
            <a:ext cx="8503920" cy="292608"/>
          </a:xfrm>
          <a:prstGeom prst="rect">
            <a:avLst/>
          </a:prstGeom>
          <a:noFill/>
          <a:ln/>
        </p:spPr>
        <p:txBody>
          <a:bodyPr wrap="square" rtlCol="0" anchor="ctr"/>
          <a:lstStyle/>
          <a:p>
            <a:pPr marL="0" indent="0">
              <a:buNone/>
            </a:pPr>
            <a:r>
              <a:rPr lang="en-US" sz="2400" dirty="0">
                <a:latin typeface="Calibri" pitchFamily="34" charset="0"/>
                <a:ea typeface="Calibri" pitchFamily="34" charset="-122"/>
                <a:cs typeface="Calibri" pitchFamily="34" charset="-120"/>
              </a:rPr>
              <a:t>All 4 checks passed with zero issues  ✔</a:t>
            </a:r>
            <a:endParaRPr lang="en-US" sz="2400" dirty="0"/>
          </a:p>
        </p:txBody>
      </p:sp>
      <p:sp>
        <p:nvSpPr>
          <p:cNvPr id="6" name="Shape 4"/>
          <p:cNvSpPr/>
          <p:nvPr/>
        </p:nvSpPr>
        <p:spPr>
          <a:xfrm>
            <a:off x="274320" y="1097280"/>
            <a:ext cx="4251960" cy="2057400"/>
          </a:xfrm>
          <a:prstGeom prst="rect">
            <a:avLst/>
          </a:prstGeom>
          <a:solidFill>
            <a:srgbClr val="1E1E1E"/>
          </a:solidFill>
          <a:ln w="19050">
            <a:solidFill>
              <a:srgbClr val="1B6B7B"/>
            </a:solidFill>
            <a:prstDash val="solid"/>
          </a:ln>
        </p:spPr>
        <p:txBody>
          <a:bodyPr/>
          <a:lstStyle/>
          <a:p>
            <a:endParaRPr lang="en-US"/>
          </a:p>
        </p:txBody>
      </p:sp>
      <p:sp>
        <p:nvSpPr>
          <p:cNvPr id="7" name="Shape 5"/>
          <p:cNvSpPr/>
          <p:nvPr/>
        </p:nvSpPr>
        <p:spPr>
          <a:xfrm>
            <a:off x="274320" y="1097280"/>
            <a:ext cx="4251960" cy="274320"/>
          </a:xfrm>
          <a:prstGeom prst="rect">
            <a:avLst/>
          </a:prstGeom>
          <a:solidFill>
            <a:srgbClr val="1B6B7B"/>
          </a:solidFill>
          <a:ln w="12700">
            <a:solidFill>
              <a:srgbClr val="1B6B7B"/>
            </a:solidFill>
            <a:prstDash val="solid"/>
          </a:ln>
        </p:spPr>
        <p:txBody>
          <a:bodyPr/>
          <a:lstStyle/>
          <a:p>
            <a:endParaRPr lang="en-US"/>
          </a:p>
        </p:txBody>
      </p:sp>
      <p:sp>
        <p:nvSpPr>
          <p:cNvPr id="8" name="Text 6"/>
          <p:cNvSpPr/>
          <p:nvPr/>
        </p:nvSpPr>
        <p:spPr>
          <a:xfrm>
            <a:off x="365760" y="1097280"/>
            <a:ext cx="4069080" cy="2743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Duplicate Rows Check</a:t>
            </a:r>
            <a:endParaRPr lang="en-US" sz="2800" dirty="0"/>
          </a:p>
        </p:txBody>
      </p:sp>
      <p:pic>
        <p:nvPicPr>
          <p:cNvPr id="9" name="Image 0" descr="preencoded.png"/>
          <p:cNvPicPr>
            <a:picLocks noChangeAspect="1"/>
          </p:cNvPicPr>
          <p:nvPr/>
        </p:nvPicPr>
        <p:blipFill>
          <a:blip r:embed="rId3"/>
          <a:srcRect l="8845" t="16479" r="31508" b="35876"/>
          <a:stretch>
            <a:fillRect/>
          </a:stretch>
        </p:blipFill>
        <p:spPr>
          <a:xfrm>
            <a:off x="274320" y="1389888"/>
            <a:ext cx="4251960" cy="1472183"/>
          </a:xfrm>
          <a:prstGeom prst="rect">
            <a:avLst/>
          </a:prstGeom>
        </p:spPr>
      </p:pic>
      <p:sp>
        <p:nvSpPr>
          <p:cNvPr id="10" name="Shape 7"/>
          <p:cNvSpPr/>
          <p:nvPr/>
        </p:nvSpPr>
        <p:spPr>
          <a:xfrm>
            <a:off x="4663440" y="1097280"/>
            <a:ext cx="4251960" cy="2057400"/>
          </a:xfrm>
          <a:prstGeom prst="rect">
            <a:avLst/>
          </a:prstGeom>
          <a:solidFill>
            <a:srgbClr val="1E1E1E"/>
          </a:solidFill>
          <a:ln w="19050">
            <a:solidFill>
              <a:srgbClr val="1B6B7B"/>
            </a:solidFill>
            <a:prstDash val="solid"/>
          </a:ln>
        </p:spPr>
        <p:txBody>
          <a:bodyPr/>
          <a:lstStyle/>
          <a:p>
            <a:endParaRPr lang="en-US"/>
          </a:p>
        </p:txBody>
      </p:sp>
      <p:sp>
        <p:nvSpPr>
          <p:cNvPr id="11" name="Shape 8"/>
          <p:cNvSpPr/>
          <p:nvPr/>
        </p:nvSpPr>
        <p:spPr>
          <a:xfrm>
            <a:off x="4663440" y="1097280"/>
            <a:ext cx="4251960" cy="274320"/>
          </a:xfrm>
          <a:prstGeom prst="rect">
            <a:avLst/>
          </a:prstGeom>
          <a:solidFill>
            <a:srgbClr val="1B6B7B"/>
          </a:solidFill>
          <a:ln w="12700">
            <a:solidFill>
              <a:srgbClr val="1B6B7B"/>
            </a:solidFill>
            <a:prstDash val="solid"/>
          </a:ln>
        </p:spPr>
        <p:txBody>
          <a:bodyPr/>
          <a:lstStyle/>
          <a:p>
            <a:endParaRPr lang="en-US" sz="2400" dirty="0"/>
          </a:p>
        </p:txBody>
      </p:sp>
      <p:sp>
        <p:nvSpPr>
          <p:cNvPr id="12" name="Text 9"/>
          <p:cNvSpPr/>
          <p:nvPr/>
        </p:nvSpPr>
        <p:spPr>
          <a:xfrm>
            <a:off x="4754880" y="1097280"/>
            <a:ext cx="4069080" cy="2743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Negative Values Check</a:t>
            </a:r>
            <a:endParaRPr lang="en-US" sz="2800" dirty="0"/>
          </a:p>
        </p:txBody>
      </p:sp>
      <p:pic>
        <p:nvPicPr>
          <p:cNvPr id="13" name="Image 1" descr="preencoded.png"/>
          <p:cNvPicPr>
            <a:picLocks noChangeAspect="1"/>
          </p:cNvPicPr>
          <p:nvPr/>
        </p:nvPicPr>
        <p:blipFill>
          <a:blip r:embed="rId4"/>
          <a:srcRect l="9036" t="26461" r="33090" b="37601"/>
          <a:stretch>
            <a:fillRect/>
          </a:stretch>
        </p:blipFill>
        <p:spPr>
          <a:xfrm>
            <a:off x="4663440" y="1389888"/>
            <a:ext cx="4251960" cy="1472184"/>
          </a:xfrm>
          <a:prstGeom prst="rect">
            <a:avLst/>
          </a:prstGeom>
        </p:spPr>
      </p:pic>
      <p:sp>
        <p:nvSpPr>
          <p:cNvPr id="14" name="Shape 10"/>
          <p:cNvSpPr/>
          <p:nvPr/>
        </p:nvSpPr>
        <p:spPr>
          <a:xfrm>
            <a:off x="274320" y="2880360"/>
            <a:ext cx="4251960" cy="2057400"/>
          </a:xfrm>
          <a:prstGeom prst="rect">
            <a:avLst/>
          </a:prstGeom>
          <a:solidFill>
            <a:srgbClr val="1E1E1E"/>
          </a:solidFill>
          <a:ln w="19050">
            <a:solidFill>
              <a:srgbClr val="1B6B7B"/>
            </a:solidFill>
            <a:prstDash val="solid"/>
          </a:ln>
        </p:spPr>
        <p:txBody>
          <a:bodyPr/>
          <a:lstStyle/>
          <a:p>
            <a:endParaRPr lang="en-US"/>
          </a:p>
        </p:txBody>
      </p:sp>
      <p:sp>
        <p:nvSpPr>
          <p:cNvPr id="15" name="Shape 11"/>
          <p:cNvSpPr/>
          <p:nvPr/>
        </p:nvSpPr>
        <p:spPr>
          <a:xfrm>
            <a:off x="274320" y="2880360"/>
            <a:ext cx="4251960" cy="274320"/>
          </a:xfrm>
          <a:prstGeom prst="rect">
            <a:avLst/>
          </a:prstGeom>
          <a:solidFill>
            <a:srgbClr val="1B6B7B"/>
          </a:solidFill>
          <a:ln w="12700">
            <a:solidFill>
              <a:srgbClr val="1B6B7B"/>
            </a:solidFill>
            <a:prstDash val="solid"/>
          </a:ln>
        </p:spPr>
        <p:txBody>
          <a:bodyPr/>
          <a:lstStyle/>
          <a:p>
            <a:endParaRPr lang="en-US"/>
          </a:p>
        </p:txBody>
      </p:sp>
      <p:sp>
        <p:nvSpPr>
          <p:cNvPr id="16" name="Text 12"/>
          <p:cNvSpPr/>
          <p:nvPr/>
        </p:nvSpPr>
        <p:spPr>
          <a:xfrm>
            <a:off x="365760" y="2880360"/>
            <a:ext cx="4069080" cy="2743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Data Type Verification</a:t>
            </a:r>
            <a:endParaRPr lang="en-US" sz="2800" dirty="0"/>
          </a:p>
        </p:txBody>
      </p:sp>
      <p:pic>
        <p:nvPicPr>
          <p:cNvPr id="17" name="Image 2" descr="preencoded.png"/>
          <p:cNvPicPr>
            <a:picLocks noChangeAspect="1"/>
          </p:cNvPicPr>
          <p:nvPr/>
        </p:nvPicPr>
        <p:blipFill>
          <a:blip r:embed="rId5"/>
          <a:srcRect l="9402" t="22047" r="42002" b="34678"/>
          <a:stretch>
            <a:fillRect/>
          </a:stretch>
        </p:blipFill>
        <p:spPr>
          <a:xfrm>
            <a:off x="320040" y="3172968"/>
            <a:ext cx="4114800" cy="1737360"/>
          </a:xfrm>
          <a:prstGeom prst="rect">
            <a:avLst/>
          </a:prstGeom>
        </p:spPr>
      </p:pic>
      <p:sp>
        <p:nvSpPr>
          <p:cNvPr id="18" name="Shape 13"/>
          <p:cNvSpPr/>
          <p:nvPr/>
        </p:nvSpPr>
        <p:spPr>
          <a:xfrm>
            <a:off x="4663440" y="2880360"/>
            <a:ext cx="4251960" cy="2057400"/>
          </a:xfrm>
          <a:prstGeom prst="rect">
            <a:avLst/>
          </a:prstGeom>
          <a:solidFill>
            <a:srgbClr val="1E1E1E"/>
          </a:solidFill>
          <a:ln w="19050">
            <a:solidFill>
              <a:srgbClr val="1B6B7B"/>
            </a:solidFill>
            <a:prstDash val="solid"/>
          </a:ln>
        </p:spPr>
        <p:txBody>
          <a:bodyPr/>
          <a:lstStyle/>
          <a:p>
            <a:endParaRPr lang="en-US"/>
          </a:p>
        </p:txBody>
      </p:sp>
      <p:sp>
        <p:nvSpPr>
          <p:cNvPr id="19" name="Shape 14"/>
          <p:cNvSpPr/>
          <p:nvPr/>
        </p:nvSpPr>
        <p:spPr>
          <a:xfrm>
            <a:off x="4663440" y="2880360"/>
            <a:ext cx="4251960" cy="274320"/>
          </a:xfrm>
          <a:prstGeom prst="rect">
            <a:avLst/>
          </a:prstGeom>
          <a:solidFill>
            <a:srgbClr val="1B6B7B"/>
          </a:solidFill>
          <a:ln w="12700">
            <a:solidFill>
              <a:srgbClr val="1B6B7B"/>
            </a:solidFill>
            <a:prstDash val="solid"/>
          </a:ln>
        </p:spPr>
        <p:txBody>
          <a:bodyPr/>
          <a:lstStyle/>
          <a:p>
            <a:endParaRPr lang="en-US"/>
          </a:p>
        </p:txBody>
      </p:sp>
      <p:sp>
        <p:nvSpPr>
          <p:cNvPr id="20" name="Text 15"/>
          <p:cNvSpPr/>
          <p:nvPr/>
        </p:nvSpPr>
        <p:spPr>
          <a:xfrm>
            <a:off x="4663440" y="2880360"/>
            <a:ext cx="4160520" cy="2743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  Join Key Confirmation</a:t>
            </a:r>
            <a:endParaRPr lang="en-US" sz="2800" dirty="0"/>
          </a:p>
        </p:txBody>
      </p:sp>
      <p:pic>
        <p:nvPicPr>
          <p:cNvPr id="21" name="Image 3" descr="preencoded.png"/>
          <p:cNvPicPr>
            <a:picLocks noChangeAspect="1"/>
          </p:cNvPicPr>
          <p:nvPr/>
        </p:nvPicPr>
        <p:blipFill>
          <a:blip r:embed="rId6"/>
          <a:srcRect l="9943" t="2645" r="39977" b="36626"/>
          <a:stretch>
            <a:fillRect/>
          </a:stretch>
        </p:blipFill>
        <p:spPr>
          <a:xfrm>
            <a:off x="4663440" y="3172968"/>
            <a:ext cx="4160520" cy="1698610"/>
          </a:xfrm>
          <a:prstGeom prst="rect">
            <a:avLst/>
          </a:prstGeom>
        </p:spPr>
      </p:pic>
      <p:sp>
        <p:nvSpPr>
          <p:cNvPr id="22" name="Text 16"/>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40080"/>
          </a:xfrm>
          <a:prstGeom prst="rect">
            <a:avLst/>
          </a:prstGeom>
          <a:noFill/>
          <a:ln/>
        </p:spPr>
        <p:txBody>
          <a:bodyPr wrap="square" rtlCol="0" anchor="ctr"/>
          <a:lstStyle/>
          <a:p>
            <a:pPr marL="0" indent="0">
              <a:buNone/>
            </a:pPr>
            <a:r>
              <a:rPr lang="en-US" sz="4400" b="1" dirty="0">
                <a:latin typeface="Calibri" pitchFamily="34" charset="0"/>
                <a:ea typeface="Calibri" pitchFamily="34" charset="-122"/>
                <a:cs typeface="Calibri" pitchFamily="34" charset="-120"/>
              </a:rPr>
              <a:t>Evidence  —  Calendar Data Sample</a:t>
            </a:r>
            <a:endParaRPr lang="en-US" sz="4400" b="1" dirty="0"/>
          </a:p>
        </p:txBody>
      </p:sp>
      <p:sp>
        <p:nvSpPr>
          <p:cNvPr id="5" name="Text 3"/>
          <p:cNvSpPr/>
          <p:nvPr/>
        </p:nvSpPr>
        <p:spPr>
          <a:xfrm>
            <a:off x="320040" y="731520"/>
            <a:ext cx="8503920" cy="292608"/>
          </a:xfrm>
          <a:prstGeom prst="rect">
            <a:avLst/>
          </a:prstGeom>
          <a:noFill/>
          <a:ln/>
        </p:spPr>
        <p:txBody>
          <a:bodyPr wrap="square" rtlCol="0" anchor="ctr"/>
          <a:lstStyle/>
          <a:p>
            <a:pPr marL="0" indent="0">
              <a:buNone/>
            </a:pPr>
            <a:r>
              <a:rPr lang="en-US" sz="1600" b="1" dirty="0">
                <a:latin typeface="Calibri" pitchFamily="34" charset="0"/>
                <a:ea typeface="Calibri" pitchFamily="34" charset="-122"/>
                <a:cs typeface="Calibri" pitchFamily="34" charset="-120"/>
              </a:rPr>
              <a:t>Yanet opened and verified calendar.csv — shows d, wm_yr_wk, date, weekday, and event columns</a:t>
            </a:r>
            <a:endParaRPr lang="en-US" sz="1600" b="1" dirty="0"/>
          </a:p>
        </p:txBody>
      </p:sp>
      <p:pic>
        <p:nvPicPr>
          <p:cNvPr id="6" name="Image 0" descr="preencoded.png"/>
          <p:cNvPicPr>
            <a:picLocks noChangeAspect="1"/>
          </p:cNvPicPr>
          <p:nvPr/>
        </p:nvPicPr>
        <p:blipFill>
          <a:blip r:embed="rId3"/>
          <a:stretch>
            <a:fillRect/>
          </a:stretch>
        </p:blipFill>
        <p:spPr>
          <a:xfrm>
            <a:off x="274320" y="1051560"/>
            <a:ext cx="6583680" cy="3794760"/>
          </a:xfrm>
          <a:prstGeom prst="rect">
            <a:avLst/>
          </a:prstGeom>
        </p:spPr>
      </p:pic>
      <p:sp>
        <p:nvSpPr>
          <p:cNvPr id="7" name="Shape 4"/>
          <p:cNvSpPr/>
          <p:nvPr/>
        </p:nvSpPr>
        <p:spPr>
          <a:xfrm>
            <a:off x="6995160" y="1051560"/>
            <a:ext cx="1828800" cy="1097280"/>
          </a:xfrm>
          <a:prstGeom prst="rect">
            <a:avLst/>
          </a:prstGeom>
          <a:solidFill>
            <a:srgbClr val="FFFFFF"/>
          </a:solidFill>
          <a:ln w="19050">
            <a:solidFill>
              <a:srgbClr val="1B6B7B"/>
            </a:solidFill>
            <a:prstDash val="solid"/>
          </a:ln>
        </p:spPr>
        <p:txBody>
          <a:bodyPr/>
          <a:lstStyle/>
          <a:p>
            <a:endParaRPr lang="en-US"/>
          </a:p>
        </p:txBody>
      </p:sp>
      <p:sp>
        <p:nvSpPr>
          <p:cNvPr id="8" name="Shape 5"/>
          <p:cNvSpPr/>
          <p:nvPr/>
        </p:nvSpPr>
        <p:spPr>
          <a:xfrm>
            <a:off x="6995160" y="1051560"/>
            <a:ext cx="1828800" cy="292608"/>
          </a:xfrm>
          <a:prstGeom prst="rect">
            <a:avLst/>
          </a:prstGeom>
          <a:solidFill>
            <a:srgbClr val="1B6B7B"/>
          </a:solidFill>
          <a:ln w="12700">
            <a:solidFill>
              <a:srgbClr val="1B6B7B"/>
            </a:solidFill>
            <a:prstDash val="solid"/>
          </a:ln>
        </p:spPr>
        <p:txBody>
          <a:bodyPr/>
          <a:lstStyle/>
          <a:p>
            <a:endParaRPr lang="en-US"/>
          </a:p>
        </p:txBody>
      </p:sp>
      <p:sp>
        <p:nvSpPr>
          <p:cNvPr id="9" name="Text 6"/>
          <p:cNvSpPr/>
          <p:nvPr/>
        </p:nvSpPr>
        <p:spPr>
          <a:xfrm>
            <a:off x="6995160" y="1051560"/>
            <a:ext cx="18288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wm_yr_wk</a:t>
            </a:r>
            <a:endParaRPr lang="en-US" sz="1200" dirty="0"/>
          </a:p>
        </p:txBody>
      </p:sp>
      <p:sp>
        <p:nvSpPr>
          <p:cNvPr id="10" name="Text 7"/>
          <p:cNvSpPr/>
          <p:nvPr/>
        </p:nvSpPr>
        <p:spPr>
          <a:xfrm>
            <a:off x="7059168" y="1399032"/>
            <a:ext cx="1691640" cy="6858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Links to</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price data</a:t>
            </a:r>
            <a:endParaRPr lang="en-US" sz="1200" dirty="0"/>
          </a:p>
        </p:txBody>
      </p:sp>
      <p:sp>
        <p:nvSpPr>
          <p:cNvPr id="11" name="Shape 8"/>
          <p:cNvSpPr/>
          <p:nvPr/>
        </p:nvSpPr>
        <p:spPr>
          <a:xfrm>
            <a:off x="6995160" y="2331720"/>
            <a:ext cx="1828800" cy="1097280"/>
          </a:xfrm>
          <a:prstGeom prst="rect">
            <a:avLst/>
          </a:prstGeom>
          <a:solidFill>
            <a:srgbClr val="FFFFFF"/>
          </a:solidFill>
          <a:ln w="19050">
            <a:solidFill>
              <a:srgbClr val="E8456A"/>
            </a:solidFill>
            <a:prstDash val="solid"/>
          </a:ln>
        </p:spPr>
        <p:txBody>
          <a:bodyPr/>
          <a:lstStyle/>
          <a:p>
            <a:endParaRPr lang="en-US"/>
          </a:p>
        </p:txBody>
      </p:sp>
      <p:sp>
        <p:nvSpPr>
          <p:cNvPr id="12" name="Shape 9"/>
          <p:cNvSpPr/>
          <p:nvPr/>
        </p:nvSpPr>
        <p:spPr>
          <a:xfrm>
            <a:off x="6995160" y="2331720"/>
            <a:ext cx="1828800" cy="292608"/>
          </a:xfrm>
          <a:prstGeom prst="rect">
            <a:avLst/>
          </a:prstGeom>
          <a:solidFill>
            <a:srgbClr val="E8456A"/>
          </a:solidFill>
          <a:ln w="12700">
            <a:solidFill>
              <a:srgbClr val="E8456A"/>
            </a:solidFill>
            <a:prstDash val="solid"/>
          </a:ln>
        </p:spPr>
        <p:txBody>
          <a:bodyPr/>
          <a:lstStyle/>
          <a:p>
            <a:endParaRPr lang="en-US"/>
          </a:p>
        </p:txBody>
      </p:sp>
      <p:sp>
        <p:nvSpPr>
          <p:cNvPr id="13" name="Text 10"/>
          <p:cNvSpPr/>
          <p:nvPr/>
        </p:nvSpPr>
        <p:spPr>
          <a:xfrm>
            <a:off x="6995160" y="2331720"/>
            <a:ext cx="18288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 column</a:t>
            </a:r>
            <a:endParaRPr lang="en-US" sz="1200" dirty="0"/>
          </a:p>
        </p:txBody>
      </p:sp>
      <p:sp>
        <p:nvSpPr>
          <p:cNvPr id="14" name="Text 11"/>
          <p:cNvSpPr/>
          <p:nvPr/>
        </p:nvSpPr>
        <p:spPr>
          <a:xfrm>
            <a:off x="7059168" y="2679192"/>
            <a:ext cx="1691640" cy="6858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Links to</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sales data</a:t>
            </a:r>
            <a:endParaRPr lang="en-US" sz="1200" dirty="0"/>
          </a:p>
        </p:txBody>
      </p:sp>
      <p:sp>
        <p:nvSpPr>
          <p:cNvPr id="15" name="Shape 12"/>
          <p:cNvSpPr/>
          <p:nvPr/>
        </p:nvSpPr>
        <p:spPr>
          <a:xfrm>
            <a:off x="6995160" y="3520440"/>
            <a:ext cx="1828800" cy="1097280"/>
          </a:xfrm>
          <a:prstGeom prst="rect">
            <a:avLst/>
          </a:prstGeom>
          <a:solidFill>
            <a:srgbClr val="FFFFFF"/>
          </a:solidFill>
          <a:ln w="19050">
            <a:solidFill>
              <a:srgbClr val="E6A817"/>
            </a:solidFill>
            <a:prstDash val="solid"/>
          </a:ln>
        </p:spPr>
        <p:txBody>
          <a:bodyPr/>
          <a:lstStyle/>
          <a:p>
            <a:endParaRPr lang="en-US"/>
          </a:p>
        </p:txBody>
      </p:sp>
      <p:sp>
        <p:nvSpPr>
          <p:cNvPr id="16" name="Shape 13"/>
          <p:cNvSpPr/>
          <p:nvPr/>
        </p:nvSpPr>
        <p:spPr>
          <a:xfrm>
            <a:off x="6995160" y="3520440"/>
            <a:ext cx="1828800" cy="292608"/>
          </a:xfrm>
          <a:prstGeom prst="rect">
            <a:avLst/>
          </a:prstGeom>
          <a:solidFill>
            <a:srgbClr val="E6A817"/>
          </a:solidFill>
          <a:ln w="12700">
            <a:solidFill>
              <a:srgbClr val="E6A817"/>
            </a:solidFill>
            <a:prstDash val="solid"/>
          </a:ln>
        </p:spPr>
        <p:txBody>
          <a:bodyPr/>
          <a:lstStyle/>
          <a:p>
            <a:endParaRPr lang="en-US"/>
          </a:p>
        </p:txBody>
      </p:sp>
      <p:sp>
        <p:nvSpPr>
          <p:cNvPr id="17" name="Text 14"/>
          <p:cNvSpPr/>
          <p:nvPr/>
        </p:nvSpPr>
        <p:spPr>
          <a:xfrm>
            <a:off x="6995160" y="3520440"/>
            <a:ext cx="18288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Events</a:t>
            </a:r>
            <a:endParaRPr lang="en-US" sz="1200" dirty="0"/>
          </a:p>
        </p:txBody>
      </p:sp>
      <p:sp>
        <p:nvSpPr>
          <p:cNvPr id="18" name="Text 15"/>
          <p:cNvSpPr/>
          <p:nvPr/>
        </p:nvSpPr>
        <p:spPr>
          <a:xfrm>
            <a:off x="7059168" y="3867912"/>
            <a:ext cx="1691640" cy="685800"/>
          </a:xfrm>
          <a:prstGeom prst="rect">
            <a:avLst/>
          </a:prstGeom>
          <a:noFill/>
          <a:ln/>
        </p:spPr>
        <p:txBody>
          <a:bodyPr wrap="square" rtlCol="0" anchor="ctr"/>
          <a:lstStyle/>
          <a:p>
            <a:pPr marL="0" indent="0" algn="ctr">
              <a:buNone/>
            </a:pPr>
            <a:r>
              <a:rPr lang="en-US" sz="1200" dirty="0">
                <a:solidFill>
                  <a:srgbClr val="555555"/>
                </a:solidFill>
                <a:latin typeface="Calibri" pitchFamily="34" charset="0"/>
                <a:ea typeface="Calibri" pitchFamily="34" charset="-122"/>
                <a:cs typeface="Calibri" pitchFamily="34" charset="-120"/>
              </a:rPr>
              <a:t>SuperBowl</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Valentines</a:t>
            </a:r>
            <a:endParaRPr lang="en-US" sz="1200" dirty="0"/>
          </a:p>
          <a:p>
            <a:pPr marL="0" indent="0" algn="ctr">
              <a:buNone/>
            </a:pPr>
            <a:r>
              <a:rPr lang="en-US" sz="1200" dirty="0">
                <a:solidFill>
                  <a:srgbClr val="555555"/>
                </a:solidFill>
                <a:latin typeface="Calibri" pitchFamily="34" charset="0"/>
                <a:ea typeface="Calibri" pitchFamily="34" charset="-122"/>
                <a:cs typeface="Calibri" pitchFamily="34" charset="-120"/>
              </a:rPr>
              <a:t>Presidents Day</a:t>
            </a:r>
            <a:endParaRPr lang="en-US" sz="1200" dirty="0"/>
          </a:p>
        </p:txBody>
      </p:sp>
      <p:sp>
        <p:nvSpPr>
          <p:cNvPr id="19" name="Text 16"/>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8</a:t>
            </a:r>
            <a:endParaRPr lang="en-US" sz="1400" dirty="0"/>
          </a:p>
        </p:txBody>
      </p:sp>
      <p:pic>
        <p:nvPicPr>
          <p:cNvPr id="20" name="Image 0" descr="preencoded.png">
            <a:extLst>
              <a:ext uri="{FF2B5EF4-FFF2-40B4-BE49-F238E27FC236}">
                <a16:creationId xmlns:a16="http://schemas.microsoft.com/office/drawing/2014/main" id="{5A08F9E8-5A74-61EB-D459-AC035D18687B}"/>
              </a:ext>
            </a:extLst>
          </p:cNvPr>
          <p:cNvPicPr>
            <a:picLocks noChangeAspect="1"/>
          </p:cNvPicPr>
          <p:nvPr/>
        </p:nvPicPr>
        <p:blipFill>
          <a:blip r:embed="rId3"/>
          <a:srcRect l="2932" t="4418" r="87963" b="55957"/>
          <a:stretch>
            <a:fillRect/>
          </a:stretch>
        </p:blipFill>
        <p:spPr>
          <a:xfrm>
            <a:off x="73152" y="73152"/>
            <a:ext cx="3249168" cy="4997196"/>
          </a:xfrm>
          <a:prstGeom prst="rect">
            <a:avLst/>
          </a:prstGeom>
        </p:spPr>
      </p:pic>
      <p:pic>
        <p:nvPicPr>
          <p:cNvPr id="21" name="Image 0" descr="preencoded.png">
            <a:extLst>
              <a:ext uri="{FF2B5EF4-FFF2-40B4-BE49-F238E27FC236}">
                <a16:creationId xmlns:a16="http://schemas.microsoft.com/office/drawing/2014/main" id="{E3886786-61F3-55FD-2B5B-9C1C608F649C}"/>
              </a:ext>
            </a:extLst>
          </p:cNvPr>
          <p:cNvPicPr>
            <a:picLocks noChangeAspect="1"/>
          </p:cNvPicPr>
          <p:nvPr/>
        </p:nvPicPr>
        <p:blipFill>
          <a:blip r:embed="rId3"/>
          <a:srcRect l="12963" t="5139" r="60957" b="46587"/>
          <a:stretch>
            <a:fillRect/>
          </a:stretch>
        </p:blipFill>
        <p:spPr>
          <a:xfrm>
            <a:off x="73152" y="73152"/>
            <a:ext cx="5706872" cy="5042916"/>
          </a:xfrm>
          <a:prstGeom prst="rect">
            <a:avLst/>
          </a:prstGeom>
        </p:spPr>
      </p:pic>
      <p:pic>
        <p:nvPicPr>
          <p:cNvPr id="22" name="Image 0" descr="preencoded.png">
            <a:extLst>
              <a:ext uri="{FF2B5EF4-FFF2-40B4-BE49-F238E27FC236}">
                <a16:creationId xmlns:a16="http://schemas.microsoft.com/office/drawing/2014/main" id="{7E8746E6-2BD1-2DC9-E643-F09FE1234FC4}"/>
              </a:ext>
            </a:extLst>
          </p:cNvPr>
          <p:cNvPicPr>
            <a:picLocks noChangeAspect="1"/>
          </p:cNvPicPr>
          <p:nvPr/>
        </p:nvPicPr>
        <p:blipFill>
          <a:blip r:embed="rId3"/>
          <a:srcRect l="43935" t="5131" r="18411" b="51325"/>
          <a:stretch>
            <a:fillRect/>
          </a:stretch>
        </p:blipFill>
        <p:spPr>
          <a:xfrm>
            <a:off x="73152" y="27433"/>
            <a:ext cx="8842248" cy="50200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ppt_x"/>
                                          </p:val>
                                        </p:tav>
                                        <p:tav tm="100000">
                                          <p:val>
                                            <p:strVal val="#ppt_x"/>
                                          </p:val>
                                        </p:tav>
                                      </p:tavLst>
                                    </p:anim>
                                    <p:anim calcmode="lin" valueType="num">
                                      <p:cBhvr additive="base">
                                        <p:cTn id="2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F5F7"/>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58368"/>
          </a:xfrm>
          <a:prstGeom prst="rect">
            <a:avLst/>
          </a:prstGeom>
          <a:noFill/>
          <a:ln/>
        </p:spPr>
        <p:txBody>
          <a:bodyPr wrap="square" rtlCol="0" anchor="ctr"/>
          <a:lstStyle/>
          <a:p>
            <a:pPr marL="0" indent="0">
              <a:buNone/>
            </a:pPr>
            <a:r>
              <a:rPr lang="en-US" sz="4800" b="1" dirty="0">
                <a:solidFill>
                  <a:srgbClr val="E8456A"/>
                </a:solidFill>
                <a:latin typeface="Calibri" pitchFamily="34" charset="0"/>
                <a:ea typeface="Calibri" pitchFamily="34" charset="-122"/>
                <a:cs typeface="Calibri" pitchFamily="34" charset="-120"/>
              </a:rPr>
              <a:t>Data Dictionary</a:t>
            </a:r>
            <a:endParaRPr lang="en-US" sz="4800" b="1" dirty="0"/>
          </a:p>
        </p:txBody>
      </p:sp>
      <p:sp>
        <p:nvSpPr>
          <p:cNvPr id="5" name="Text 3"/>
          <p:cNvSpPr/>
          <p:nvPr/>
        </p:nvSpPr>
        <p:spPr>
          <a:xfrm>
            <a:off x="320040" y="749808"/>
            <a:ext cx="8503920" cy="292608"/>
          </a:xfrm>
          <a:prstGeom prst="rect">
            <a:avLst/>
          </a:prstGeom>
          <a:noFill/>
          <a:ln/>
        </p:spPr>
        <p:txBody>
          <a:bodyPr wrap="square" rtlCol="0" anchor="ctr"/>
          <a:lstStyle/>
          <a:p>
            <a:pPr marL="0" indent="0">
              <a:buNone/>
            </a:pPr>
            <a:r>
              <a:rPr lang="en-US" b="1" dirty="0">
                <a:latin typeface="Calibri" pitchFamily="34" charset="0"/>
                <a:ea typeface="Calibri" pitchFamily="34" charset="-122"/>
                <a:cs typeface="Calibri" pitchFamily="34" charset="-120"/>
              </a:rPr>
              <a:t>Documented by Yanet in GitHub  —  committed to docs/data_dictionary_draft.md</a:t>
            </a:r>
            <a:endParaRPr lang="en-US" b="1" dirty="0"/>
          </a:p>
        </p:txBody>
      </p:sp>
      <p:pic>
        <p:nvPicPr>
          <p:cNvPr id="6" name="Image 0" descr="preencoded.png"/>
          <p:cNvPicPr>
            <a:picLocks noChangeAspect="1"/>
          </p:cNvPicPr>
          <p:nvPr/>
        </p:nvPicPr>
        <p:blipFill>
          <a:blip r:embed="rId3"/>
          <a:srcRect l="1000" t="9268" r="48288" b="5854"/>
          <a:stretch>
            <a:fillRect/>
          </a:stretch>
        </p:blipFill>
        <p:spPr>
          <a:xfrm>
            <a:off x="210311" y="68580"/>
            <a:ext cx="8692619" cy="4763601"/>
          </a:xfrm>
          <a:prstGeom prst="rect">
            <a:avLst/>
          </a:prstGeom>
        </p:spPr>
      </p:pic>
      <p:sp>
        <p:nvSpPr>
          <p:cNvPr id="25" name="Text 22"/>
          <p:cNvSpPr/>
          <p:nvPr/>
        </p:nvSpPr>
        <p:spPr>
          <a:xfrm>
            <a:off x="5138928" y="4279392"/>
            <a:ext cx="1188720" cy="292608"/>
          </a:xfrm>
          <a:prstGeom prst="rect">
            <a:avLst/>
          </a:prstGeom>
          <a:noFill/>
          <a:ln/>
        </p:spPr>
        <p:txBody>
          <a:bodyPr wrap="square" lIns="0" tIns="0" rIns="0" bIns="0" rtlCol="0" anchor="ctr"/>
          <a:lstStyle/>
          <a:p>
            <a:pPr marL="0" indent="0">
              <a:buNone/>
            </a:pPr>
            <a:endParaRPr lang="en-US" sz="1200" dirty="0"/>
          </a:p>
        </p:txBody>
      </p:sp>
      <p:sp>
        <p:nvSpPr>
          <p:cNvPr id="27" name="Text 24"/>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9</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58368"/>
          </a:xfrm>
          <a:prstGeom prst="rect">
            <a:avLst/>
          </a:prstGeom>
          <a:noFill/>
          <a:ln/>
        </p:spPr>
        <p:txBody>
          <a:bodyPr wrap="square" rtlCol="0" anchor="ctr"/>
          <a:lstStyle/>
          <a:p>
            <a:pPr marL="0" indent="0">
              <a:buNone/>
            </a:pPr>
            <a:r>
              <a:rPr lang="en-US" sz="3200" dirty="0">
                <a:solidFill>
                  <a:srgbClr val="E8456A"/>
                </a:solidFill>
                <a:latin typeface="Calibri" pitchFamily="34" charset="0"/>
                <a:ea typeface="Calibri" pitchFamily="34" charset="-122"/>
                <a:cs typeface="Calibri" pitchFamily="34" charset="-120"/>
              </a:rPr>
              <a:t>Data Transformation  —  Wide to Long</a:t>
            </a:r>
            <a:endParaRPr lang="en-US" sz="3200" dirty="0"/>
          </a:p>
        </p:txBody>
      </p:sp>
      <p:sp>
        <p:nvSpPr>
          <p:cNvPr id="5" name="Text 3"/>
          <p:cNvSpPr/>
          <p:nvPr/>
        </p:nvSpPr>
        <p:spPr>
          <a:xfrm>
            <a:off x="320040" y="749808"/>
            <a:ext cx="8503920" cy="292608"/>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Planned by Yanet  •  Implemented by Chyna using Python pandas .melt()</a:t>
            </a:r>
            <a:endParaRPr lang="en-US" sz="1300" dirty="0"/>
          </a:p>
        </p:txBody>
      </p:sp>
      <p:sp>
        <p:nvSpPr>
          <p:cNvPr id="6" name="Shape 4"/>
          <p:cNvSpPr/>
          <p:nvPr/>
        </p:nvSpPr>
        <p:spPr>
          <a:xfrm>
            <a:off x="274319" y="1143000"/>
            <a:ext cx="4069081" cy="3566160"/>
          </a:xfrm>
          <a:prstGeom prst="rect">
            <a:avLst/>
          </a:prstGeom>
          <a:solidFill>
            <a:srgbClr val="FFFFFF"/>
          </a:solidFill>
          <a:ln w="25400">
            <a:solidFill>
              <a:srgbClr val="E8456A"/>
            </a:solidFill>
            <a:prstDash val="solid"/>
          </a:ln>
        </p:spPr>
        <p:txBody>
          <a:bodyPr/>
          <a:lstStyle/>
          <a:p>
            <a:endParaRPr lang="en-US"/>
          </a:p>
        </p:txBody>
      </p:sp>
      <p:sp>
        <p:nvSpPr>
          <p:cNvPr id="7" name="Shape 5"/>
          <p:cNvSpPr/>
          <p:nvPr/>
        </p:nvSpPr>
        <p:spPr>
          <a:xfrm>
            <a:off x="274320" y="1143000"/>
            <a:ext cx="3931920" cy="457200"/>
          </a:xfrm>
          <a:prstGeom prst="rect">
            <a:avLst/>
          </a:prstGeom>
          <a:solidFill>
            <a:srgbClr val="E8456A"/>
          </a:solidFill>
          <a:ln w="12700">
            <a:solidFill>
              <a:srgbClr val="E8456A"/>
            </a:solidFill>
            <a:prstDash val="solid"/>
          </a:ln>
        </p:spPr>
        <p:txBody>
          <a:bodyPr/>
          <a:lstStyle/>
          <a:p>
            <a:endParaRPr lang="en-US"/>
          </a:p>
        </p:txBody>
      </p:sp>
      <p:sp>
        <p:nvSpPr>
          <p:cNvPr id="8" name="Text 6"/>
          <p:cNvSpPr/>
          <p:nvPr/>
        </p:nvSpPr>
        <p:spPr>
          <a:xfrm>
            <a:off x="274320" y="1143000"/>
            <a:ext cx="393192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BEFORE  —  Wide Format</a:t>
            </a:r>
            <a:endParaRPr lang="en-US" sz="1500" dirty="0"/>
          </a:p>
        </p:txBody>
      </p:sp>
      <p:sp>
        <p:nvSpPr>
          <p:cNvPr id="9" name="Text 7"/>
          <p:cNvSpPr/>
          <p:nvPr/>
        </p:nvSpPr>
        <p:spPr>
          <a:xfrm>
            <a:off x="411480" y="1709928"/>
            <a:ext cx="3657600" cy="320040"/>
          </a:xfrm>
          <a:prstGeom prst="rect">
            <a:avLst/>
          </a:prstGeom>
          <a:noFill/>
          <a:ln/>
        </p:spPr>
        <p:txBody>
          <a:bodyPr wrap="square" rtlCol="0" anchor="ctr"/>
          <a:lstStyle/>
          <a:p>
            <a:pPr marL="0" indent="0">
              <a:buNone/>
            </a:pPr>
            <a:r>
              <a:rPr lang="en-US" sz="1200" b="1" dirty="0">
                <a:solidFill>
                  <a:srgbClr val="1A1A2E"/>
                </a:solidFill>
                <a:latin typeface="Consolas" pitchFamily="34" charset="0"/>
                <a:ea typeface="Consolas" pitchFamily="34" charset="-122"/>
                <a:cs typeface="Consolas" pitchFamily="34" charset="-120"/>
              </a:rPr>
              <a:t>item_id | store_id | d_1 | d_2 | d_3</a:t>
            </a:r>
            <a:endParaRPr lang="en-US" sz="1200" dirty="0"/>
          </a:p>
        </p:txBody>
      </p:sp>
      <p:sp>
        <p:nvSpPr>
          <p:cNvPr id="10" name="Shape 8"/>
          <p:cNvSpPr/>
          <p:nvPr/>
        </p:nvSpPr>
        <p:spPr>
          <a:xfrm>
            <a:off x="411480" y="2075688"/>
            <a:ext cx="3566160" cy="0"/>
          </a:xfrm>
          <a:prstGeom prst="line">
            <a:avLst/>
          </a:prstGeom>
          <a:noFill/>
          <a:ln w="6350">
            <a:solidFill>
              <a:srgbClr val="CCCCCC"/>
            </a:solidFill>
            <a:prstDash val="solid"/>
          </a:ln>
        </p:spPr>
        <p:txBody>
          <a:bodyPr/>
          <a:lstStyle/>
          <a:p>
            <a:endParaRPr lang="en-US"/>
          </a:p>
        </p:txBody>
      </p:sp>
      <p:sp>
        <p:nvSpPr>
          <p:cNvPr id="11" name="Text 9"/>
          <p:cNvSpPr/>
          <p:nvPr/>
        </p:nvSpPr>
        <p:spPr>
          <a:xfrm>
            <a:off x="411480" y="2139696"/>
            <a:ext cx="3657600" cy="914400"/>
          </a:xfrm>
          <a:prstGeom prst="rect">
            <a:avLst/>
          </a:prstGeom>
          <a:noFill/>
          <a:ln/>
        </p:spPr>
        <p:txBody>
          <a:bodyPr wrap="square" rtlCol="0" anchor="ctr"/>
          <a:lstStyle/>
          <a:p>
            <a:pPr marL="0" indent="0">
              <a:buNone/>
            </a:pPr>
            <a:r>
              <a:rPr lang="en-US" sz="1200" dirty="0">
                <a:solidFill>
                  <a:srgbClr val="555555"/>
                </a:solidFill>
                <a:latin typeface="Consolas" pitchFamily="34" charset="0"/>
                <a:ea typeface="Consolas" pitchFamily="34" charset="-122"/>
                <a:cs typeface="Consolas" pitchFamily="34" charset="-120"/>
              </a:rPr>
              <a:t>ITEM_1 | CA_1 |  3  |  0  |  1</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ITEM_1 | CA_2 |  0  |  2  |  4</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ITEM_2 | CA_1 |  1  |  1  |  0</a:t>
            </a:r>
            <a:endParaRPr lang="en-US" sz="1200" dirty="0"/>
          </a:p>
        </p:txBody>
      </p:sp>
      <p:sp>
        <p:nvSpPr>
          <p:cNvPr id="12" name="Text 10"/>
          <p:cNvSpPr/>
          <p:nvPr/>
        </p:nvSpPr>
        <p:spPr>
          <a:xfrm>
            <a:off x="411480" y="3200400"/>
            <a:ext cx="3657600" cy="1371600"/>
          </a:xfrm>
          <a:prstGeom prst="rect">
            <a:avLst/>
          </a:prstGeom>
          <a:noFill/>
          <a:ln/>
        </p:spPr>
        <p:txBody>
          <a:bodyPr wrap="square" rtlCol="0" anchor="ctr"/>
          <a:lstStyle/>
          <a:p>
            <a:pPr marL="0" indent="0">
              <a:buNone/>
            </a:pPr>
            <a:r>
              <a:rPr lang="en-US" sz="1500" dirty="0">
                <a:solidFill>
                  <a:srgbClr val="E8456A"/>
                </a:solidFill>
                <a:latin typeface="Calibri" pitchFamily="34" charset="0"/>
                <a:ea typeface="Calibri" pitchFamily="34" charset="-122"/>
                <a:cs typeface="Calibri" pitchFamily="34" charset="-120"/>
              </a:rPr>
              <a:t>❌  1,919 separate day columns</a:t>
            </a:r>
            <a:endParaRPr lang="en-US" sz="1500" dirty="0"/>
          </a:p>
          <a:p>
            <a:pPr marL="0" indent="0">
              <a:buNone/>
            </a:pPr>
            <a:r>
              <a:rPr lang="en-US" sz="1500" dirty="0">
                <a:solidFill>
                  <a:srgbClr val="E8456A"/>
                </a:solidFill>
                <a:latin typeface="Calibri" pitchFamily="34" charset="0"/>
                <a:ea typeface="Calibri" pitchFamily="34" charset="-122"/>
                <a:cs typeface="Calibri" pitchFamily="34" charset="-120"/>
              </a:rPr>
              <a:t>❌  Cannot load into warehouse</a:t>
            </a:r>
            <a:endParaRPr lang="en-US" sz="1500" dirty="0"/>
          </a:p>
          <a:p>
            <a:pPr marL="0" indent="0">
              <a:buNone/>
            </a:pPr>
            <a:r>
              <a:rPr lang="en-US" sz="1500" dirty="0">
                <a:solidFill>
                  <a:srgbClr val="E8456A"/>
                </a:solidFill>
                <a:latin typeface="Calibri" pitchFamily="34" charset="0"/>
                <a:ea typeface="Calibri" pitchFamily="34" charset="-122"/>
                <a:cs typeface="Calibri" pitchFamily="34" charset="-120"/>
              </a:rPr>
              <a:t>❌  Hard to query or analyze</a:t>
            </a:r>
            <a:endParaRPr lang="en-US" sz="1500" dirty="0"/>
          </a:p>
        </p:txBody>
      </p:sp>
      <p:sp>
        <p:nvSpPr>
          <p:cNvPr id="13" name="Text 11"/>
          <p:cNvSpPr/>
          <p:nvPr/>
        </p:nvSpPr>
        <p:spPr>
          <a:xfrm>
            <a:off x="4315968" y="2560320"/>
            <a:ext cx="502920" cy="548640"/>
          </a:xfrm>
          <a:prstGeom prst="rect">
            <a:avLst/>
          </a:prstGeom>
          <a:noFill/>
          <a:ln/>
        </p:spPr>
        <p:txBody>
          <a:bodyPr wrap="square" rtlCol="0" anchor="ctr"/>
          <a:lstStyle/>
          <a:p>
            <a:pPr marL="0" indent="0" algn="ctr">
              <a:buNone/>
            </a:pPr>
            <a:r>
              <a:rPr lang="en-US" sz="3600" dirty="0">
                <a:solidFill>
                  <a:srgbClr val="1B6B7B"/>
                </a:solidFill>
                <a:latin typeface="Calibri" pitchFamily="34" charset="0"/>
                <a:ea typeface="Calibri" pitchFamily="34" charset="-122"/>
                <a:cs typeface="Calibri" pitchFamily="34" charset="-120"/>
              </a:rPr>
              <a:t>→</a:t>
            </a:r>
            <a:endParaRPr lang="en-US" sz="3600" dirty="0"/>
          </a:p>
        </p:txBody>
      </p:sp>
      <p:sp>
        <p:nvSpPr>
          <p:cNvPr id="14" name="Shape 12"/>
          <p:cNvSpPr/>
          <p:nvPr/>
        </p:nvSpPr>
        <p:spPr>
          <a:xfrm>
            <a:off x="4937760" y="1143000"/>
            <a:ext cx="3931920" cy="3566160"/>
          </a:xfrm>
          <a:prstGeom prst="rect">
            <a:avLst/>
          </a:prstGeom>
          <a:solidFill>
            <a:srgbClr val="FFFFFF"/>
          </a:solidFill>
          <a:ln w="25400">
            <a:solidFill>
              <a:srgbClr val="1B6B7B"/>
            </a:solidFill>
            <a:prstDash val="solid"/>
          </a:ln>
        </p:spPr>
        <p:txBody>
          <a:bodyPr/>
          <a:lstStyle/>
          <a:p>
            <a:endParaRPr lang="en-US"/>
          </a:p>
        </p:txBody>
      </p:sp>
      <p:sp>
        <p:nvSpPr>
          <p:cNvPr id="15" name="Shape 13"/>
          <p:cNvSpPr/>
          <p:nvPr/>
        </p:nvSpPr>
        <p:spPr>
          <a:xfrm>
            <a:off x="4937760" y="1143000"/>
            <a:ext cx="3931920" cy="457200"/>
          </a:xfrm>
          <a:prstGeom prst="rect">
            <a:avLst/>
          </a:prstGeom>
          <a:solidFill>
            <a:srgbClr val="1B6B7B"/>
          </a:solidFill>
          <a:ln w="12700">
            <a:solidFill>
              <a:srgbClr val="1B6B7B"/>
            </a:solidFill>
            <a:prstDash val="solid"/>
          </a:ln>
        </p:spPr>
        <p:txBody>
          <a:bodyPr/>
          <a:lstStyle/>
          <a:p>
            <a:endParaRPr lang="en-US"/>
          </a:p>
        </p:txBody>
      </p:sp>
      <p:sp>
        <p:nvSpPr>
          <p:cNvPr id="16" name="Text 14"/>
          <p:cNvSpPr/>
          <p:nvPr/>
        </p:nvSpPr>
        <p:spPr>
          <a:xfrm>
            <a:off x="4937760" y="1143000"/>
            <a:ext cx="393192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AFTER  —  Long Format</a:t>
            </a:r>
            <a:endParaRPr lang="en-US" sz="1500" dirty="0"/>
          </a:p>
        </p:txBody>
      </p:sp>
      <p:sp>
        <p:nvSpPr>
          <p:cNvPr id="17" name="Text 15"/>
          <p:cNvSpPr/>
          <p:nvPr/>
        </p:nvSpPr>
        <p:spPr>
          <a:xfrm>
            <a:off x="5074920" y="1709928"/>
            <a:ext cx="3657600" cy="320040"/>
          </a:xfrm>
          <a:prstGeom prst="rect">
            <a:avLst/>
          </a:prstGeom>
          <a:noFill/>
          <a:ln/>
        </p:spPr>
        <p:txBody>
          <a:bodyPr wrap="square" rtlCol="0" anchor="ctr"/>
          <a:lstStyle/>
          <a:p>
            <a:pPr marL="0" indent="0">
              <a:buNone/>
            </a:pPr>
            <a:r>
              <a:rPr lang="en-US" sz="1200" b="1" dirty="0">
                <a:solidFill>
                  <a:srgbClr val="1A1A2E"/>
                </a:solidFill>
                <a:latin typeface="Consolas" pitchFamily="34" charset="0"/>
                <a:ea typeface="Consolas" pitchFamily="34" charset="-122"/>
                <a:cs typeface="Consolas" pitchFamily="34" charset="-120"/>
              </a:rPr>
              <a:t>item_id | store_id | d   | sold</a:t>
            </a:r>
            <a:endParaRPr lang="en-US" sz="1200" dirty="0"/>
          </a:p>
        </p:txBody>
      </p:sp>
      <p:sp>
        <p:nvSpPr>
          <p:cNvPr id="18" name="Shape 16"/>
          <p:cNvSpPr/>
          <p:nvPr/>
        </p:nvSpPr>
        <p:spPr>
          <a:xfrm>
            <a:off x="5074920" y="2075688"/>
            <a:ext cx="3566160" cy="0"/>
          </a:xfrm>
          <a:prstGeom prst="line">
            <a:avLst/>
          </a:prstGeom>
          <a:noFill/>
          <a:ln w="6350">
            <a:solidFill>
              <a:srgbClr val="CCCCCC"/>
            </a:solidFill>
            <a:prstDash val="solid"/>
          </a:ln>
        </p:spPr>
        <p:txBody>
          <a:bodyPr/>
          <a:lstStyle/>
          <a:p>
            <a:endParaRPr lang="en-US"/>
          </a:p>
        </p:txBody>
      </p:sp>
      <p:sp>
        <p:nvSpPr>
          <p:cNvPr id="19" name="Text 17"/>
          <p:cNvSpPr/>
          <p:nvPr/>
        </p:nvSpPr>
        <p:spPr>
          <a:xfrm>
            <a:off x="5074920" y="2139696"/>
            <a:ext cx="3657600" cy="914400"/>
          </a:xfrm>
          <a:prstGeom prst="rect">
            <a:avLst/>
          </a:prstGeom>
          <a:noFill/>
          <a:ln/>
        </p:spPr>
        <p:txBody>
          <a:bodyPr wrap="square" rtlCol="0" anchor="ctr"/>
          <a:lstStyle/>
          <a:p>
            <a:pPr marL="0" indent="0">
              <a:buNone/>
            </a:pPr>
            <a:r>
              <a:rPr lang="en-US" sz="1200" dirty="0">
                <a:solidFill>
                  <a:srgbClr val="555555"/>
                </a:solidFill>
                <a:latin typeface="Consolas" pitchFamily="34" charset="0"/>
                <a:ea typeface="Consolas" pitchFamily="34" charset="-122"/>
                <a:cs typeface="Consolas" pitchFamily="34" charset="-120"/>
              </a:rPr>
              <a:t>ITEM_1 | CA_1 | d_1 |  3</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ITEM_1 | CA_1 | d_2 |  0</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ITEM_1 | CA_1 | d_3 |  1</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ITEM_1 | CA_2 | d_1 |  0</a:t>
            </a:r>
            <a:endParaRPr lang="en-US" sz="1200" dirty="0"/>
          </a:p>
          <a:p>
            <a:pPr marL="0" indent="0">
              <a:buNone/>
            </a:pPr>
            <a:r>
              <a:rPr lang="en-US" sz="1200" dirty="0">
                <a:solidFill>
                  <a:srgbClr val="555555"/>
                </a:solidFill>
                <a:latin typeface="Consolas" pitchFamily="34" charset="0"/>
                <a:ea typeface="Consolas" pitchFamily="34" charset="-122"/>
                <a:cs typeface="Consolas" pitchFamily="34" charset="-120"/>
              </a:rPr>
              <a:t>...</a:t>
            </a:r>
            <a:endParaRPr lang="en-US" sz="1200" dirty="0"/>
          </a:p>
        </p:txBody>
      </p:sp>
      <p:sp>
        <p:nvSpPr>
          <p:cNvPr id="20" name="Text 18"/>
          <p:cNvSpPr/>
          <p:nvPr/>
        </p:nvSpPr>
        <p:spPr>
          <a:xfrm>
            <a:off x="5074920" y="3200400"/>
            <a:ext cx="3657600" cy="1371600"/>
          </a:xfrm>
          <a:prstGeom prst="rect">
            <a:avLst/>
          </a:prstGeom>
          <a:noFill/>
          <a:ln/>
        </p:spPr>
        <p:txBody>
          <a:bodyPr wrap="square" rtlCol="0" anchor="ctr"/>
          <a:lstStyle/>
          <a:p>
            <a:pPr marL="0" indent="0">
              <a:buNone/>
            </a:pPr>
            <a:r>
              <a:rPr lang="en-US" sz="1500" dirty="0">
                <a:solidFill>
                  <a:srgbClr val="1B6B7B"/>
                </a:solidFill>
                <a:latin typeface="Calibri" pitchFamily="34" charset="0"/>
                <a:ea typeface="Calibri" pitchFamily="34" charset="-122"/>
                <a:cs typeface="Calibri" pitchFamily="34" charset="-120"/>
              </a:rPr>
              <a:t>✔  One row per item × store × day</a:t>
            </a:r>
            <a:endParaRPr lang="en-US" sz="1500" dirty="0"/>
          </a:p>
          <a:p>
            <a:pPr marL="0" indent="0">
              <a:buNone/>
            </a:pPr>
            <a:r>
              <a:rPr lang="en-US" sz="1500" dirty="0">
                <a:solidFill>
                  <a:srgbClr val="1B6B7B"/>
                </a:solidFill>
                <a:latin typeface="Calibri" pitchFamily="34" charset="0"/>
                <a:ea typeface="Calibri" pitchFamily="34" charset="-122"/>
                <a:cs typeface="Calibri" pitchFamily="34" charset="-120"/>
              </a:rPr>
              <a:t>✔  Matches warehouse grain exactly</a:t>
            </a:r>
            <a:endParaRPr lang="en-US" sz="1500" dirty="0"/>
          </a:p>
          <a:p>
            <a:pPr marL="0" indent="0">
              <a:buNone/>
            </a:pPr>
            <a:r>
              <a:rPr lang="en-US" sz="1500" dirty="0">
                <a:solidFill>
                  <a:srgbClr val="1B6B7B"/>
                </a:solidFill>
                <a:latin typeface="Calibri" pitchFamily="34" charset="0"/>
                <a:ea typeface="Calibri" pitchFamily="34" charset="-122"/>
                <a:cs typeface="Calibri" pitchFamily="34" charset="-120"/>
              </a:rPr>
              <a:t>✔  58,327,370 rows loaded ✅</a:t>
            </a:r>
            <a:endParaRPr lang="en-US" sz="1500" dirty="0"/>
          </a:p>
        </p:txBody>
      </p:sp>
      <p:sp>
        <p:nvSpPr>
          <p:cNvPr id="21" name="Text 19"/>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E8456A"/>
          </a:solidFill>
          <a:ln w="12700">
            <a:solidFill>
              <a:srgbClr val="E8456A"/>
            </a:solidFill>
            <a:prstDash val="solid"/>
          </a:ln>
        </p:spPr>
        <p:txBody>
          <a:bodyPr/>
          <a:lstStyle/>
          <a:p>
            <a:endParaRPr lang="en-US"/>
          </a:p>
        </p:txBody>
      </p:sp>
      <p:sp>
        <p:nvSpPr>
          <p:cNvPr id="3" name="Text 1"/>
          <p:cNvSpPr/>
          <p:nvPr/>
        </p:nvSpPr>
        <p:spPr>
          <a:xfrm>
            <a:off x="320040" y="73152"/>
            <a:ext cx="8503920" cy="749808"/>
          </a:xfrm>
          <a:prstGeom prst="rect">
            <a:avLst/>
          </a:prstGeom>
          <a:noFill/>
          <a:ln/>
        </p:spPr>
        <p:txBody>
          <a:bodyPr wrap="square" rtlCol="0" anchor="ctr"/>
          <a:lstStyle/>
          <a:p>
            <a:pPr marL="0" indent="0">
              <a:buNone/>
            </a:pPr>
            <a:r>
              <a:rPr lang="en-US" sz="4000" dirty="0">
                <a:solidFill>
                  <a:srgbClr val="FFFFFF"/>
                </a:solidFill>
                <a:latin typeface="Calibri" pitchFamily="34" charset="0"/>
                <a:ea typeface="Calibri" pitchFamily="34" charset="-122"/>
                <a:cs typeface="Calibri" pitchFamily="34" charset="-120"/>
              </a:rPr>
              <a:t>Blockers &amp; Risks</a:t>
            </a:r>
            <a:endParaRPr lang="en-US" sz="4000" dirty="0"/>
          </a:p>
        </p:txBody>
      </p:sp>
      <p:sp>
        <p:nvSpPr>
          <p:cNvPr id="4" name="Text 2"/>
          <p:cNvSpPr/>
          <p:nvPr/>
        </p:nvSpPr>
        <p:spPr>
          <a:xfrm>
            <a:off x="320040" y="804672"/>
            <a:ext cx="8503920" cy="475488"/>
          </a:xfrm>
          <a:prstGeom prst="rect">
            <a:avLst/>
          </a:prstGeom>
          <a:noFill/>
          <a:ln/>
        </p:spPr>
        <p:txBody>
          <a:bodyPr wrap="square" rtlCol="0" anchor="ctr"/>
          <a:lstStyle/>
          <a:p>
            <a:pPr marL="0" indent="0">
              <a:buNone/>
            </a:pPr>
            <a:r>
              <a:rPr lang="en-US" sz="1800" dirty="0">
                <a:solidFill>
                  <a:srgbClr val="FFD0DA"/>
                </a:solidFill>
                <a:latin typeface="Calibri" pitchFamily="34" charset="0"/>
                <a:ea typeface="Calibri" pitchFamily="34" charset="-122"/>
                <a:cs typeface="Calibri" pitchFamily="34" charset="-120"/>
              </a:rPr>
              <a:t>3 resolved  •  1 ongoing</a:t>
            </a:r>
            <a:endParaRPr lang="en-US" sz="1800" dirty="0"/>
          </a:p>
        </p:txBody>
      </p:sp>
      <p:sp>
        <p:nvSpPr>
          <p:cNvPr id="5" name="Shape 3"/>
          <p:cNvSpPr/>
          <p:nvPr/>
        </p:nvSpPr>
        <p:spPr>
          <a:xfrm>
            <a:off x="182880" y="1554480"/>
            <a:ext cx="2057400" cy="3337560"/>
          </a:xfrm>
          <a:prstGeom prst="rect">
            <a:avLst/>
          </a:prstGeom>
          <a:solidFill>
            <a:srgbClr val="FFFFFF"/>
          </a:solidFill>
          <a:ln w="25400">
            <a:solidFill>
              <a:srgbClr val="22C55E"/>
            </a:solidFill>
            <a:prstDash val="solid"/>
          </a:ln>
        </p:spPr>
        <p:txBody>
          <a:bodyPr/>
          <a:lstStyle/>
          <a:p>
            <a:endParaRPr lang="en-US"/>
          </a:p>
        </p:txBody>
      </p:sp>
      <p:sp>
        <p:nvSpPr>
          <p:cNvPr id="6" name="Shape 4"/>
          <p:cNvSpPr/>
          <p:nvPr/>
        </p:nvSpPr>
        <p:spPr>
          <a:xfrm>
            <a:off x="182880" y="1554480"/>
            <a:ext cx="2057400" cy="777240"/>
          </a:xfrm>
          <a:prstGeom prst="rect">
            <a:avLst/>
          </a:prstGeom>
          <a:solidFill>
            <a:srgbClr val="22C55E"/>
          </a:solidFill>
          <a:ln w="12700">
            <a:solidFill>
              <a:srgbClr val="22C55E"/>
            </a:solidFill>
            <a:prstDash val="solid"/>
          </a:ln>
        </p:spPr>
        <p:txBody>
          <a:bodyPr/>
          <a:lstStyle/>
          <a:p>
            <a:endParaRPr lang="en-US"/>
          </a:p>
        </p:txBody>
      </p:sp>
      <p:sp>
        <p:nvSpPr>
          <p:cNvPr id="7" name="Text 5"/>
          <p:cNvSpPr/>
          <p:nvPr/>
        </p:nvSpPr>
        <p:spPr>
          <a:xfrm>
            <a:off x="182880" y="1572768"/>
            <a:ext cx="2057400" cy="749808"/>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8" name="Text 6"/>
          <p:cNvSpPr/>
          <p:nvPr/>
        </p:nvSpPr>
        <p:spPr>
          <a:xfrm>
            <a:off x="292608" y="2395728"/>
            <a:ext cx="1828800" cy="365760"/>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RESOLVED</a:t>
            </a:r>
            <a:endParaRPr lang="en-US" sz="1400" dirty="0"/>
          </a:p>
        </p:txBody>
      </p:sp>
      <p:sp>
        <p:nvSpPr>
          <p:cNvPr id="9" name="Text 7"/>
          <p:cNvSpPr/>
          <p:nvPr/>
        </p:nvSpPr>
        <p:spPr>
          <a:xfrm>
            <a:off x="292608" y="2834640"/>
            <a:ext cx="1828800" cy="13716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PostgreSQL role error</a:t>
            </a:r>
            <a:endParaRPr lang="en-US" sz="1300" dirty="0"/>
          </a:p>
          <a:p>
            <a:pPr marL="0" indent="0">
              <a:buNone/>
            </a:pPr>
            <a:r>
              <a:rPr lang="en-US" sz="1300" dirty="0">
                <a:solidFill>
                  <a:srgbClr val="555555"/>
                </a:solidFill>
                <a:latin typeface="Calibri" pitchFamily="34" charset="0"/>
                <a:ea typeface="Calibri" pitchFamily="34" charset="-122"/>
                <a:cs typeface="Calibri" pitchFamily="34" charset="-120"/>
              </a:rPr>
              <a:t>Fixed: createuser -s root</a:t>
            </a:r>
            <a:endParaRPr lang="en-US" sz="1300" dirty="0"/>
          </a:p>
        </p:txBody>
      </p:sp>
      <p:sp>
        <p:nvSpPr>
          <p:cNvPr id="10" name="Text 8"/>
          <p:cNvSpPr/>
          <p:nvPr/>
        </p:nvSpPr>
        <p:spPr>
          <a:xfrm>
            <a:off x="292608" y="4480560"/>
            <a:ext cx="1828800" cy="320040"/>
          </a:xfrm>
          <a:prstGeom prst="rect">
            <a:avLst/>
          </a:prstGeom>
          <a:noFill/>
          <a:ln/>
        </p:spPr>
        <p:txBody>
          <a:bodyPr wrap="square" rtlCol="0" anchor="ctr"/>
          <a:lstStyle/>
          <a:p>
            <a:pPr marL="0" indent="0">
              <a:buNone/>
            </a:pPr>
            <a:r>
              <a:rPr lang="en-US" sz="1100" i="1" dirty="0">
                <a:solidFill>
                  <a:srgbClr val="22C55E"/>
                </a:solidFill>
                <a:latin typeface="Calibri" pitchFamily="34" charset="0"/>
                <a:ea typeface="Calibri" pitchFamily="34" charset="-122"/>
                <a:cs typeface="Calibri" pitchFamily="34" charset="-120"/>
              </a:rPr>
              <a:t>Owner: Chyna</a:t>
            </a:r>
            <a:endParaRPr lang="en-US" sz="1100" dirty="0"/>
          </a:p>
        </p:txBody>
      </p:sp>
      <p:sp>
        <p:nvSpPr>
          <p:cNvPr id="11" name="Shape 9"/>
          <p:cNvSpPr/>
          <p:nvPr/>
        </p:nvSpPr>
        <p:spPr>
          <a:xfrm>
            <a:off x="2395728" y="1554480"/>
            <a:ext cx="2057400" cy="3337560"/>
          </a:xfrm>
          <a:prstGeom prst="rect">
            <a:avLst/>
          </a:prstGeom>
          <a:solidFill>
            <a:srgbClr val="FFFFFF"/>
          </a:solidFill>
          <a:ln w="25400">
            <a:solidFill>
              <a:srgbClr val="22C55E"/>
            </a:solidFill>
            <a:prstDash val="solid"/>
          </a:ln>
        </p:spPr>
        <p:txBody>
          <a:bodyPr/>
          <a:lstStyle/>
          <a:p>
            <a:endParaRPr lang="en-US"/>
          </a:p>
        </p:txBody>
      </p:sp>
      <p:sp>
        <p:nvSpPr>
          <p:cNvPr id="12" name="Shape 10"/>
          <p:cNvSpPr/>
          <p:nvPr/>
        </p:nvSpPr>
        <p:spPr>
          <a:xfrm>
            <a:off x="2395728" y="1554480"/>
            <a:ext cx="2057400" cy="777240"/>
          </a:xfrm>
          <a:prstGeom prst="rect">
            <a:avLst/>
          </a:prstGeom>
          <a:solidFill>
            <a:srgbClr val="22C55E"/>
          </a:solidFill>
          <a:ln w="12700">
            <a:solidFill>
              <a:srgbClr val="22C55E"/>
            </a:solidFill>
            <a:prstDash val="solid"/>
          </a:ln>
        </p:spPr>
        <p:txBody>
          <a:bodyPr/>
          <a:lstStyle/>
          <a:p>
            <a:endParaRPr lang="en-US"/>
          </a:p>
        </p:txBody>
      </p:sp>
      <p:sp>
        <p:nvSpPr>
          <p:cNvPr id="13" name="Text 11"/>
          <p:cNvSpPr/>
          <p:nvPr/>
        </p:nvSpPr>
        <p:spPr>
          <a:xfrm>
            <a:off x="2395728" y="1572768"/>
            <a:ext cx="2057400" cy="749808"/>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14" name="Text 12"/>
          <p:cNvSpPr/>
          <p:nvPr/>
        </p:nvSpPr>
        <p:spPr>
          <a:xfrm>
            <a:off x="2505456" y="2395728"/>
            <a:ext cx="1828800" cy="365760"/>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RESOLVED</a:t>
            </a:r>
            <a:endParaRPr lang="en-US" sz="1400" dirty="0"/>
          </a:p>
        </p:txBody>
      </p:sp>
      <p:sp>
        <p:nvSpPr>
          <p:cNvPr id="15" name="Text 13"/>
          <p:cNvSpPr/>
          <p:nvPr/>
        </p:nvSpPr>
        <p:spPr>
          <a:xfrm>
            <a:off x="2505456" y="2834640"/>
            <a:ext cx="1828800" cy="13716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Wide format sales data</a:t>
            </a:r>
            <a:endParaRPr lang="en-US" sz="1300" dirty="0"/>
          </a:p>
          <a:p>
            <a:pPr marL="0" indent="0">
              <a:buNone/>
            </a:pPr>
            <a:r>
              <a:rPr lang="en-US" sz="1300" dirty="0">
                <a:solidFill>
                  <a:srgbClr val="555555"/>
                </a:solidFill>
                <a:latin typeface="Calibri" pitchFamily="34" charset="0"/>
                <a:ea typeface="Calibri" pitchFamily="34" charset="-122"/>
                <a:cs typeface="Calibri" pitchFamily="34" charset="-120"/>
              </a:rPr>
              <a:t>Yanet planned • Chyna coded</a:t>
            </a:r>
            <a:endParaRPr lang="en-US" sz="1300" dirty="0"/>
          </a:p>
        </p:txBody>
      </p:sp>
      <p:sp>
        <p:nvSpPr>
          <p:cNvPr id="16" name="Text 14"/>
          <p:cNvSpPr/>
          <p:nvPr/>
        </p:nvSpPr>
        <p:spPr>
          <a:xfrm>
            <a:off x="2505456" y="4480560"/>
            <a:ext cx="1828800" cy="320040"/>
          </a:xfrm>
          <a:prstGeom prst="rect">
            <a:avLst/>
          </a:prstGeom>
          <a:noFill/>
          <a:ln/>
        </p:spPr>
        <p:txBody>
          <a:bodyPr wrap="square" rtlCol="0" anchor="ctr"/>
          <a:lstStyle/>
          <a:p>
            <a:pPr marL="0" indent="0">
              <a:buNone/>
            </a:pPr>
            <a:r>
              <a:rPr lang="en-US" sz="1100" i="1" dirty="0">
                <a:solidFill>
                  <a:srgbClr val="22C55E"/>
                </a:solidFill>
                <a:latin typeface="Calibri" pitchFamily="34" charset="0"/>
                <a:ea typeface="Calibri" pitchFamily="34" charset="-122"/>
                <a:cs typeface="Calibri" pitchFamily="34" charset="-120"/>
              </a:rPr>
              <a:t>Owner: Both</a:t>
            </a:r>
            <a:endParaRPr lang="en-US" sz="1100" dirty="0"/>
          </a:p>
        </p:txBody>
      </p:sp>
      <p:sp>
        <p:nvSpPr>
          <p:cNvPr id="17" name="Shape 15"/>
          <p:cNvSpPr/>
          <p:nvPr/>
        </p:nvSpPr>
        <p:spPr>
          <a:xfrm>
            <a:off x="4608576" y="1554480"/>
            <a:ext cx="2057400" cy="3337560"/>
          </a:xfrm>
          <a:prstGeom prst="rect">
            <a:avLst/>
          </a:prstGeom>
          <a:solidFill>
            <a:srgbClr val="FFFFFF"/>
          </a:solidFill>
          <a:ln w="25400">
            <a:solidFill>
              <a:srgbClr val="22C55E"/>
            </a:solidFill>
            <a:prstDash val="solid"/>
          </a:ln>
        </p:spPr>
        <p:txBody>
          <a:bodyPr/>
          <a:lstStyle/>
          <a:p>
            <a:endParaRPr lang="en-US"/>
          </a:p>
        </p:txBody>
      </p:sp>
      <p:sp>
        <p:nvSpPr>
          <p:cNvPr id="18" name="Shape 16"/>
          <p:cNvSpPr/>
          <p:nvPr/>
        </p:nvSpPr>
        <p:spPr>
          <a:xfrm>
            <a:off x="4608576" y="1554480"/>
            <a:ext cx="2057400" cy="777240"/>
          </a:xfrm>
          <a:prstGeom prst="rect">
            <a:avLst/>
          </a:prstGeom>
          <a:solidFill>
            <a:srgbClr val="22C55E"/>
          </a:solidFill>
          <a:ln w="12700">
            <a:solidFill>
              <a:srgbClr val="22C55E"/>
            </a:solidFill>
            <a:prstDash val="solid"/>
          </a:ln>
        </p:spPr>
        <p:txBody>
          <a:bodyPr/>
          <a:lstStyle/>
          <a:p>
            <a:endParaRPr lang="en-US"/>
          </a:p>
        </p:txBody>
      </p:sp>
      <p:sp>
        <p:nvSpPr>
          <p:cNvPr id="19" name="Text 17"/>
          <p:cNvSpPr/>
          <p:nvPr/>
        </p:nvSpPr>
        <p:spPr>
          <a:xfrm>
            <a:off x="4608576" y="1572768"/>
            <a:ext cx="2057400" cy="749808"/>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20" name="Text 18"/>
          <p:cNvSpPr/>
          <p:nvPr/>
        </p:nvSpPr>
        <p:spPr>
          <a:xfrm>
            <a:off x="4718304" y="2395728"/>
            <a:ext cx="1828800" cy="365760"/>
          </a:xfrm>
          <a:prstGeom prst="rect">
            <a:avLst/>
          </a:prstGeom>
          <a:noFill/>
          <a:ln/>
        </p:spPr>
        <p:txBody>
          <a:bodyPr wrap="square" rtlCol="0" anchor="ctr"/>
          <a:lstStyle/>
          <a:p>
            <a:pPr marL="0" indent="0">
              <a:buNone/>
            </a:pPr>
            <a:r>
              <a:rPr lang="en-US" sz="1400" b="1" dirty="0">
                <a:solidFill>
                  <a:srgbClr val="22C55E"/>
                </a:solidFill>
                <a:latin typeface="Calibri" pitchFamily="34" charset="0"/>
                <a:ea typeface="Calibri" pitchFamily="34" charset="-122"/>
                <a:cs typeface="Calibri" pitchFamily="34" charset="-120"/>
              </a:rPr>
              <a:t>RESOLVED</a:t>
            </a:r>
            <a:endParaRPr lang="en-US" sz="1400" dirty="0"/>
          </a:p>
        </p:txBody>
      </p:sp>
      <p:sp>
        <p:nvSpPr>
          <p:cNvPr id="21" name="Text 19"/>
          <p:cNvSpPr/>
          <p:nvPr/>
        </p:nvSpPr>
        <p:spPr>
          <a:xfrm>
            <a:off x="4718304" y="2834640"/>
            <a:ext cx="1828800" cy="13716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GitHub 100MB file limit</a:t>
            </a:r>
            <a:endParaRPr lang="en-US" sz="1300" dirty="0"/>
          </a:p>
          <a:p>
            <a:pPr marL="0" indent="0">
              <a:buNone/>
            </a:pPr>
            <a:r>
              <a:rPr lang="en-US" sz="1300" dirty="0">
                <a:solidFill>
                  <a:srgbClr val="555555"/>
                </a:solidFill>
                <a:latin typeface="Calibri" pitchFamily="34" charset="0"/>
                <a:ea typeface="Calibri" pitchFamily="34" charset="-122"/>
                <a:cs typeface="Calibri" pitchFamily="34" charset="-120"/>
              </a:rPr>
              <a:t>Fixed: raw/ added to .gitignore</a:t>
            </a:r>
            <a:endParaRPr lang="en-US" sz="1300" dirty="0"/>
          </a:p>
        </p:txBody>
      </p:sp>
      <p:sp>
        <p:nvSpPr>
          <p:cNvPr id="22" name="Text 20"/>
          <p:cNvSpPr/>
          <p:nvPr/>
        </p:nvSpPr>
        <p:spPr>
          <a:xfrm>
            <a:off x="4718304" y="4480560"/>
            <a:ext cx="1828800" cy="320040"/>
          </a:xfrm>
          <a:prstGeom prst="rect">
            <a:avLst/>
          </a:prstGeom>
          <a:noFill/>
          <a:ln/>
        </p:spPr>
        <p:txBody>
          <a:bodyPr wrap="square" rtlCol="0" anchor="ctr"/>
          <a:lstStyle/>
          <a:p>
            <a:pPr marL="0" indent="0">
              <a:buNone/>
            </a:pPr>
            <a:r>
              <a:rPr lang="en-US" sz="1100" i="1" dirty="0">
                <a:solidFill>
                  <a:srgbClr val="22C55E"/>
                </a:solidFill>
                <a:latin typeface="Calibri" pitchFamily="34" charset="0"/>
                <a:ea typeface="Calibri" pitchFamily="34" charset="-122"/>
                <a:cs typeface="Calibri" pitchFamily="34" charset="-120"/>
              </a:rPr>
              <a:t>Owner: Chyna</a:t>
            </a:r>
            <a:endParaRPr lang="en-US" sz="1100" dirty="0"/>
          </a:p>
        </p:txBody>
      </p:sp>
      <p:sp>
        <p:nvSpPr>
          <p:cNvPr id="23" name="Shape 21"/>
          <p:cNvSpPr/>
          <p:nvPr/>
        </p:nvSpPr>
        <p:spPr>
          <a:xfrm>
            <a:off x="6821424" y="1554480"/>
            <a:ext cx="2057400" cy="3337560"/>
          </a:xfrm>
          <a:prstGeom prst="rect">
            <a:avLst/>
          </a:prstGeom>
          <a:solidFill>
            <a:srgbClr val="FFFFFF"/>
          </a:solidFill>
          <a:ln w="25400">
            <a:solidFill>
              <a:srgbClr val="1B6B7B"/>
            </a:solidFill>
            <a:prstDash val="solid"/>
          </a:ln>
        </p:spPr>
        <p:txBody>
          <a:bodyPr/>
          <a:lstStyle/>
          <a:p>
            <a:endParaRPr lang="en-US"/>
          </a:p>
        </p:txBody>
      </p:sp>
      <p:sp>
        <p:nvSpPr>
          <p:cNvPr id="24" name="Shape 22"/>
          <p:cNvSpPr/>
          <p:nvPr/>
        </p:nvSpPr>
        <p:spPr>
          <a:xfrm>
            <a:off x="6821424" y="1554480"/>
            <a:ext cx="2057400" cy="777240"/>
          </a:xfrm>
          <a:prstGeom prst="rect">
            <a:avLst/>
          </a:prstGeom>
          <a:solidFill>
            <a:srgbClr val="1B6B7B"/>
          </a:solidFill>
          <a:ln w="12700">
            <a:solidFill>
              <a:srgbClr val="1B6B7B"/>
            </a:solidFill>
            <a:prstDash val="solid"/>
          </a:ln>
        </p:spPr>
        <p:txBody>
          <a:bodyPr/>
          <a:lstStyle/>
          <a:p>
            <a:endParaRPr lang="en-US"/>
          </a:p>
        </p:txBody>
      </p:sp>
      <p:sp>
        <p:nvSpPr>
          <p:cNvPr id="25" name="Text 23"/>
          <p:cNvSpPr/>
          <p:nvPr/>
        </p:nvSpPr>
        <p:spPr>
          <a:xfrm>
            <a:off x="6821424" y="1572768"/>
            <a:ext cx="2057400" cy="749808"/>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a:t>
            </a:r>
            <a:endParaRPr lang="en-US" sz="3400" dirty="0"/>
          </a:p>
        </p:txBody>
      </p:sp>
      <p:sp>
        <p:nvSpPr>
          <p:cNvPr id="26" name="Text 24"/>
          <p:cNvSpPr/>
          <p:nvPr/>
        </p:nvSpPr>
        <p:spPr>
          <a:xfrm>
            <a:off x="6931152" y="2395728"/>
            <a:ext cx="1828800" cy="365760"/>
          </a:xfrm>
          <a:prstGeom prst="rect">
            <a:avLst/>
          </a:prstGeom>
          <a:noFill/>
          <a:ln/>
        </p:spPr>
        <p:txBody>
          <a:bodyPr wrap="square" rtlCol="0" anchor="ctr"/>
          <a:lstStyle/>
          <a:p>
            <a:pPr marL="0" indent="0">
              <a:buNone/>
            </a:pPr>
            <a:r>
              <a:rPr lang="en-US" sz="1400" b="1" dirty="0">
                <a:solidFill>
                  <a:srgbClr val="1B6B7B"/>
                </a:solidFill>
                <a:latin typeface="Calibri" pitchFamily="34" charset="0"/>
                <a:ea typeface="Calibri" pitchFamily="34" charset="-122"/>
                <a:cs typeface="Calibri" pitchFamily="34" charset="-120"/>
              </a:rPr>
              <a:t>WEEK 10</a:t>
            </a:r>
            <a:endParaRPr lang="en-US" sz="1400" dirty="0"/>
          </a:p>
        </p:txBody>
      </p:sp>
      <p:sp>
        <p:nvSpPr>
          <p:cNvPr id="27" name="Text 25"/>
          <p:cNvSpPr/>
          <p:nvPr/>
        </p:nvSpPr>
        <p:spPr>
          <a:xfrm>
            <a:off x="6931152" y="2834640"/>
            <a:ext cx="1828800" cy="1371600"/>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fact_price_weekly empty</a:t>
            </a:r>
            <a:endParaRPr lang="en-US" sz="1300" dirty="0"/>
          </a:p>
          <a:p>
            <a:pPr marL="0" indent="0">
              <a:buNone/>
            </a:pPr>
            <a:r>
              <a:rPr lang="en-US" sz="1300" dirty="0">
                <a:solidFill>
                  <a:srgbClr val="555555"/>
                </a:solidFill>
                <a:latin typeface="Calibri" pitchFamily="34" charset="0"/>
                <a:ea typeface="Calibri" pitchFamily="34" charset="-122"/>
                <a:cs typeface="Calibri" pitchFamily="34" charset="-120"/>
              </a:rPr>
              <a:t>Staging loaded — ready to INSERT</a:t>
            </a:r>
            <a:endParaRPr lang="en-US" sz="1300" dirty="0"/>
          </a:p>
        </p:txBody>
      </p:sp>
      <p:sp>
        <p:nvSpPr>
          <p:cNvPr id="28" name="Text 26"/>
          <p:cNvSpPr/>
          <p:nvPr/>
        </p:nvSpPr>
        <p:spPr>
          <a:xfrm>
            <a:off x="6931152" y="4480560"/>
            <a:ext cx="1828800" cy="320040"/>
          </a:xfrm>
          <a:prstGeom prst="rect">
            <a:avLst/>
          </a:prstGeom>
          <a:noFill/>
          <a:ln/>
        </p:spPr>
        <p:txBody>
          <a:bodyPr wrap="square" rtlCol="0" anchor="ctr"/>
          <a:lstStyle/>
          <a:p>
            <a:pPr marL="0" indent="0">
              <a:buNone/>
            </a:pPr>
            <a:r>
              <a:rPr lang="en-US" sz="1100" i="1" dirty="0">
                <a:solidFill>
                  <a:srgbClr val="1B6B7B"/>
                </a:solidFill>
                <a:latin typeface="Calibri" pitchFamily="34" charset="0"/>
                <a:ea typeface="Calibri" pitchFamily="34" charset="-122"/>
                <a:cs typeface="Calibri" pitchFamily="34" charset="-120"/>
              </a:rPr>
              <a:t>Owner: Chyna</a:t>
            </a:r>
            <a:endParaRPr lang="en-US" sz="1100" dirty="0"/>
          </a:p>
        </p:txBody>
      </p:sp>
      <p:sp>
        <p:nvSpPr>
          <p:cNvPr id="29" name="Text 27"/>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F5F7"/>
        </a:solidFill>
        <a:effectLst/>
      </p:bgPr>
    </p:bg>
    <p:spTree>
      <p:nvGrpSpPr>
        <p:cNvPr id="1" name=""/>
        <p:cNvGrpSpPr/>
        <p:nvPr/>
      </p:nvGrpSpPr>
      <p:grpSpPr>
        <a:xfrm>
          <a:off x="0" y="0"/>
          <a:ext cx="0" cy="0"/>
          <a:chOff x="0" y="0"/>
          <a:chExt cx="0" cy="0"/>
        </a:xfrm>
      </p:grpSpPr>
      <p:sp>
        <p:nvSpPr>
          <p:cNvPr id="2" name="Shape 0"/>
          <p:cNvSpPr/>
          <p:nvPr/>
        </p:nvSpPr>
        <p:spPr>
          <a:xfrm>
            <a:off x="73152" y="73152"/>
            <a:ext cx="8997696" cy="4997196"/>
          </a:xfrm>
          <a:prstGeom prst="rect">
            <a:avLst/>
          </a:prstGeom>
          <a:ln w="31750">
            <a:solidFill>
              <a:srgbClr val="A07B1E"/>
            </a:solidFill>
            <a:prstDash val="solid"/>
          </a:ln>
        </p:spPr>
        <p:txBody>
          <a:bodyPr/>
          <a:lstStyle/>
          <a:p>
            <a:endParaRPr lang="en-US"/>
          </a:p>
        </p:txBody>
      </p:sp>
      <p:sp>
        <p:nvSpPr>
          <p:cNvPr id="3" name="Shape 1"/>
          <p:cNvSpPr/>
          <p:nvPr/>
        </p:nvSpPr>
        <p:spPr>
          <a:xfrm>
            <a:off x="164592" y="164592"/>
            <a:ext cx="8814816" cy="4814316"/>
          </a:xfrm>
          <a:prstGeom prst="rect">
            <a:avLst/>
          </a:prstGeom>
          <a:ln w="12700">
            <a:solidFill>
              <a:srgbClr val="A07B1E"/>
            </a:solidFill>
            <a:prstDash val="solid"/>
          </a:ln>
        </p:spPr>
        <p:txBody>
          <a:bodyPr/>
          <a:lstStyle/>
          <a:p>
            <a:endParaRPr lang="en-US"/>
          </a:p>
        </p:txBody>
      </p:sp>
      <p:sp>
        <p:nvSpPr>
          <p:cNvPr id="4" name="Text 2"/>
          <p:cNvSpPr/>
          <p:nvPr/>
        </p:nvSpPr>
        <p:spPr>
          <a:xfrm>
            <a:off x="320040" y="137160"/>
            <a:ext cx="8503920" cy="658368"/>
          </a:xfrm>
          <a:prstGeom prst="rect">
            <a:avLst/>
          </a:prstGeom>
          <a:noFill/>
          <a:ln/>
        </p:spPr>
        <p:txBody>
          <a:bodyPr wrap="square" rtlCol="0" anchor="ctr"/>
          <a:lstStyle/>
          <a:p>
            <a:pPr marL="0" indent="0">
              <a:buNone/>
            </a:pPr>
            <a:r>
              <a:rPr lang="en-US" sz="3200" dirty="0">
                <a:solidFill>
                  <a:srgbClr val="1B6B7B"/>
                </a:solidFill>
                <a:latin typeface="Calibri" pitchFamily="34" charset="0"/>
                <a:ea typeface="Calibri" pitchFamily="34" charset="-122"/>
                <a:cs typeface="Calibri" pitchFamily="34" charset="-120"/>
              </a:rPr>
              <a:t>Next Week Plan  —  Week 10</a:t>
            </a:r>
            <a:endParaRPr lang="en-US" sz="3200" dirty="0"/>
          </a:p>
        </p:txBody>
      </p:sp>
      <p:sp>
        <p:nvSpPr>
          <p:cNvPr id="5" name="Text 3"/>
          <p:cNvSpPr/>
          <p:nvPr/>
        </p:nvSpPr>
        <p:spPr>
          <a:xfrm>
            <a:off x="320040" y="749808"/>
            <a:ext cx="8503920" cy="292608"/>
          </a:xfrm>
          <a:prstGeom prst="rect">
            <a:avLst/>
          </a:prstGeom>
          <a:noFill/>
          <a:ln/>
        </p:spPr>
        <p:txBody>
          <a:bodyPr wrap="square" rtlCol="0" anchor="ctr"/>
          <a:lstStyle/>
          <a:p>
            <a:pPr marL="0" indent="0">
              <a:buNone/>
            </a:pPr>
            <a:r>
              <a:rPr lang="en-US" sz="1300" dirty="0">
                <a:solidFill>
                  <a:srgbClr val="555555"/>
                </a:solidFill>
                <a:latin typeface="Calibri" pitchFamily="34" charset="0"/>
                <a:ea typeface="Calibri" pitchFamily="34" charset="-122"/>
                <a:cs typeface="Calibri" pitchFamily="34" charset="-120"/>
              </a:rPr>
              <a:t>Owners and expected artifacts listed for each task</a:t>
            </a:r>
            <a:endParaRPr lang="en-US" sz="1300" dirty="0"/>
          </a:p>
        </p:txBody>
      </p:sp>
      <p:sp>
        <p:nvSpPr>
          <p:cNvPr id="6" name="Shape 4"/>
          <p:cNvSpPr/>
          <p:nvPr/>
        </p:nvSpPr>
        <p:spPr>
          <a:xfrm>
            <a:off x="274320" y="1115568"/>
            <a:ext cx="8595360" cy="411480"/>
          </a:xfrm>
          <a:prstGeom prst="rect">
            <a:avLst/>
          </a:prstGeom>
          <a:solidFill>
            <a:srgbClr val="1B6B7B"/>
          </a:solidFill>
          <a:ln w="12700">
            <a:solidFill>
              <a:srgbClr val="1B6B7B"/>
            </a:solidFill>
            <a:prstDash val="solid"/>
          </a:ln>
        </p:spPr>
        <p:txBody>
          <a:bodyPr/>
          <a:lstStyle/>
          <a:p>
            <a:endParaRPr lang="en-US"/>
          </a:p>
        </p:txBody>
      </p:sp>
      <p:sp>
        <p:nvSpPr>
          <p:cNvPr id="7" name="Text 5"/>
          <p:cNvSpPr/>
          <p:nvPr/>
        </p:nvSpPr>
        <p:spPr>
          <a:xfrm>
            <a:off x="320040" y="1115568"/>
            <a:ext cx="3657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p:nvPr/>
        </p:nvSpPr>
        <p:spPr>
          <a:xfrm>
            <a:off x="777240" y="1115568"/>
            <a:ext cx="41148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Task</a:t>
            </a:r>
            <a:endParaRPr lang="en-US" sz="1300" dirty="0"/>
          </a:p>
        </p:txBody>
      </p:sp>
      <p:sp>
        <p:nvSpPr>
          <p:cNvPr id="9" name="Text 7"/>
          <p:cNvSpPr/>
          <p:nvPr/>
        </p:nvSpPr>
        <p:spPr>
          <a:xfrm>
            <a:off x="5029200" y="1115568"/>
            <a:ext cx="109728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Owner</a:t>
            </a:r>
            <a:endParaRPr lang="en-US" sz="1300" dirty="0"/>
          </a:p>
        </p:txBody>
      </p:sp>
      <p:sp>
        <p:nvSpPr>
          <p:cNvPr id="10" name="Text 8"/>
          <p:cNvSpPr/>
          <p:nvPr/>
        </p:nvSpPr>
        <p:spPr>
          <a:xfrm>
            <a:off x="6263640" y="1115568"/>
            <a:ext cx="2514600" cy="41148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Expected Artifact</a:t>
            </a:r>
            <a:endParaRPr lang="en-US" sz="1300" dirty="0"/>
          </a:p>
        </p:txBody>
      </p:sp>
      <p:sp>
        <p:nvSpPr>
          <p:cNvPr id="11" name="Shape 9"/>
          <p:cNvSpPr/>
          <p:nvPr/>
        </p:nvSpPr>
        <p:spPr>
          <a:xfrm>
            <a:off x="274320" y="1600200"/>
            <a:ext cx="8595360" cy="566928"/>
          </a:xfrm>
          <a:prstGeom prst="rect">
            <a:avLst/>
          </a:prstGeom>
          <a:solidFill>
            <a:srgbClr val="FFFFFF"/>
          </a:solidFill>
          <a:ln w="6350">
            <a:solidFill>
              <a:srgbClr val="DDDDDD"/>
            </a:solidFill>
            <a:prstDash val="solid"/>
          </a:ln>
        </p:spPr>
        <p:txBody>
          <a:bodyPr/>
          <a:lstStyle/>
          <a:p>
            <a:endParaRPr lang="en-US"/>
          </a:p>
        </p:txBody>
      </p:sp>
      <p:sp>
        <p:nvSpPr>
          <p:cNvPr id="12" name="Shape 10"/>
          <p:cNvSpPr/>
          <p:nvPr/>
        </p:nvSpPr>
        <p:spPr>
          <a:xfrm>
            <a:off x="274320" y="1600200"/>
            <a:ext cx="365760" cy="566928"/>
          </a:xfrm>
          <a:prstGeom prst="rect">
            <a:avLst/>
          </a:prstGeom>
          <a:solidFill>
            <a:srgbClr val="E8456A"/>
          </a:solidFill>
          <a:ln w="12700">
            <a:solidFill>
              <a:srgbClr val="E8456A"/>
            </a:solidFill>
            <a:prstDash val="solid"/>
          </a:ln>
        </p:spPr>
        <p:txBody>
          <a:bodyPr/>
          <a:lstStyle/>
          <a:p>
            <a:endParaRPr lang="en-US"/>
          </a:p>
        </p:txBody>
      </p:sp>
      <p:sp>
        <p:nvSpPr>
          <p:cNvPr id="13" name="Text 11"/>
          <p:cNvSpPr/>
          <p:nvPr/>
        </p:nvSpPr>
        <p:spPr>
          <a:xfrm>
            <a:off x="274320" y="1737360"/>
            <a:ext cx="3657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777240" y="1709928"/>
            <a:ext cx="4114800" cy="34747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Load fact_price_weekly from stg_sell_prices</a:t>
            </a:r>
            <a:endParaRPr lang="en-US" sz="1300" dirty="0"/>
          </a:p>
        </p:txBody>
      </p:sp>
      <p:sp>
        <p:nvSpPr>
          <p:cNvPr id="15" name="Text 13"/>
          <p:cNvSpPr/>
          <p:nvPr/>
        </p:nvSpPr>
        <p:spPr>
          <a:xfrm>
            <a:off x="5029200" y="1709928"/>
            <a:ext cx="1097280" cy="347472"/>
          </a:xfrm>
          <a:prstGeom prst="rect">
            <a:avLst/>
          </a:prstGeom>
          <a:noFill/>
          <a:ln/>
        </p:spPr>
        <p:txBody>
          <a:bodyPr wrap="square" lIns="0" tIns="0" rIns="0" bIns="0" rtlCol="0" anchor="ctr"/>
          <a:lstStyle/>
          <a:p>
            <a:pPr marL="0" indent="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16" name="Text 14"/>
          <p:cNvSpPr/>
          <p:nvPr/>
        </p:nvSpPr>
        <p:spPr>
          <a:xfrm>
            <a:off x="6263640" y="1709928"/>
            <a:ext cx="2514600" cy="34747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Confirmed row count output</a:t>
            </a:r>
            <a:endParaRPr lang="en-US" sz="1100" dirty="0"/>
          </a:p>
        </p:txBody>
      </p:sp>
      <p:sp>
        <p:nvSpPr>
          <p:cNvPr id="17" name="Shape 15"/>
          <p:cNvSpPr/>
          <p:nvPr/>
        </p:nvSpPr>
        <p:spPr>
          <a:xfrm>
            <a:off x="274320" y="2258568"/>
            <a:ext cx="8595360" cy="566928"/>
          </a:xfrm>
          <a:prstGeom prst="rect">
            <a:avLst/>
          </a:prstGeom>
          <a:solidFill>
            <a:srgbClr val="FAF7F0"/>
          </a:solidFill>
          <a:ln w="6350">
            <a:solidFill>
              <a:srgbClr val="DDDDDD"/>
            </a:solidFill>
            <a:prstDash val="solid"/>
          </a:ln>
        </p:spPr>
        <p:txBody>
          <a:bodyPr/>
          <a:lstStyle/>
          <a:p>
            <a:endParaRPr lang="en-US"/>
          </a:p>
        </p:txBody>
      </p:sp>
      <p:sp>
        <p:nvSpPr>
          <p:cNvPr id="18" name="Shape 16"/>
          <p:cNvSpPr/>
          <p:nvPr/>
        </p:nvSpPr>
        <p:spPr>
          <a:xfrm>
            <a:off x="274320" y="2258568"/>
            <a:ext cx="365760" cy="566928"/>
          </a:xfrm>
          <a:prstGeom prst="rect">
            <a:avLst/>
          </a:prstGeom>
          <a:solidFill>
            <a:srgbClr val="E8456A"/>
          </a:solidFill>
          <a:ln w="12700">
            <a:solidFill>
              <a:srgbClr val="E8456A"/>
            </a:solidFill>
            <a:prstDash val="solid"/>
          </a:ln>
        </p:spPr>
        <p:txBody>
          <a:bodyPr/>
          <a:lstStyle/>
          <a:p>
            <a:endParaRPr lang="en-US"/>
          </a:p>
        </p:txBody>
      </p:sp>
      <p:sp>
        <p:nvSpPr>
          <p:cNvPr id="19" name="Text 17"/>
          <p:cNvSpPr/>
          <p:nvPr/>
        </p:nvSpPr>
        <p:spPr>
          <a:xfrm>
            <a:off x="274320" y="2395728"/>
            <a:ext cx="3657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0" name="Text 18"/>
          <p:cNvSpPr/>
          <p:nvPr/>
        </p:nvSpPr>
        <p:spPr>
          <a:xfrm>
            <a:off x="777240" y="2368296"/>
            <a:ext cx="4114800" cy="34747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Add performance indexes to fact tables</a:t>
            </a:r>
            <a:endParaRPr lang="en-US" sz="1300" dirty="0"/>
          </a:p>
        </p:txBody>
      </p:sp>
      <p:sp>
        <p:nvSpPr>
          <p:cNvPr id="21" name="Text 19"/>
          <p:cNvSpPr/>
          <p:nvPr/>
        </p:nvSpPr>
        <p:spPr>
          <a:xfrm>
            <a:off x="5029200" y="2368296"/>
            <a:ext cx="1097280" cy="347472"/>
          </a:xfrm>
          <a:prstGeom prst="rect">
            <a:avLst/>
          </a:prstGeom>
          <a:noFill/>
          <a:ln/>
        </p:spPr>
        <p:txBody>
          <a:bodyPr wrap="square" lIns="0" tIns="0" rIns="0" bIns="0" rtlCol="0" anchor="ctr"/>
          <a:lstStyle/>
          <a:p>
            <a:pPr marL="0" indent="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22" name="Text 20"/>
          <p:cNvSpPr/>
          <p:nvPr/>
        </p:nvSpPr>
        <p:spPr>
          <a:xfrm>
            <a:off x="6263640" y="2368296"/>
            <a:ext cx="2514600" cy="34747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Benchmark query times</a:t>
            </a:r>
            <a:endParaRPr lang="en-US" sz="1100" dirty="0"/>
          </a:p>
        </p:txBody>
      </p:sp>
      <p:sp>
        <p:nvSpPr>
          <p:cNvPr id="23" name="Shape 21"/>
          <p:cNvSpPr/>
          <p:nvPr/>
        </p:nvSpPr>
        <p:spPr>
          <a:xfrm>
            <a:off x="274320" y="2916936"/>
            <a:ext cx="8595360" cy="566928"/>
          </a:xfrm>
          <a:prstGeom prst="rect">
            <a:avLst/>
          </a:prstGeom>
          <a:solidFill>
            <a:srgbClr val="FFFFFF"/>
          </a:solidFill>
          <a:ln w="6350">
            <a:solidFill>
              <a:srgbClr val="DDDDDD"/>
            </a:solidFill>
            <a:prstDash val="solid"/>
          </a:ln>
        </p:spPr>
        <p:txBody>
          <a:bodyPr/>
          <a:lstStyle/>
          <a:p>
            <a:endParaRPr lang="en-US"/>
          </a:p>
        </p:txBody>
      </p:sp>
      <p:sp>
        <p:nvSpPr>
          <p:cNvPr id="24" name="Shape 22"/>
          <p:cNvSpPr/>
          <p:nvPr/>
        </p:nvSpPr>
        <p:spPr>
          <a:xfrm>
            <a:off x="274320" y="2916936"/>
            <a:ext cx="365760" cy="566928"/>
          </a:xfrm>
          <a:prstGeom prst="rect">
            <a:avLst/>
          </a:prstGeom>
          <a:solidFill>
            <a:srgbClr val="E8456A"/>
          </a:solidFill>
          <a:ln w="12700">
            <a:solidFill>
              <a:srgbClr val="E8456A"/>
            </a:solidFill>
            <a:prstDash val="solid"/>
          </a:ln>
        </p:spPr>
        <p:txBody>
          <a:bodyPr/>
          <a:lstStyle/>
          <a:p>
            <a:endParaRPr lang="en-US"/>
          </a:p>
        </p:txBody>
      </p:sp>
      <p:sp>
        <p:nvSpPr>
          <p:cNvPr id="25" name="Text 23"/>
          <p:cNvSpPr/>
          <p:nvPr/>
        </p:nvSpPr>
        <p:spPr>
          <a:xfrm>
            <a:off x="274320" y="3054096"/>
            <a:ext cx="3657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777240" y="3026664"/>
            <a:ext cx="4114800" cy="34747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Run formal QA script → save to outputs/</a:t>
            </a:r>
            <a:endParaRPr lang="en-US" sz="1300" dirty="0"/>
          </a:p>
        </p:txBody>
      </p:sp>
      <p:sp>
        <p:nvSpPr>
          <p:cNvPr id="27" name="Text 25"/>
          <p:cNvSpPr/>
          <p:nvPr/>
        </p:nvSpPr>
        <p:spPr>
          <a:xfrm>
            <a:off x="5029200" y="3026664"/>
            <a:ext cx="1097280" cy="347472"/>
          </a:xfrm>
          <a:prstGeom prst="rect">
            <a:avLst/>
          </a:prstGeom>
          <a:noFill/>
          <a:ln/>
        </p:spPr>
        <p:txBody>
          <a:bodyPr wrap="square" lIns="0" tIns="0" rIns="0" bIns="0" rtlCol="0" anchor="ctr"/>
          <a:lstStyle/>
          <a:p>
            <a:pPr marL="0" indent="0">
              <a:buNone/>
            </a:pPr>
            <a:r>
              <a:rPr lang="en-US" sz="1300" b="1" dirty="0">
                <a:solidFill>
                  <a:srgbClr val="E8456A"/>
                </a:solidFill>
                <a:latin typeface="Calibri" pitchFamily="34" charset="0"/>
                <a:ea typeface="Calibri" pitchFamily="34" charset="-122"/>
                <a:cs typeface="Calibri" pitchFamily="34" charset="-120"/>
              </a:rPr>
              <a:t>Chyna</a:t>
            </a:r>
            <a:endParaRPr lang="en-US" sz="1300" dirty="0"/>
          </a:p>
        </p:txBody>
      </p:sp>
      <p:sp>
        <p:nvSpPr>
          <p:cNvPr id="28" name="Text 26"/>
          <p:cNvSpPr/>
          <p:nvPr/>
        </p:nvSpPr>
        <p:spPr>
          <a:xfrm>
            <a:off x="6263640" y="3026664"/>
            <a:ext cx="2514600" cy="34747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outputs/qa_log.txt committed</a:t>
            </a:r>
            <a:endParaRPr lang="en-US" sz="1100" dirty="0"/>
          </a:p>
        </p:txBody>
      </p:sp>
      <p:sp>
        <p:nvSpPr>
          <p:cNvPr id="29" name="Shape 27"/>
          <p:cNvSpPr/>
          <p:nvPr/>
        </p:nvSpPr>
        <p:spPr>
          <a:xfrm>
            <a:off x="274320" y="3575304"/>
            <a:ext cx="8595360" cy="566928"/>
          </a:xfrm>
          <a:prstGeom prst="rect">
            <a:avLst/>
          </a:prstGeom>
          <a:solidFill>
            <a:srgbClr val="FAF7F0"/>
          </a:solidFill>
          <a:ln w="6350">
            <a:solidFill>
              <a:srgbClr val="DDDDDD"/>
            </a:solidFill>
            <a:prstDash val="solid"/>
          </a:ln>
        </p:spPr>
        <p:txBody>
          <a:bodyPr/>
          <a:lstStyle/>
          <a:p>
            <a:endParaRPr lang="en-US"/>
          </a:p>
        </p:txBody>
      </p:sp>
      <p:sp>
        <p:nvSpPr>
          <p:cNvPr id="30" name="Shape 28"/>
          <p:cNvSpPr/>
          <p:nvPr/>
        </p:nvSpPr>
        <p:spPr>
          <a:xfrm>
            <a:off x="274320" y="3575304"/>
            <a:ext cx="365760" cy="566928"/>
          </a:xfrm>
          <a:prstGeom prst="rect">
            <a:avLst/>
          </a:prstGeom>
          <a:solidFill>
            <a:srgbClr val="1B6B7B"/>
          </a:solidFill>
          <a:ln w="12700">
            <a:solidFill>
              <a:srgbClr val="1B6B7B"/>
            </a:solidFill>
            <a:prstDash val="solid"/>
          </a:ln>
        </p:spPr>
        <p:txBody>
          <a:bodyPr/>
          <a:lstStyle/>
          <a:p>
            <a:endParaRPr lang="en-US"/>
          </a:p>
        </p:txBody>
      </p:sp>
      <p:sp>
        <p:nvSpPr>
          <p:cNvPr id="31" name="Text 29"/>
          <p:cNvSpPr/>
          <p:nvPr/>
        </p:nvSpPr>
        <p:spPr>
          <a:xfrm>
            <a:off x="274320" y="3712464"/>
            <a:ext cx="3657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2" name="Text 30"/>
          <p:cNvSpPr/>
          <p:nvPr/>
        </p:nvSpPr>
        <p:spPr>
          <a:xfrm>
            <a:off x="777240" y="3685032"/>
            <a:ext cx="4114800" cy="34747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Write 2+ OLAP analytics queries</a:t>
            </a:r>
            <a:endParaRPr lang="en-US" sz="1300" dirty="0"/>
          </a:p>
        </p:txBody>
      </p:sp>
      <p:sp>
        <p:nvSpPr>
          <p:cNvPr id="33" name="Text 31"/>
          <p:cNvSpPr/>
          <p:nvPr/>
        </p:nvSpPr>
        <p:spPr>
          <a:xfrm>
            <a:off x="5029200" y="3685032"/>
            <a:ext cx="1097280" cy="347472"/>
          </a:xfrm>
          <a:prstGeom prst="rect">
            <a:avLst/>
          </a:prstGeom>
          <a:noFill/>
          <a:ln/>
        </p:spPr>
        <p:txBody>
          <a:bodyPr wrap="square" lIns="0" tIns="0" rIns="0" bIns="0" rtlCol="0" anchor="ctr"/>
          <a:lstStyle/>
          <a:p>
            <a:pPr marL="0" indent="0">
              <a:buNone/>
            </a:pPr>
            <a:r>
              <a:rPr lang="en-US" sz="1300" b="1" dirty="0">
                <a:solidFill>
                  <a:srgbClr val="1B6B7B"/>
                </a:solidFill>
                <a:latin typeface="Calibri" pitchFamily="34" charset="0"/>
                <a:ea typeface="Calibri" pitchFamily="34" charset="-122"/>
                <a:cs typeface="Calibri" pitchFamily="34" charset="-120"/>
              </a:rPr>
              <a:t>Yanet</a:t>
            </a:r>
            <a:endParaRPr lang="en-US" sz="1300" dirty="0"/>
          </a:p>
        </p:txBody>
      </p:sp>
      <p:sp>
        <p:nvSpPr>
          <p:cNvPr id="34" name="Text 32"/>
          <p:cNvSpPr/>
          <p:nvPr/>
        </p:nvSpPr>
        <p:spPr>
          <a:xfrm>
            <a:off x="6263640" y="3685032"/>
            <a:ext cx="2514600" cy="34747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sql/queries/*.sql committed</a:t>
            </a:r>
            <a:endParaRPr lang="en-US" sz="1100" dirty="0"/>
          </a:p>
        </p:txBody>
      </p:sp>
      <p:sp>
        <p:nvSpPr>
          <p:cNvPr id="35" name="Shape 33"/>
          <p:cNvSpPr/>
          <p:nvPr/>
        </p:nvSpPr>
        <p:spPr>
          <a:xfrm>
            <a:off x="274320" y="4233672"/>
            <a:ext cx="8595360" cy="566928"/>
          </a:xfrm>
          <a:prstGeom prst="rect">
            <a:avLst/>
          </a:prstGeom>
          <a:solidFill>
            <a:srgbClr val="FFFFFF"/>
          </a:solidFill>
          <a:ln w="6350">
            <a:solidFill>
              <a:srgbClr val="DDDDDD"/>
            </a:solidFill>
            <a:prstDash val="solid"/>
          </a:ln>
        </p:spPr>
        <p:txBody>
          <a:bodyPr/>
          <a:lstStyle/>
          <a:p>
            <a:endParaRPr lang="en-US"/>
          </a:p>
        </p:txBody>
      </p:sp>
      <p:sp>
        <p:nvSpPr>
          <p:cNvPr id="36" name="Shape 34"/>
          <p:cNvSpPr/>
          <p:nvPr/>
        </p:nvSpPr>
        <p:spPr>
          <a:xfrm>
            <a:off x="274320" y="4233672"/>
            <a:ext cx="365760" cy="566928"/>
          </a:xfrm>
          <a:prstGeom prst="rect">
            <a:avLst/>
          </a:prstGeom>
          <a:solidFill>
            <a:srgbClr val="1B6B7B"/>
          </a:solidFill>
          <a:ln w="12700">
            <a:solidFill>
              <a:srgbClr val="1B6B7B"/>
            </a:solidFill>
            <a:prstDash val="solid"/>
          </a:ln>
        </p:spPr>
        <p:txBody>
          <a:bodyPr/>
          <a:lstStyle/>
          <a:p>
            <a:endParaRPr lang="en-US"/>
          </a:p>
        </p:txBody>
      </p:sp>
      <p:sp>
        <p:nvSpPr>
          <p:cNvPr id="37" name="Text 35"/>
          <p:cNvSpPr/>
          <p:nvPr/>
        </p:nvSpPr>
        <p:spPr>
          <a:xfrm>
            <a:off x="274320" y="4370832"/>
            <a:ext cx="3657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8" name="Text 36"/>
          <p:cNvSpPr/>
          <p:nvPr/>
        </p:nvSpPr>
        <p:spPr>
          <a:xfrm>
            <a:off x="777240" y="4343400"/>
            <a:ext cx="4114800" cy="34747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End-to-end join: sales + calendar + prices</a:t>
            </a:r>
            <a:endParaRPr lang="en-US" sz="1300" dirty="0"/>
          </a:p>
        </p:txBody>
      </p:sp>
      <p:sp>
        <p:nvSpPr>
          <p:cNvPr id="39" name="Text 37"/>
          <p:cNvSpPr/>
          <p:nvPr/>
        </p:nvSpPr>
        <p:spPr>
          <a:xfrm>
            <a:off x="5029200" y="4343400"/>
            <a:ext cx="1097280" cy="347472"/>
          </a:xfrm>
          <a:prstGeom prst="rect">
            <a:avLst/>
          </a:prstGeom>
          <a:noFill/>
          <a:ln/>
        </p:spPr>
        <p:txBody>
          <a:bodyPr wrap="square" lIns="0" tIns="0" rIns="0" bIns="0" rtlCol="0" anchor="ctr"/>
          <a:lstStyle/>
          <a:p>
            <a:pPr marL="0" indent="0">
              <a:buNone/>
            </a:pPr>
            <a:r>
              <a:rPr lang="en-US" sz="1300" b="1" dirty="0">
                <a:solidFill>
                  <a:srgbClr val="1B6B7B"/>
                </a:solidFill>
                <a:latin typeface="Calibri" pitchFamily="34" charset="0"/>
                <a:ea typeface="Calibri" pitchFamily="34" charset="-122"/>
                <a:cs typeface="Calibri" pitchFamily="34" charset="-120"/>
              </a:rPr>
              <a:t>Yanet</a:t>
            </a:r>
            <a:endParaRPr lang="en-US" sz="1300" dirty="0"/>
          </a:p>
        </p:txBody>
      </p:sp>
      <p:sp>
        <p:nvSpPr>
          <p:cNvPr id="40" name="Text 38"/>
          <p:cNvSpPr/>
          <p:nvPr/>
        </p:nvSpPr>
        <p:spPr>
          <a:xfrm>
            <a:off x="6263640" y="4343400"/>
            <a:ext cx="2514600" cy="34747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Screenshot of join output</a:t>
            </a:r>
            <a:endParaRPr lang="en-US" sz="1100" dirty="0"/>
          </a:p>
        </p:txBody>
      </p:sp>
      <p:sp>
        <p:nvSpPr>
          <p:cNvPr id="41" name="Text 39"/>
          <p:cNvSpPr/>
          <p:nvPr/>
        </p:nvSpPr>
        <p:spPr>
          <a:xfrm>
            <a:off x="8503920" y="4800600"/>
            <a:ext cx="457200" cy="274320"/>
          </a:xfrm>
          <a:prstGeom prst="rect">
            <a:avLst/>
          </a:prstGeom>
          <a:noFill/>
          <a:ln/>
        </p:spPr>
        <p:txBody>
          <a:bodyPr wrap="square" rtlCol="0" anchor="ctr"/>
          <a:lstStyle/>
          <a:p>
            <a:pPr marL="0" indent="0" algn="r">
              <a:buNone/>
            </a:pPr>
            <a:r>
              <a:rPr lang="en-US" sz="1400" b="1" dirty="0">
                <a:solidFill>
                  <a:srgbClr val="E8456A"/>
                </a:solidFill>
                <a:latin typeface="Calibri" pitchFamily="34" charset="0"/>
                <a:ea typeface="Calibri" pitchFamily="34" charset="-122"/>
                <a:cs typeface="Calibri"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0"/>
        </a:solidFill>
        <a:effectLst/>
      </p:bgPr>
    </p:bg>
    <p:spTree>
      <p:nvGrpSpPr>
        <p:cNvPr id="1" name=""/>
        <p:cNvGrpSpPr/>
        <p:nvPr/>
      </p:nvGrpSpPr>
      <p:grpSpPr>
        <a:xfrm>
          <a:off x="0" y="0"/>
          <a:ext cx="0" cy="0"/>
          <a:chOff x="0" y="0"/>
          <a:chExt cx="0" cy="0"/>
        </a:xfrm>
      </p:grpSpPr>
      <p:sp>
        <p:nvSpPr>
          <p:cNvPr id="2" name="Shape 0"/>
          <p:cNvSpPr/>
          <p:nvPr/>
        </p:nvSpPr>
        <p:spPr>
          <a:xfrm rot="900000">
            <a:off x="1828800" y="274320"/>
            <a:ext cx="5486400" cy="4663440"/>
          </a:xfrm>
          <a:prstGeom prst="rect">
            <a:avLst/>
          </a:prstGeom>
          <a:solidFill>
            <a:srgbClr val="E8456A"/>
          </a:solidFill>
          <a:ln w="38100">
            <a:solidFill>
              <a:srgbClr val="C73058"/>
            </a:solidFill>
            <a:prstDash val="solid"/>
          </a:ln>
        </p:spPr>
        <p:txBody>
          <a:bodyPr/>
          <a:lstStyle/>
          <a:p>
            <a:endParaRPr lang="en-US"/>
          </a:p>
        </p:txBody>
      </p:sp>
      <p:sp>
        <p:nvSpPr>
          <p:cNvPr id="3" name="Shape 1"/>
          <p:cNvSpPr/>
          <p:nvPr/>
        </p:nvSpPr>
        <p:spPr>
          <a:xfrm rot="900000">
            <a:off x="2057400" y="502920"/>
            <a:ext cx="5029200" cy="4206240"/>
          </a:xfrm>
          <a:prstGeom prst="rect">
            <a:avLst/>
          </a:prstGeom>
          <a:ln w="19050">
            <a:solidFill>
              <a:srgbClr val="C73058"/>
            </a:solidFill>
            <a:prstDash val="solid"/>
          </a:ln>
        </p:spPr>
        <p:txBody>
          <a:bodyPr/>
          <a:lstStyle/>
          <a:p>
            <a:endParaRPr lang="en-US"/>
          </a:p>
        </p:txBody>
      </p:sp>
      <p:sp>
        <p:nvSpPr>
          <p:cNvPr id="4" name="Text 2"/>
          <p:cNvSpPr/>
          <p:nvPr/>
        </p:nvSpPr>
        <p:spPr>
          <a:xfrm>
            <a:off x="1828800" y="1371600"/>
            <a:ext cx="5486400" cy="2560320"/>
          </a:xfrm>
          <a:prstGeom prst="rect">
            <a:avLst/>
          </a:prstGeom>
          <a:noFill/>
          <a:ln/>
        </p:spPr>
        <p:txBody>
          <a:bodyPr wrap="square" rtlCol="0" anchor="ctr"/>
          <a:lstStyle/>
          <a:p>
            <a:pPr marL="0" indent="0" algn="ctr">
              <a:buNone/>
            </a:pPr>
            <a:r>
              <a:rPr lang="en-US" sz="7200" dirty="0">
                <a:solidFill>
                  <a:srgbClr val="FFFFFF"/>
                </a:solidFill>
                <a:latin typeface="Calibri" pitchFamily="34" charset="0"/>
                <a:ea typeface="Calibri" pitchFamily="34" charset="-122"/>
                <a:cs typeface="Calibri" pitchFamily="34" charset="-120"/>
              </a:rPr>
              <a:t>Thank</a:t>
            </a:r>
            <a:endParaRPr lang="en-US" sz="7200" dirty="0"/>
          </a:p>
          <a:p>
            <a:pPr marL="0" indent="0" algn="ctr">
              <a:buNone/>
            </a:pPr>
            <a:r>
              <a:rPr lang="en-US" sz="7200" dirty="0">
                <a:solidFill>
                  <a:srgbClr val="FFFFFF"/>
                </a:solidFill>
                <a:latin typeface="Calibri" pitchFamily="34" charset="0"/>
                <a:ea typeface="Calibri" pitchFamily="34" charset="-122"/>
                <a:cs typeface="Calibri" pitchFamily="34" charset="-120"/>
              </a:rPr>
              <a:t>You!</a:t>
            </a:r>
            <a:endParaRPr lang="en-US" sz="7200" dirty="0"/>
          </a:p>
        </p:txBody>
      </p:sp>
      <p:sp>
        <p:nvSpPr>
          <p:cNvPr id="5" name="Text 3"/>
          <p:cNvSpPr/>
          <p:nvPr/>
        </p:nvSpPr>
        <p:spPr>
          <a:xfrm>
            <a:off x="1828800" y="4023360"/>
            <a:ext cx="5486400" cy="45720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Chyna Adams  •  Yanet Assefa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594</TotalTime>
  <Words>1196</Words>
  <Application>Microsoft Macintosh PowerPoint</Application>
  <PresentationFormat>On-screen Show (16:9)</PresentationFormat>
  <Paragraphs>206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Chyna Adams</cp:lastModifiedBy>
  <cp:revision>2</cp:revision>
  <dcterms:created xsi:type="dcterms:W3CDTF">2026-03-26T03:19:10Z</dcterms:created>
  <dcterms:modified xsi:type="dcterms:W3CDTF">2026-03-26T13:15:19Z</dcterms:modified>
</cp:coreProperties>
</file>